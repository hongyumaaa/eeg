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5f8a29c-6917-919e-d17d-f91deced8dfc}">
          <p14:sldIdLst>
            <p14:sldId id="256"/>
          </p14:sldIdLst>
        </p14:section>
        <p14:section name="Background" id="{90545f4e-c57a-2503-d20b-4d2135a5a18e}">
          <p14:sldIdLst>
            <p14:sldId id="257"/>
            <p14:sldId id="258"/>
          </p14:sldIdLst>
        </p14:section>
        <p14:section name="Framework" id="{07280d61-f2fb-efbf-93aa-bfb9b271966d}">
          <p14:sldIdLst>
            <p14:sldId id="259"/>
          </p14:sldIdLst>
        </p14:section>
        <p14:section name="Completed Work" id="{ddb3710a-ef26-d4f0-340b-c061241a313a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34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2343B"/>
                </a:solidFill>
                <a:latin typeface="+mn-lt"/>
              </a:rPr>
              <a:t>Lateralization: left→right minus right→left (n = 28)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Class difference</c:v>
                </c:pt>
              </c:strCache>
            </c:strRef>
          </c:tx>
          <c:spPr>
            <a:solidFill>
              <a:srgbClr val="2E6F73"/>
            </a:solidFill>
            <a:ln w="38100" cap="flat">
              <a:solidFill>
                <a:srgbClr val="2E6F7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6F73"/>
              </a:solidFill>
              <a:ln w="9525" cap="flat">
                <a:solidFill>
                  <a:srgbClr val="2E6F7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50</c:v>
                  </c:pt>
                  <c:pt idx="1">
                    <c:v>70</c:v>
                  </c:pt>
                  <c:pt idx="2">
                    <c:v>90</c:v>
                  </c:pt>
                  <c:pt idx="3">
                    <c:v>110</c:v>
                  </c:pt>
                  <c:pt idx="4">
                    <c:v>130</c:v>
                  </c:pt>
                  <c:pt idx="5">
                    <c:v>150</c:v>
                  </c:pt>
                  <c:pt idx="6">
                    <c:v>170</c:v>
                  </c:pt>
                  <c:pt idx="7">
                    <c:v>190</c:v>
                  </c:pt>
                  <c:pt idx="8">
                    <c:v>210</c:v>
                  </c:pt>
                  <c:pt idx="9">
                    <c:v>230</c:v>
                  </c:pt>
                  <c:pt idx="10">
                    <c:v>250</c:v>
                  </c:pt>
                  <c:pt idx="11">
                    <c:v>270</c:v>
                  </c:pt>
                  <c:pt idx="12">
                    <c:v>290</c:v>
                  </c:pt>
                  <c:pt idx="13">
                    <c:v>310</c:v>
                  </c:pt>
                  <c:pt idx="14">
                    <c:v>330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-0.01</c:v>
                </c:pt>
                <c:pt idx="1">
                  <c:v>-0.03</c:v>
                </c:pt>
                <c:pt idx="2">
                  <c:v>-0.44</c:v>
                </c:pt>
                <c:pt idx="3">
                  <c:v>-0.76</c:v>
                </c:pt>
                <c:pt idx="4">
                  <c:v>-0.38</c:v>
                </c:pt>
                <c:pt idx="5">
                  <c:v>0.04</c:v>
                </c:pt>
                <c:pt idx="6">
                  <c:v>0.12</c:v>
                </c:pt>
                <c:pt idx="7">
                  <c:v>0.65</c:v>
                </c:pt>
                <c:pt idx="8">
                  <c:v>1.01</c:v>
                </c:pt>
                <c:pt idx="9">
                  <c:v>0.32</c:v>
                </c:pt>
                <c:pt idx="10">
                  <c:v>-0.3</c:v>
                </c:pt>
                <c:pt idx="11">
                  <c:v>-0.42</c:v>
                </c:pt>
                <c:pt idx="12">
                  <c:v>-0.39</c:v>
                </c:pt>
                <c:pt idx="13">
                  <c:v>-0.18</c:v>
                </c:pt>
                <c:pt idx="14">
                  <c:v>0.02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770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770"/>
                    </a:solidFill>
                    <a:latin typeface="+mn-lt"/>
                  </a:rPr>
                  <a:t>Time after pair onset (ms)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-1"/>
        </c:scaling>
        <c:delete val="0"/>
        <c:axPos val="l"/>
        <c:majorGridlines>
          <c:spPr>
            <a:ln w="6350" cap="flat">
              <a:solidFill>
                <a:srgbClr val="DDE5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770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770"/>
                    </a:solidFill>
                    <a:latin typeface="+mn-lt"/>
                  </a:rPr>
                  <a:t>µV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34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2343B"/>
                </a:solidFill>
                <a:latin typeface="+mn-lt"/>
              </a:rPr>
              <a:t>Single-trial accuracy (%), mean of 28 subjects  ·  chance = 50%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EEGNet</c:v>
                </c:pt>
              </c:strCache>
            </c:strRef>
          </c:tx>
          <c:spPr>
            <a:solidFill>
              <a:srgbClr val="2E6F7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Within-subject</c:v>
                  </c:pt>
                  <c:pt idx="1">
                    <c:v>Pooled</c:v>
                  </c:pt>
                  <c:pt idx="2">
                    <c:v>Cross-subject (LOSO)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74.4</c:v>
                </c:pt>
                <c:pt idx="1">
                  <c:v>66.7</c:v>
                </c:pt>
                <c:pt idx="2">
                  <c:v>62.3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DCPM</c:v>
                </c:pt>
              </c:strCache>
            </c:strRef>
          </c:tx>
          <c:spPr>
            <a:solidFill>
              <a:srgbClr val="8AA6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Within-subject</c:v>
                  </c:pt>
                  <c:pt idx="1">
                    <c:v>Pooled</c:v>
                  </c:pt>
                  <c:pt idx="2">
                    <c:v>Cross-subject (LOSO)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72.6</c:v>
                </c:pt>
                <c:pt idx="1">
                  <c:v>63.2</c:v>
                </c:pt>
                <c:pt idx="2">
                  <c:v>60.3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2B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7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50"/>
        </c:scaling>
        <c:delete val="0"/>
        <c:axPos val="l"/>
        <c:majorGridlines>
          <c:spPr>
            <a:ln w="6350" cap="flat">
              <a:solidFill>
                <a:srgbClr val="DDE5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770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B6770"/>
                    </a:solidFill>
                    <a:latin typeface="+mn-lt"/>
                  </a:rPr>
                  <a:t>Accuracy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B67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~10 s. Greet the committee; state the title and that this is the mid-term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s. Visual BCIs are fast but large flashing stimuli are tiring. Miniature lateral stimuli are comfortable, but the response is tiny. Task: decide whether a stimulus pair went left→right or right→left from one trial. (One sentence on the topic change, if needed.)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s. Exploratory analysis of the grand average: the class difference is about 1 µV and flips sign between ~110 ms and ~210 ms, matching the stimulus order. Trials overlap. And subjects differ strongly in symmetry and latency. Observations 1-3 give Challenge 1, observation 4 gives Challenge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~25 s. Each challenge gets one chapter: RED for single-trial SNR within a subject, LR-MoE for cross-subject variability. Chapter 3 puts the decoders into an online robotic-arm system. All of it rests on the shared pipeline and baselines, which are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s. Completed so far: a verified, reproducible preprocessing pipeline and three leakage-free protocols. Baselines, seed 0: EEGNet 74.4 / 66.7 / 62.3 %, DCPM 72.6 / 63.2 / 60.3 % (within / pooled / LOSO). Single-trial accuracy is limited and falls about 12 points across subjects, which is what Chapters 1 and 2 address.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23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1732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874520"/>
            <a:ext cx="676656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88620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i="1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98348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Mid-term Thesis Defense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EG traces" descr="Decorative multi-channel EEG tra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1005840"/>
            <a:ext cx="4114800" cy="3429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14173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MID-TERM THESIS DEFENSE</a:t>
            </a:r>
            <a:endParaRPr lang="en-US" sz="14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1874520"/>
            <a:ext cx="6766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Decoding Miniature Asymmetric Visual Evoked Potentials with EEGNet-Based Methods</a:t>
            </a:r>
            <a:endParaRPr lang="en-US" sz="36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388620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Toward an online EEG-based brain-controlled robotic arm</a:t>
            </a:r>
            <a:endParaRPr lang="en-US" sz="20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548640" y="4983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[Your Name]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Supervisor: [Supervisor Name]   ·   [School / Department]   ·   [Date]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01  RESEARCH BACKGROUND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Miniature Visual Stimuli: Comfortable but Hard to Decode</a:t>
            </a:r>
            <a:endParaRPr lang="en-US" sz="3000" dirty="0"/>
          </a:p>
        </p:txBody>
      </p:sp>
      <p:sp>
        <p:nvSpPr>
          <p:cNvPr id="4" name="Paradigm panel"/>
          <p:cNvSpPr/>
          <p:nvPr/>
        </p:nvSpPr>
        <p:spPr>
          <a:xfrm>
            <a:off x="548640" y="1554480"/>
            <a:ext cx="5394960" cy="3520440"/>
          </a:xfrm>
          <a:prstGeom prst="roundRect">
            <a:avLst>
              <a:gd name="adj" fmla="val 2078"/>
            </a:avLst>
          </a:prstGeom>
          <a:solidFill>
            <a:srgbClr val="EEF3F3"/>
          </a:solidFill>
          <a:ln/>
        </p:spPr>
      </p:sp>
      <p:sp>
        <p:nvSpPr>
          <p:cNvPr id="5" name="Paradigm heading"/>
          <p:cNvSpPr txBox="1"/>
          <p:nvPr/>
        </p:nvSpPr>
        <p:spPr>
          <a:xfrm>
            <a:off x="822960" y="17373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Paradigm (Xu et al., IEEE TBME 2018)</a:t>
            </a:r>
            <a:endParaRPr lang="en-US" sz="1600" dirty="0"/>
          </a:p>
        </p:txBody>
      </p:sp>
      <p:sp>
        <p:nvSpPr>
          <p:cNvPr id="6" name="Screen"/>
          <p:cNvSpPr/>
          <p:nvPr/>
        </p:nvSpPr>
        <p:spPr>
          <a:xfrm>
            <a:off x="822960" y="2240280"/>
            <a:ext cx="2103120" cy="1371600"/>
          </a:xfrm>
          <a:prstGeom prst="rect">
            <a:avLst/>
          </a:prstGeom>
          <a:solidFill>
            <a:srgbClr val="1B2B30"/>
          </a:solidFill>
          <a:ln/>
        </p:spPr>
      </p:sp>
      <p:sp>
        <p:nvSpPr>
          <p:cNvPr id="7" name="Fixation"/>
          <p:cNvSpPr txBox="1"/>
          <p:nvPr/>
        </p:nvSpPr>
        <p:spPr>
          <a:xfrm>
            <a:off x="1691640" y="2724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+</a:t>
            </a:r>
            <a:endParaRPr lang="en-US" sz="2000" dirty="0"/>
          </a:p>
        </p:txBody>
      </p:sp>
      <p:sp>
        <p:nvSpPr>
          <p:cNvPr id="8" name="Left stimulus"/>
          <p:cNvSpPr/>
          <p:nvPr/>
        </p:nvSpPr>
        <p:spPr>
          <a:xfrm>
            <a:off x="1490472" y="2880360"/>
            <a:ext cx="91440" cy="91440"/>
          </a:xfrm>
          <a:prstGeom prst="rect">
            <a:avLst/>
          </a:prstGeom>
          <a:solidFill>
            <a:srgbClr val="2E6F73"/>
          </a:solidFill>
          <a:ln/>
        </p:spPr>
      </p:sp>
      <p:sp>
        <p:nvSpPr>
          <p:cNvPr id="9" name="Right stimulus"/>
          <p:cNvSpPr/>
          <p:nvPr/>
        </p:nvSpPr>
        <p:spPr>
          <a:xfrm>
            <a:off x="2167128" y="2880360"/>
            <a:ext cx="91440" cy="91440"/>
          </a:xfrm>
          <a:prstGeom prst="rect">
            <a:avLst/>
          </a:prstGeom>
          <a:solidFill>
            <a:srgbClr val="C8553D"/>
          </a:solidFill>
          <a:ln/>
        </p:spPr>
      </p:sp>
      <p:sp>
        <p:nvSpPr>
          <p:cNvPr id="10" name="Screen caption"/>
          <p:cNvSpPr txBox="1"/>
          <p:nvPr/>
        </p:nvSpPr>
        <p:spPr>
          <a:xfrm>
            <a:off x="822960" y="36850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Tiny stimuli flank the fixation point</a:t>
            </a:r>
            <a:endParaRPr lang="en-US" sz="1100" dirty="0"/>
          </a:p>
        </p:txBody>
      </p:sp>
      <p:sp>
        <p:nvSpPr>
          <p:cNvPr id="11" name="Class 0 label"/>
          <p:cNvSpPr txBox="1"/>
          <p:nvPr/>
        </p:nvSpPr>
        <p:spPr>
          <a:xfrm>
            <a:off x="3200400" y="22860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Class 0</a:t>
            </a:r>
            <a:endParaRPr lang="en-US" sz="1200" dirty="0"/>
          </a:p>
        </p:txBody>
      </p:sp>
      <p:sp>
        <p:nvSpPr>
          <p:cNvPr id="12" name="Class 0 step 0"/>
          <p:cNvSpPr/>
          <p:nvPr/>
        </p:nvSpPr>
        <p:spPr>
          <a:xfrm>
            <a:off x="3200400" y="2578608"/>
            <a:ext cx="329184" cy="329184"/>
          </a:xfrm>
          <a:prstGeom prst="ellipse">
            <a:avLst/>
          </a:prstGeom>
          <a:solidFill>
            <a:srgbClr val="2E6F7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</a:t>
            </a:r>
            <a:endParaRPr lang="en-US" sz="1200" dirty="0"/>
          </a:p>
        </p:txBody>
      </p:sp>
      <p:sp>
        <p:nvSpPr>
          <p:cNvPr id="13" name="Class 0 step 1"/>
          <p:cNvSpPr/>
          <p:nvPr/>
        </p:nvSpPr>
        <p:spPr>
          <a:xfrm>
            <a:off x="3977640" y="2578608"/>
            <a:ext cx="329184" cy="329184"/>
          </a:xfrm>
          <a:prstGeom prst="ellipse">
            <a:avLst/>
          </a:prstGeom>
          <a:solidFill>
            <a:srgbClr val="C855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</a:t>
            </a:r>
            <a:endParaRPr lang="en-US" sz="1200" dirty="0"/>
          </a:p>
        </p:txBody>
      </p:sp>
      <p:sp>
        <p:nvSpPr>
          <p:cNvPr id="14" name="Class 0 arrow"/>
          <p:cNvSpPr/>
          <p:nvPr/>
        </p:nvSpPr>
        <p:spPr>
          <a:xfrm>
            <a:off x="3584448" y="2743200"/>
            <a:ext cx="338328" cy="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15" name="Class 0 order"/>
          <p:cNvSpPr txBox="1"/>
          <p:nvPr/>
        </p:nvSpPr>
        <p:spPr>
          <a:xfrm>
            <a:off x="4389120" y="257860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left → right</a:t>
            </a:r>
            <a:endParaRPr lang="en-US" sz="1300" dirty="0"/>
          </a:p>
        </p:txBody>
      </p:sp>
      <p:sp>
        <p:nvSpPr>
          <p:cNvPr id="16" name="Class 1 label"/>
          <p:cNvSpPr txBox="1"/>
          <p:nvPr/>
        </p:nvSpPr>
        <p:spPr>
          <a:xfrm>
            <a:off x="3200400" y="30175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Class 1</a:t>
            </a:r>
            <a:endParaRPr lang="en-US" sz="1200" dirty="0"/>
          </a:p>
        </p:txBody>
      </p:sp>
      <p:sp>
        <p:nvSpPr>
          <p:cNvPr id="17" name="Class 1 step 0"/>
          <p:cNvSpPr/>
          <p:nvPr/>
        </p:nvSpPr>
        <p:spPr>
          <a:xfrm>
            <a:off x="3200400" y="3310128"/>
            <a:ext cx="329184" cy="329184"/>
          </a:xfrm>
          <a:prstGeom prst="ellipse">
            <a:avLst/>
          </a:prstGeom>
          <a:solidFill>
            <a:srgbClr val="C855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</a:t>
            </a:r>
            <a:endParaRPr lang="en-US" sz="1200" dirty="0"/>
          </a:p>
        </p:txBody>
      </p:sp>
      <p:sp>
        <p:nvSpPr>
          <p:cNvPr id="18" name="Class 1 step 1"/>
          <p:cNvSpPr/>
          <p:nvPr/>
        </p:nvSpPr>
        <p:spPr>
          <a:xfrm>
            <a:off x="3977640" y="3310128"/>
            <a:ext cx="329184" cy="329184"/>
          </a:xfrm>
          <a:prstGeom prst="ellipse">
            <a:avLst/>
          </a:prstGeom>
          <a:solidFill>
            <a:srgbClr val="2E6F7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</a:t>
            </a:r>
            <a:endParaRPr lang="en-US" sz="1200" dirty="0"/>
          </a:p>
        </p:txBody>
      </p:sp>
      <p:sp>
        <p:nvSpPr>
          <p:cNvPr id="19" name="Class 1 arrow"/>
          <p:cNvSpPr/>
          <p:nvPr/>
        </p:nvSpPr>
        <p:spPr>
          <a:xfrm>
            <a:off x="3584448" y="3474720"/>
            <a:ext cx="338328" cy="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20" name="Class 1 order"/>
          <p:cNvSpPr txBox="1"/>
          <p:nvPr/>
        </p:nvSpPr>
        <p:spPr>
          <a:xfrm>
            <a:off x="4389120" y="33101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right → left</a:t>
            </a:r>
            <a:endParaRPr lang="en-US" sz="1300" dirty="0"/>
          </a:p>
        </p:txBody>
      </p:sp>
      <p:sp>
        <p:nvSpPr>
          <p:cNvPr id="21" name="Paradigm facts"/>
          <p:cNvSpPr txBox="1"/>
          <p:nvPr/>
        </p:nvSpPr>
        <p:spPr>
          <a:xfrm>
            <a:off x="822960" y="40690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One trial = one stimulus pair, presented every 200 ms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28 subjects × 6 sessions × 480 trials; 21 channels</a:t>
            </a:r>
            <a:endParaRPr lang="en-US" sz="1400" dirty="0"/>
          </a:p>
        </p:txBody>
      </p:sp>
      <p:sp>
        <p:nvSpPr>
          <p:cNvPr id="22" name="Motivation icon bg 0"/>
          <p:cNvSpPr/>
          <p:nvPr/>
        </p:nvSpPr>
        <p:spPr>
          <a:xfrm>
            <a:off x="6309360" y="160020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3" name="Motivation icon 0" descr="Conventional VEP-based BCI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737360"/>
            <a:ext cx="365760" cy="365760"/>
          </a:xfrm>
          <a:prstGeom prst="rect">
            <a:avLst/>
          </a:prstGeom>
        </p:spPr>
      </p:pic>
      <p:sp>
        <p:nvSpPr>
          <p:cNvPr id="24" name="Motivation head 0"/>
          <p:cNvSpPr txBox="1"/>
          <p:nvPr/>
        </p:nvSpPr>
        <p:spPr>
          <a:xfrm>
            <a:off x="7178040" y="1581912"/>
            <a:ext cx="4465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Conventional VEP-based BCIs</a:t>
            </a:r>
            <a:endParaRPr lang="en-US" sz="1600" dirty="0"/>
          </a:p>
        </p:txBody>
      </p:sp>
      <p:sp>
        <p:nvSpPr>
          <p:cNvPr id="25" name="Motivation text 0"/>
          <p:cNvSpPr txBox="1"/>
          <p:nvPr/>
        </p:nvSpPr>
        <p:spPr>
          <a:xfrm>
            <a:off x="7178040" y="1929384"/>
            <a:ext cx="4465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Large, intense flashing stimuli cause visual fatigue and discomfort</a:t>
            </a:r>
            <a:endParaRPr lang="en-US" sz="1400" dirty="0"/>
          </a:p>
        </p:txBody>
      </p:sp>
      <p:sp>
        <p:nvSpPr>
          <p:cNvPr id="26" name="Motivation icon bg 1"/>
          <p:cNvSpPr/>
          <p:nvPr/>
        </p:nvSpPr>
        <p:spPr>
          <a:xfrm>
            <a:off x="6309360" y="2788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Motivation icon 1" descr="Miniature lateral stimul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926080"/>
            <a:ext cx="365760" cy="365760"/>
          </a:xfrm>
          <a:prstGeom prst="rect">
            <a:avLst/>
          </a:prstGeom>
        </p:spPr>
      </p:pic>
      <p:sp>
        <p:nvSpPr>
          <p:cNvPr id="28" name="Motivation head 1"/>
          <p:cNvSpPr txBox="1"/>
          <p:nvPr/>
        </p:nvSpPr>
        <p:spPr>
          <a:xfrm>
            <a:off x="7178040" y="2770632"/>
            <a:ext cx="4465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Miniature lateral stimuli</a:t>
            </a:r>
            <a:endParaRPr lang="en-US" sz="1600" dirty="0"/>
          </a:p>
        </p:txBody>
      </p:sp>
      <p:sp>
        <p:nvSpPr>
          <p:cNvPr id="29" name="Motivation text 1"/>
          <p:cNvSpPr txBox="1"/>
          <p:nvPr/>
        </p:nvSpPr>
        <p:spPr>
          <a:xfrm>
            <a:off x="7178040" y="3118104"/>
            <a:ext cx="4465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Small stimuli beside fixation: more comfortable and less intrusive</a:t>
            </a:r>
            <a:endParaRPr lang="en-US" sz="1400" dirty="0"/>
          </a:p>
        </p:txBody>
      </p:sp>
      <p:sp>
        <p:nvSpPr>
          <p:cNvPr id="30" name="Motivation icon bg 2"/>
          <p:cNvSpPr/>
          <p:nvPr/>
        </p:nvSpPr>
        <p:spPr>
          <a:xfrm>
            <a:off x="6309360" y="39776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1" name="Motivation icon 2" descr="The price: a very weak sign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114800"/>
            <a:ext cx="365760" cy="365760"/>
          </a:xfrm>
          <a:prstGeom prst="rect">
            <a:avLst/>
          </a:prstGeom>
        </p:spPr>
      </p:pic>
      <p:sp>
        <p:nvSpPr>
          <p:cNvPr id="32" name="Motivation head 2"/>
          <p:cNvSpPr txBox="1"/>
          <p:nvPr/>
        </p:nvSpPr>
        <p:spPr>
          <a:xfrm>
            <a:off x="7178040" y="3959352"/>
            <a:ext cx="4465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price: a very weak signal</a:t>
            </a:r>
            <a:endParaRPr lang="en-US" sz="1600" dirty="0"/>
          </a:p>
        </p:txBody>
      </p:sp>
      <p:sp>
        <p:nvSpPr>
          <p:cNvPr id="33" name="Motivation text 2"/>
          <p:cNvSpPr txBox="1"/>
          <p:nvPr/>
        </p:nvSpPr>
        <p:spPr>
          <a:xfrm>
            <a:off x="7178040" y="4306824"/>
            <a:ext cx="4465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Class difference ≈ 1 µV, so single-trial decoding is hard</a:t>
            </a:r>
            <a:endParaRPr lang="en-US" sz="1400" dirty="0"/>
          </a:p>
        </p:txBody>
      </p:sp>
      <p:sp>
        <p:nvSpPr>
          <p:cNvPr id="34" name="Research question bg"/>
          <p:cNvSpPr/>
          <p:nvPr/>
        </p:nvSpPr>
        <p:spPr>
          <a:xfrm>
            <a:off x="548640" y="534924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12343B"/>
          </a:solidFill>
          <a:ln/>
        </p:spPr>
      </p:sp>
      <p:sp>
        <p:nvSpPr>
          <p:cNvPr id="35" name="Research question"/>
          <p:cNvSpPr txBox="1"/>
          <p:nvPr/>
        </p:nvSpPr>
        <p:spPr>
          <a:xfrm>
            <a:off x="822960" y="5349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Research question  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How can the stimulus order be decoded reliably from a single trial, within and across subjects?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02  KEY OBSERVATIONS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 Weak, Time-Varying and Subject-Specific Signal</a:t>
            </a:r>
            <a:endParaRPr lang="en-US" sz="3000" dirty="0"/>
          </a:p>
        </p:txBody>
      </p:sp>
      <p:graphicFrame>
        <p:nvGraphicFramePr>
          <p:cNvPr id="4" name="Lateralization chart" descr=""/>
          <p:cNvGraphicFramePr/>
          <p:nvPr/>
        </p:nvGraphicFramePr>
        <p:xfrm>
          <a:off x="548640" y="1508760"/>
          <a:ext cx="63093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tat card 0"/>
          <p:cNvSpPr/>
          <p:nvPr/>
        </p:nvSpPr>
        <p:spPr>
          <a:xfrm>
            <a:off x="548640" y="5074920"/>
            <a:ext cx="1975104" cy="1005840"/>
          </a:xfrm>
          <a:prstGeom prst="roundRect">
            <a:avLst>
              <a:gd name="adj" fmla="val 7273"/>
            </a:avLst>
          </a:prstGeom>
          <a:solidFill>
            <a:srgbClr val="EEF3F3"/>
          </a:solidFill>
          <a:ln/>
        </p:spPr>
      </p:sp>
      <p:sp>
        <p:nvSpPr>
          <p:cNvPr id="6" name="Stat value 0"/>
          <p:cNvSpPr txBox="1"/>
          <p:nvPr/>
        </p:nvSpPr>
        <p:spPr>
          <a:xfrm>
            <a:off x="731520" y="51389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6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−0.76 µV</a:t>
            </a:r>
            <a:endParaRPr lang="en-US" sz="2400" dirty="0"/>
          </a:p>
        </p:txBody>
      </p:sp>
      <p:sp>
        <p:nvSpPr>
          <p:cNvPr id="7" name="Stat label 0"/>
          <p:cNvSpPr txBox="1"/>
          <p:nvPr/>
        </p:nvSpPr>
        <p:spPr>
          <a:xfrm>
            <a:off x="731520" y="5596128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at 110 ms</a:t>
            </a:r>
            <a:endParaRPr lang="en-US" sz="1200" dirty="0"/>
          </a:p>
        </p:txBody>
      </p:sp>
      <p:sp>
        <p:nvSpPr>
          <p:cNvPr id="8" name="Stat card 1"/>
          <p:cNvSpPr/>
          <p:nvPr/>
        </p:nvSpPr>
        <p:spPr>
          <a:xfrm>
            <a:off x="2715768" y="5074920"/>
            <a:ext cx="1975104" cy="1005840"/>
          </a:xfrm>
          <a:prstGeom prst="roundRect">
            <a:avLst>
              <a:gd name="adj" fmla="val 7273"/>
            </a:avLst>
          </a:prstGeom>
          <a:solidFill>
            <a:srgbClr val="EEF3F3"/>
          </a:solidFill>
          <a:ln/>
        </p:spPr>
      </p:sp>
      <p:sp>
        <p:nvSpPr>
          <p:cNvPr id="9" name="Stat value 1"/>
          <p:cNvSpPr txBox="1"/>
          <p:nvPr/>
        </p:nvSpPr>
        <p:spPr>
          <a:xfrm>
            <a:off x="2898648" y="51389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+1.01 µV</a:t>
            </a:r>
            <a:endParaRPr lang="en-US" sz="2400" dirty="0"/>
          </a:p>
        </p:txBody>
      </p:sp>
      <p:sp>
        <p:nvSpPr>
          <p:cNvPr id="10" name="Stat label 1"/>
          <p:cNvSpPr txBox="1"/>
          <p:nvPr/>
        </p:nvSpPr>
        <p:spPr>
          <a:xfrm>
            <a:off x="2898648" y="5596128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at 210 ms</a:t>
            </a:r>
            <a:endParaRPr lang="en-US" sz="1200" dirty="0"/>
          </a:p>
        </p:txBody>
      </p:sp>
      <p:sp>
        <p:nvSpPr>
          <p:cNvPr id="11" name="Stat card 2"/>
          <p:cNvSpPr/>
          <p:nvPr/>
        </p:nvSpPr>
        <p:spPr>
          <a:xfrm>
            <a:off x="4882896" y="5074920"/>
            <a:ext cx="1975104" cy="1005840"/>
          </a:xfrm>
          <a:prstGeom prst="roundRect">
            <a:avLst>
              <a:gd name="adj" fmla="val 7273"/>
            </a:avLst>
          </a:prstGeom>
          <a:solidFill>
            <a:srgbClr val="EEF3F3"/>
          </a:solidFill>
          <a:ln/>
        </p:spPr>
      </p:sp>
      <p:sp>
        <p:nvSpPr>
          <p:cNvPr id="12" name="Stat value 2"/>
          <p:cNvSpPr txBox="1"/>
          <p:nvPr/>
        </p:nvSpPr>
        <p:spPr>
          <a:xfrm>
            <a:off x="5065776" y="51389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 flip</a:t>
            </a:r>
            <a:endParaRPr lang="en-US" sz="2400" dirty="0"/>
          </a:p>
        </p:txBody>
      </p:sp>
      <p:sp>
        <p:nvSpPr>
          <p:cNvPr id="13" name="Stat label 2"/>
          <p:cNvSpPr txBox="1"/>
          <p:nvPr/>
        </p:nvSpPr>
        <p:spPr>
          <a:xfrm>
            <a:off x="5065776" y="5596128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encodes stimulus order</a:t>
            </a:r>
            <a:endParaRPr lang="en-US" sz="1200" dirty="0"/>
          </a:p>
        </p:txBody>
      </p:sp>
      <p:sp>
        <p:nvSpPr>
          <p:cNvPr id="14" name="Challenge card 1"/>
          <p:cNvSpPr/>
          <p:nvPr/>
        </p:nvSpPr>
        <p:spPr>
          <a:xfrm>
            <a:off x="7269480" y="1508760"/>
            <a:ext cx="4373575" cy="2194560"/>
          </a:xfrm>
          <a:prstGeom prst="roundRect">
            <a:avLst>
              <a:gd name="adj" fmla="val 3333"/>
            </a:avLst>
          </a:prstGeom>
          <a:solidFill>
            <a:srgbClr val="EEF3F3"/>
          </a:solidFill>
          <a:ln/>
        </p:spPr>
      </p:sp>
      <p:sp>
        <p:nvSpPr>
          <p:cNvPr id="15" name="Challenge tag 1"/>
          <p:cNvSpPr/>
          <p:nvPr/>
        </p:nvSpPr>
        <p:spPr>
          <a:xfrm>
            <a:off x="7543800" y="1709928"/>
            <a:ext cx="1234440" cy="256032"/>
          </a:xfrm>
          <a:prstGeom prst="roundRect">
            <a:avLst>
              <a:gd name="adj" fmla="val 46429"/>
            </a:avLst>
          </a:prstGeom>
          <a:solidFill>
            <a:srgbClr val="2E6F7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CHALLENGE 1</a:t>
            </a:r>
            <a:endParaRPr lang="en-US" sz="1000" dirty="0"/>
          </a:p>
        </p:txBody>
      </p:sp>
      <p:sp>
        <p:nvSpPr>
          <p:cNvPr id="16" name="Challenge head 1"/>
          <p:cNvSpPr txBox="1"/>
          <p:nvPr/>
        </p:nvSpPr>
        <p:spPr>
          <a:xfrm>
            <a:off x="7543800" y="2057400"/>
            <a:ext cx="3824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Low single-trial SNR</a:t>
            </a:r>
            <a:endParaRPr lang="en-US" sz="1800" dirty="0"/>
          </a:p>
        </p:txBody>
      </p:sp>
      <p:sp>
        <p:nvSpPr>
          <p:cNvPr id="17" name="Challenge points 1"/>
          <p:cNvSpPr txBox="1"/>
          <p:nvPr/>
        </p:nvSpPr>
        <p:spPr>
          <a:xfrm>
            <a:off x="7543800" y="2468880"/>
            <a:ext cx="3916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Effect ≈ 1 µV, buried in background EEG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Lateralization reverses sign within 100 ms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Pairs every 200 ms: responses overlap</a:t>
            </a:r>
            <a:endParaRPr lang="en-US" sz="1400" dirty="0"/>
          </a:p>
        </p:txBody>
      </p:sp>
      <p:sp>
        <p:nvSpPr>
          <p:cNvPr id="18" name="Challenge card 2"/>
          <p:cNvSpPr/>
          <p:nvPr/>
        </p:nvSpPr>
        <p:spPr>
          <a:xfrm>
            <a:off x="7269480" y="3886200"/>
            <a:ext cx="4373575" cy="2194560"/>
          </a:xfrm>
          <a:prstGeom prst="roundRect">
            <a:avLst>
              <a:gd name="adj" fmla="val 3333"/>
            </a:avLst>
          </a:prstGeom>
          <a:solidFill>
            <a:srgbClr val="EEF3F3"/>
          </a:solidFill>
          <a:ln/>
        </p:spPr>
      </p:sp>
      <p:sp>
        <p:nvSpPr>
          <p:cNvPr id="19" name="Challenge tag 2"/>
          <p:cNvSpPr/>
          <p:nvPr/>
        </p:nvSpPr>
        <p:spPr>
          <a:xfrm>
            <a:off x="7543800" y="4087368"/>
            <a:ext cx="1234440" cy="256032"/>
          </a:xfrm>
          <a:prstGeom prst="roundRect">
            <a:avLst>
              <a:gd name="adj" fmla="val 46429"/>
            </a:avLst>
          </a:prstGeom>
          <a:solidFill>
            <a:srgbClr val="C855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CHALLENGE 2</a:t>
            </a:r>
            <a:endParaRPr lang="en-US" sz="1000" dirty="0"/>
          </a:p>
        </p:txBody>
      </p:sp>
      <p:sp>
        <p:nvSpPr>
          <p:cNvPr id="20" name="Challenge head 2"/>
          <p:cNvSpPr txBox="1"/>
          <p:nvPr/>
        </p:nvSpPr>
        <p:spPr>
          <a:xfrm>
            <a:off x="7543800" y="4434840"/>
            <a:ext cx="3824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Inter-subject variability</a:t>
            </a:r>
            <a:endParaRPr lang="en-US" sz="1800" dirty="0"/>
          </a:p>
        </p:txBody>
      </p:sp>
      <p:sp>
        <p:nvSpPr>
          <p:cNvPr id="21" name="Challenge points 2"/>
          <p:cNvSpPr txBox="1"/>
          <p:nvPr/>
        </p:nvSpPr>
        <p:spPr>
          <a:xfrm>
            <a:off x="7543800" y="4846320"/>
            <a:ext cx="3916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Mirror-symmetry correlation: −0.64 to 0.75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Peak latency ranges from 105 to 245 ms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Some subjects encode it in the hemispheric sum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03  RESEARCH FRAMEWORK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Two Challenges, Three Chapters</a:t>
            </a:r>
            <a:endParaRPr lang="en-US" sz="3000" dirty="0"/>
          </a:p>
        </p:txBody>
      </p:sp>
      <p:sp>
        <p:nvSpPr>
          <p:cNvPr id="4" name="Framework challenge 1"/>
          <p:cNvSpPr/>
          <p:nvPr/>
        </p:nvSpPr>
        <p:spPr>
          <a:xfrm>
            <a:off x="548640" y="1463040"/>
            <a:ext cx="5341468" cy="658368"/>
          </a:xfrm>
          <a:prstGeom prst="roundRect">
            <a:avLst>
              <a:gd name="adj" fmla="val 11111"/>
            </a:avLst>
          </a:prstGeom>
          <a:solidFill>
            <a:srgbClr val="EEF3F3"/>
          </a:solidFill>
          <a:ln/>
        </p:spPr>
      </p:sp>
      <p:sp>
        <p:nvSpPr>
          <p:cNvPr id="5" name="Framework challenge tag 1"/>
          <p:cNvSpPr/>
          <p:nvPr/>
        </p:nvSpPr>
        <p:spPr>
          <a:xfrm>
            <a:off x="822960" y="1664208"/>
            <a:ext cx="1234440" cy="256032"/>
          </a:xfrm>
          <a:prstGeom prst="roundRect">
            <a:avLst>
              <a:gd name="adj" fmla="val 46429"/>
            </a:avLst>
          </a:prstGeom>
          <a:solidFill>
            <a:srgbClr val="2E6F7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CHALLENGE 1</a:t>
            </a:r>
            <a:endParaRPr lang="en-US" sz="1000" dirty="0"/>
          </a:p>
        </p:txBody>
      </p:sp>
      <p:sp>
        <p:nvSpPr>
          <p:cNvPr id="6" name="Framework challenge text 1"/>
          <p:cNvSpPr txBox="1"/>
          <p:nvPr/>
        </p:nvSpPr>
        <p:spPr>
          <a:xfrm>
            <a:off x="2286000" y="1463040"/>
            <a:ext cx="3421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Low single-trial SNR</a:t>
            </a:r>
            <a:endParaRPr lang="en-US" sz="1600" dirty="0"/>
          </a:p>
        </p:txBody>
      </p:sp>
      <p:sp>
        <p:nvSpPr>
          <p:cNvPr id="7" name="Framework arrow down 1"/>
          <p:cNvSpPr/>
          <p:nvPr/>
        </p:nvSpPr>
        <p:spPr>
          <a:xfrm>
            <a:off x="3219374" y="2176272"/>
            <a:ext cx="0" cy="310896"/>
          </a:xfrm>
          <a:prstGeom prst="line">
            <a:avLst/>
          </a:prstGeom>
          <a:noFill/>
          <a:ln w="25400">
            <a:solidFill>
              <a:srgbClr val="8AA6A3"/>
            </a:solidFill>
            <a:prstDash val="solid"/>
            <a:tailEnd type="triangle"/>
          </a:ln>
        </p:spPr>
      </p:sp>
      <p:sp>
        <p:nvSpPr>
          <p:cNvPr id="8" name="Framework challenge 2"/>
          <p:cNvSpPr/>
          <p:nvPr/>
        </p:nvSpPr>
        <p:spPr>
          <a:xfrm>
            <a:off x="6301588" y="1463040"/>
            <a:ext cx="5341468" cy="658368"/>
          </a:xfrm>
          <a:prstGeom prst="roundRect">
            <a:avLst>
              <a:gd name="adj" fmla="val 11111"/>
            </a:avLst>
          </a:prstGeom>
          <a:solidFill>
            <a:srgbClr val="EEF3F3"/>
          </a:solidFill>
          <a:ln/>
        </p:spPr>
      </p:sp>
      <p:sp>
        <p:nvSpPr>
          <p:cNvPr id="9" name="Framework challenge tag 2"/>
          <p:cNvSpPr/>
          <p:nvPr/>
        </p:nvSpPr>
        <p:spPr>
          <a:xfrm>
            <a:off x="6575908" y="1664208"/>
            <a:ext cx="1234440" cy="256032"/>
          </a:xfrm>
          <a:prstGeom prst="roundRect">
            <a:avLst>
              <a:gd name="adj" fmla="val 46429"/>
            </a:avLst>
          </a:prstGeom>
          <a:solidFill>
            <a:srgbClr val="C855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CHALLENGE 2</a:t>
            </a:r>
            <a:endParaRPr lang="en-US" sz="1000" dirty="0"/>
          </a:p>
        </p:txBody>
      </p:sp>
      <p:sp>
        <p:nvSpPr>
          <p:cNvPr id="10" name="Framework challenge text 2"/>
          <p:cNvSpPr txBox="1"/>
          <p:nvPr/>
        </p:nvSpPr>
        <p:spPr>
          <a:xfrm>
            <a:off x="8038948" y="1463040"/>
            <a:ext cx="3421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Inter-subject variability</a:t>
            </a:r>
            <a:endParaRPr lang="en-US" sz="1600" dirty="0"/>
          </a:p>
        </p:txBody>
      </p:sp>
      <p:sp>
        <p:nvSpPr>
          <p:cNvPr id="11" name="Framework arrow down 2"/>
          <p:cNvSpPr/>
          <p:nvPr/>
        </p:nvSpPr>
        <p:spPr>
          <a:xfrm>
            <a:off x="8972321" y="2176272"/>
            <a:ext cx="0" cy="310896"/>
          </a:xfrm>
          <a:prstGeom prst="line">
            <a:avLst/>
          </a:prstGeom>
          <a:noFill/>
          <a:ln w="25400">
            <a:solidFill>
              <a:srgbClr val="8AA6A3"/>
            </a:solidFill>
            <a:prstDash val="solid"/>
            <a:tailEnd type="triangle"/>
          </a:ln>
        </p:spPr>
      </p:sp>
      <p:sp>
        <p:nvSpPr>
          <p:cNvPr id="12" name="Chapter 1 card"/>
          <p:cNvSpPr/>
          <p:nvPr/>
        </p:nvSpPr>
        <p:spPr>
          <a:xfrm>
            <a:off x="548640" y="2542032"/>
            <a:ext cx="534146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5875">
            <a:solidFill>
              <a:srgbClr val="8AA6A3"/>
            </a:solidFill>
            <a:prstDash val="solid"/>
          </a:ln>
        </p:spPr>
      </p:sp>
      <p:sp>
        <p:nvSpPr>
          <p:cNvPr id="13" name="Chapter 1 tag"/>
          <p:cNvSpPr txBox="1"/>
          <p:nvPr/>
        </p:nvSpPr>
        <p:spPr>
          <a:xfrm>
            <a:off x="822960" y="26974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CHAPTER 1</a:t>
            </a:r>
            <a:endParaRPr lang="en-US" sz="1100" dirty="0"/>
          </a:p>
        </p:txBody>
      </p:sp>
      <p:sp>
        <p:nvSpPr>
          <p:cNvPr id="14" name="Chapter 1 status"/>
          <p:cNvSpPr/>
          <p:nvPr/>
        </p:nvSpPr>
        <p:spPr>
          <a:xfrm>
            <a:off x="4655668" y="2697480"/>
            <a:ext cx="960120" cy="256032"/>
          </a:xfrm>
          <a:prstGeom prst="roundRect">
            <a:avLst>
              <a:gd name="adj" fmla="val 46429"/>
            </a:avLst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</a:rPr>
              <a:t>DESIGNED</a:t>
            </a:r>
            <a:endParaRPr lang="en-US" sz="1000" dirty="0"/>
          </a:p>
        </p:txBody>
      </p:sp>
      <p:sp>
        <p:nvSpPr>
          <p:cNvPr id="15" name="Chapter 1 head"/>
          <p:cNvSpPr txBox="1"/>
          <p:nvPr/>
        </p:nvSpPr>
        <p:spPr>
          <a:xfrm>
            <a:off x="822960" y="2990088"/>
            <a:ext cx="47928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RED: Recoverable-ERP Distillation</a:t>
            </a:r>
            <a:endParaRPr lang="en-US" sz="1600" dirty="0"/>
          </a:p>
        </p:txBody>
      </p:sp>
      <p:sp>
        <p:nvSpPr>
          <p:cNvPr id="16" name="Chapter 1 desc"/>
          <p:cNvSpPr txBox="1"/>
          <p:nvPr/>
        </p:nvSpPr>
        <p:spPr>
          <a:xfrm>
            <a:off x="822960" y="3364992"/>
            <a:ext cx="47928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Multi-trial averages as training-only privileged information; the student learns only what one trial can recover</a:t>
            </a:r>
            <a:endParaRPr lang="en-US" sz="1400" dirty="0"/>
          </a:p>
        </p:txBody>
      </p:sp>
      <p:sp>
        <p:nvSpPr>
          <p:cNvPr id="17" name="Chapter 1 scope"/>
          <p:cNvSpPr txBox="1"/>
          <p:nvPr/>
        </p:nvSpPr>
        <p:spPr>
          <a:xfrm>
            <a:off x="822960" y="3913632"/>
            <a:ext cx="47928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Within-subject</a:t>
            </a:r>
            <a:endParaRPr lang="en-US" sz="1200" dirty="0"/>
          </a:p>
        </p:txBody>
      </p:sp>
      <p:sp>
        <p:nvSpPr>
          <p:cNvPr id="18" name="Chapter 1 arrow"/>
          <p:cNvSpPr/>
          <p:nvPr/>
        </p:nvSpPr>
        <p:spPr>
          <a:xfrm>
            <a:off x="3219374" y="4279392"/>
            <a:ext cx="0" cy="310896"/>
          </a:xfrm>
          <a:prstGeom prst="line">
            <a:avLst/>
          </a:prstGeom>
          <a:noFill/>
          <a:ln w="25400">
            <a:solidFill>
              <a:srgbClr val="8AA6A3"/>
            </a:solidFill>
            <a:prstDash val="solid"/>
            <a:tailEnd type="triangle"/>
          </a:ln>
        </p:spPr>
      </p:sp>
      <p:sp>
        <p:nvSpPr>
          <p:cNvPr id="19" name="Chapter 2 card"/>
          <p:cNvSpPr/>
          <p:nvPr/>
        </p:nvSpPr>
        <p:spPr>
          <a:xfrm>
            <a:off x="6301588" y="2542032"/>
            <a:ext cx="534146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5875">
            <a:solidFill>
              <a:srgbClr val="8AA6A3"/>
            </a:solidFill>
            <a:prstDash val="solid"/>
          </a:ln>
        </p:spPr>
      </p:sp>
      <p:sp>
        <p:nvSpPr>
          <p:cNvPr id="20" name="Chapter 2 tag"/>
          <p:cNvSpPr txBox="1"/>
          <p:nvPr/>
        </p:nvSpPr>
        <p:spPr>
          <a:xfrm>
            <a:off x="6575908" y="26974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CHAPTER 2</a:t>
            </a:r>
            <a:endParaRPr lang="en-US" sz="1100" dirty="0"/>
          </a:p>
        </p:txBody>
      </p:sp>
      <p:sp>
        <p:nvSpPr>
          <p:cNvPr id="21" name="Chapter 2 status"/>
          <p:cNvSpPr/>
          <p:nvPr/>
        </p:nvSpPr>
        <p:spPr>
          <a:xfrm>
            <a:off x="10408615" y="2697480"/>
            <a:ext cx="960120" cy="256032"/>
          </a:xfrm>
          <a:prstGeom prst="roundRect">
            <a:avLst>
              <a:gd name="adj" fmla="val 46429"/>
            </a:avLst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</a:rPr>
              <a:t>DESIGNED</a:t>
            </a:r>
            <a:endParaRPr lang="en-US" sz="1000" dirty="0"/>
          </a:p>
        </p:txBody>
      </p:sp>
      <p:sp>
        <p:nvSpPr>
          <p:cNvPr id="22" name="Chapter 2 head"/>
          <p:cNvSpPr txBox="1"/>
          <p:nvPr/>
        </p:nvSpPr>
        <p:spPr>
          <a:xfrm>
            <a:off x="6575908" y="2990088"/>
            <a:ext cx="47928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LR-MoE: Lateralization-Routed Mixture-of-Experts</a:t>
            </a:r>
            <a:endParaRPr lang="en-US" sz="1600" dirty="0"/>
          </a:p>
        </p:txBody>
      </p:sp>
      <p:sp>
        <p:nvSpPr>
          <p:cNvPr id="23" name="Chapter 2 desc"/>
          <p:cNvSpPr txBox="1"/>
          <p:nvPr/>
        </p:nvSpPr>
        <p:spPr>
          <a:xfrm>
            <a:off x="6575908" y="3364992"/>
            <a:ext cx="47928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Experts organised by hemispheric symmetry and latency; a physiological router selects them per trial</a:t>
            </a:r>
            <a:endParaRPr lang="en-US" sz="1400" dirty="0"/>
          </a:p>
        </p:txBody>
      </p:sp>
      <p:sp>
        <p:nvSpPr>
          <p:cNvPr id="24" name="Chapter 2 scope"/>
          <p:cNvSpPr txBox="1"/>
          <p:nvPr/>
        </p:nvSpPr>
        <p:spPr>
          <a:xfrm>
            <a:off x="6575908" y="3913632"/>
            <a:ext cx="47928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Cross-subject (LOSO)</a:t>
            </a:r>
            <a:endParaRPr lang="en-US" sz="1200" dirty="0"/>
          </a:p>
        </p:txBody>
      </p:sp>
      <p:sp>
        <p:nvSpPr>
          <p:cNvPr id="25" name="Chapter 2 arrow"/>
          <p:cNvSpPr/>
          <p:nvPr/>
        </p:nvSpPr>
        <p:spPr>
          <a:xfrm>
            <a:off x="8972321" y="4279392"/>
            <a:ext cx="0" cy="310896"/>
          </a:xfrm>
          <a:prstGeom prst="line">
            <a:avLst/>
          </a:prstGeom>
          <a:noFill/>
          <a:ln w="25400">
            <a:solidFill>
              <a:srgbClr val="8AA6A3"/>
            </a:solidFill>
            <a:prstDash val="solid"/>
            <a:tailEnd type="triangle"/>
          </a:ln>
        </p:spPr>
      </p:sp>
      <p:sp>
        <p:nvSpPr>
          <p:cNvPr id="26" name="Chapter 3 card"/>
          <p:cNvSpPr/>
          <p:nvPr/>
        </p:nvSpPr>
        <p:spPr>
          <a:xfrm>
            <a:off x="548640" y="4645152"/>
            <a:ext cx="11094415" cy="749808"/>
          </a:xfrm>
          <a:prstGeom prst="roundRect">
            <a:avLst>
              <a:gd name="adj" fmla="val 9756"/>
            </a:avLst>
          </a:prstGeom>
          <a:solidFill>
            <a:srgbClr val="12343B"/>
          </a:solidFill>
          <a:ln/>
        </p:spPr>
      </p:sp>
      <p:sp>
        <p:nvSpPr>
          <p:cNvPr id="27" name="Chapter 3 tag"/>
          <p:cNvSpPr txBox="1"/>
          <p:nvPr/>
        </p:nvSpPr>
        <p:spPr>
          <a:xfrm>
            <a:off x="822960" y="4645152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CHAPTER 3</a:t>
            </a:r>
            <a:endParaRPr lang="en-US" sz="1100" dirty="0"/>
          </a:p>
        </p:txBody>
      </p:sp>
      <p:sp>
        <p:nvSpPr>
          <p:cNvPr id="28" name="Chapter 3 text"/>
          <p:cNvSpPr txBox="1"/>
          <p:nvPr/>
        </p:nvSpPr>
        <p:spPr>
          <a:xfrm>
            <a:off x="2286000" y="4645152"/>
            <a:ext cx="78940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Online EEG-based brain-controlled robotic arm, built on the proposed decoders</a:t>
            </a:r>
            <a:endParaRPr lang="en-US" sz="1600" dirty="0"/>
          </a:p>
        </p:txBody>
      </p:sp>
      <p:sp>
        <p:nvSpPr>
          <p:cNvPr id="29" name="Chapter 3 status"/>
          <p:cNvSpPr/>
          <p:nvPr/>
        </p:nvSpPr>
        <p:spPr>
          <a:xfrm>
            <a:off x="10408615" y="4892040"/>
            <a:ext cx="960120" cy="256032"/>
          </a:xfrm>
          <a:prstGeom prst="roundRect">
            <a:avLst>
              <a:gd name="adj" fmla="val 46429"/>
            </a:avLst>
          </a:prstGeom>
          <a:solidFill>
            <a:srgbClr val="A3C4B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</a:rPr>
              <a:t>PLANNED</a:t>
            </a:r>
            <a:endParaRPr lang="en-US" sz="1000" dirty="0"/>
          </a:p>
        </p:txBody>
      </p:sp>
      <p:sp>
        <p:nvSpPr>
          <p:cNvPr id="30" name="Foundation card"/>
          <p:cNvSpPr/>
          <p:nvPr/>
        </p:nvSpPr>
        <p:spPr>
          <a:xfrm>
            <a:off x="548640" y="5577840"/>
            <a:ext cx="11094415" cy="548640"/>
          </a:xfrm>
          <a:prstGeom prst="roundRect">
            <a:avLst>
              <a:gd name="adj" fmla="val 13333"/>
            </a:avLst>
          </a:prstGeom>
          <a:solidFill>
            <a:srgbClr val="EEF3F3"/>
          </a:solidFill>
          <a:ln/>
        </p:spPr>
      </p:sp>
      <p:sp>
        <p:nvSpPr>
          <p:cNvPr id="31" name="Foundation status"/>
          <p:cNvSpPr/>
          <p:nvPr/>
        </p:nvSpPr>
        <p:spPr>
          <a:xfrm>
            <a:off x="822960" y="5724144"/>
            <a:ext cx="1097280" cy="256032"/>
          </a:xfrm>
          <a:prstGeom prst="roundRect">
            <a:avLst>
              <a:gd name="adj" fmla="val 46429"/>
            </a:avLst>
          </a:prstGeom>
          <a:solidFill>
            <a:srgbClr val="2E6F7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COMPLETED</a:t>
            </a:r>
            <a:endParaRPr lang="en-US" sz="1000" dirty="0"/>
          </a:p>
        </p:txBody>
      </p:sp>
      <p:sp>
        <p:nvSpPr>
          <p:cNvPr id="32" name="Foundation text"/>
          <p:cNvSpPr txBox="1"/>
          <p:nvPr/>
        </p:nvSpPr>
        <p:spPr>
          <a:xfrm>
            <a:off x="2148840" y="5577840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Foundation: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verified preprocessing pipeline  ·  leakage-free evaluation protocols  ·  EEGNet &amp; DCPM baselines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04  WORK COMPLETED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Data Pipeline and Baseline Benchmarks</a:t>
            </a:r>
            <a:endParaRPr lang="en-US" sz="3000" dirty="0"/>
          </a:p>
        </p:txBody>
      </p:sp>
      <p:sp>
        <p:nvSpPr>
          <p:cNvPr id="4" name="Data stat 0"/>
          <p:cNvSpPr/>
          <p:nvPr/>
        </p:nvSpPr>
        <p:spPr>
          <a:xfrm>
            <a:off x="548640" y="15087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EEF3F3"/>
          </a:solidFill>
          <a:ln/>
        </p:spPr>
      </p:sp>
      <p:sp>
        <p:nvSpPr>
          <p:cNvPr id="5" name="Data stat value 0"/>
          <p:cNvSpPr txBox="1"/>
          <p:nvPr/>
        </p:nvSpPr>
        <p:spPr>
          <a:xfrm>
            <a:off x="731520" y="161848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80,640</a:t>
            </a:r>
            <a:endParaRPr lang="en-US" sz="3000" dirty="0"/>
          </a:p>
        </p:txBody>
      </p:sp>
      <p:sp>
        <p:nvSpPr>
          <p:cNvPr id="6" name="Data stat label 0"/>
          <p:cNvSpPr txBox="1"/>
          <p:nvPr/>
        </p:nvSpPr>
        <p:spPr>
          <a:xfrm>
            <a:off x="731520" y="213055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single trials (28 × 6 × 480)</a:t>
            </a:r>
            <a:endParaRPr lang="en-US" sz="1200" dirty="0"/>
          </a:p>
        </p:txBody>
      </p:sp>
      <p:sp>
        <p:nvSpPr>
          <p:cNvPr id="7" name="Data stat 1"/>
          <p:cNvSpPr/>
          <p:nvPr/>
        </p:nvSpPr>
        <p:spPr>
          <a:xfrm>
            <a:off x="2651760" y="15087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EEF3F3"/>
          </a:solidFill>
          <a:ln/>
        </p:spPr>
      </p:sp>
      <p:sp>
        <p:nvSpPr>
          <p:cNvPr id="8" name="Data stat value 1"/>
          <p:cNvSpPr txBox="1"/>
          <p:nvPr/>
        </p:nvSpPr>
        <p:spPr>
          <a:xfrm>
            <a:off x="2834640" y="161848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3000" dirty="0"/>
          </a:p>
        </p:txBody>
      </p:sp>
      <p:sp>
        <p:nvSpPr>
          <p:cNvPr id="9" name="Data stat label 1"/>
          <p:cNvSpPr txBox="1"/>
          <p:nvPr/>
        </p:nvSpPr>
        <p:spPr>
          <a:xfrm>
            <a:off x="2834640" y="213055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parieto-occipital channels</a:t>
            </a:r>
            <a:endParaRPr lang="en-US" sz="1200" dirty="0"/>
          </a:p>
        </p:txBody>
      </p:sp>
      <p:sp>
        <p:nvSpPr>
          <p:cNvPr id="10" name="Data stat 2"/>
          <p:cNvSpPr/>
          <p:nvPr/>
        </p:nvSpPr>
        <p:spPr>
          <a:xfrm>
            <a:off x="548640" y="283464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EEF3F3"/>
          </a:solidFill>
          <a:ln/>
        </p:spPr>
      </p:sp>
      <p:sp>
        <p:nvSpPr>
          <p:cNvPr id="11" name="Data stat value 2"/>
          <p:cNvSpPr txBox="1"/>
          <p:nvPr/>
        </p:nvSpPr>
        <p:spPr>
          <a:xfrm>
            <a:off x="731520" y="294436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Data stat label 2"/>
          <p:cNvSpPr txBox="1"/>
          <p:nvPr/>
        </p:nvSpPr>
        <p:spPr>
          <a:xfrm>
            <a:off x="731520" y="345643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leakage-free protocols</a:t>
            </a:r>
            <a:endParaRPr lang="en-US" sz="1200" dirty="0"/>
          </a:p>
        </p:txBody>
      </p:sp>
      <p:sp>
        <p:nvSpPr>
          <p:cNvPr id="13" name="Data stat 3"/>
          <p:cNvSpPr/>
          <p:nvPr/>
        </p:nvSpPr>
        <p:spPr>
          <a:xfrm>
            <a:off x="2651760" y="283464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EEF3F3"/>
          </a:solidFill>
          <a:ln/>
        </p:spPr>
      </p:sp>
      <p:sp>
        <p:nvSpPr>
          <p:cNvPr id="14" name="Data stat value 3"/>
          <p:cNvSpPr txBox="1"/>
          <p:nvPr/>
        </p:nvSpPr>
        <p:spPr>
          <a:xfrm>
            <a:off x="2834640" y="294436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Data stat label 3"/>
          <p:cNvSpPr txBox="1"/>
          <p:nvPr/>
        </p:nvSpPr>
        <p:spPr>
          <a:xfrm>
            <a:off x="2834640" y="345643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baselines: EEGNet, DCPM</a:t>
            </a:r>
            <a:endParaRPr lang="en-US" sz="1200" dirty="0"/>
          </a:p>
        </p:txBody>
      </p:sp>
      <p:pic>
        <p:nvPicPr>
          <p:cNvPr id="16" name="Check icon 0" descr="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261104"/>
            <a:ext cx="274320" cy="274320"/>
          </a:xfrm>
          <a:prstGeom prst="rect">
            <a:avLst/>
          </a:prstGeom>
        </p:spPr>
      </p:pic>
      <p:sp>
        <p:nvSpPr>
          <p:cNvPr id="17" name="Check text 0"/>
          <p:cNvSpPr txBox="1"/>
          <p:nvPr/>
        </p:nvSpPr>
        <p:spPr>
          <a:xfrm>
            <a:off x="932688" y="42245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Event parsing and codebook verified</a:t>
            </a:r>
            <a:endParaRPr lang="en-US" sz="1400" dirty="0"/>
          </a:p>
        </p:txBody>
      </p:sp>
      <p:pic>
        <p:nvPicPr>
          <p:cNvPr id="18" name="Check icon 1" descr="D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18304"/>
            <a:ext cx="274320" cy="274320"/>
          </a:xfrm>
          <a:prstGeom prst="rect">
            <a:avLst/>
          </a:prstGeom>
        </p:spPr>
      </p:pic>
      <p:sp>
        <p:nvSpPr>
          <p:cNvPr id="19" name="Check text 1"/>
          <p:cNvSpPr txBox="1"/>
          <p:nvPr/>
        </p:nvSpPr>
        <p:spPr>
          <a:xfrm>
            <a:off x="932688" y="46817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Preprocessing reproducible bit-for-bit</a:t>
            </a:r>
            <a:endParaRPr lang="en-US" sz="1400" dirty="0"/>
          </a:p>
        </p:txBody>
      </p:sp>
      <p:pic>
        <p:nvPicPr>
          <p:cNvPr id="20" name="Check icon 2" descr="D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175504"/>
            <a:ext cx="274320" cy="274320"/>
          </a:xfrm>
          <a:prstGeom prst="rect">
            <a:avLst/>
          </a:prstGeom>
        </p:spPr>
      </p:pic>
      <p:sp>
        <p:nvSpPr>
          <p:cNvPr id="21" name="Check text 2"/>
          <p:cNvSpPr txBox="1"/>
          <p:nvPr/>
        </p:nvSpPr>
        <p:spPr>
          <a:xfrm>
            <a:off x="932688" y="51389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Whole sessions / subjects held out</a:t>
            </a:r>
            <a:endParaRPr lang="en-US" sz="1400" dirty="0"/>
          </a:p>
        </p:txBody>
      </p:sp>
      <p:graphicFrame>
        <p:nvGraphicFramePr>
          <p:cNvPr id="22" name="Baseline chart" descr=""/>
          <p:cNvGraphicFramePr/>
          <p:nvPr/>
        </p:nvGraphicFramePr>
        <p:xfrm>
          <a:off x="4892040" y="1463040"/>
          <a:ext cx="6751015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3" name="Baseline takeaway bg"/>
          <p:cNvSpPr/>
          <p:nvPr/>
        </p:nvSpPr>
        <p:spPr>
          <a:xfrm>
            <a:off x="4892040" y="5440680"/>
            <a:ext cx="6751015" cy="685800"/>
          </a:xfrm>
          <a:prstGeom prst="roundRect">
            <a:avLst>
              <a:gd name="adj" fmla="val 10667"/>
            </a:avLst>
          </a:prstGeom>
          <a:solidFill>
            <a:srgbClr val="12343B"/>
          </a:solidFill>
          <a:ln/>
        </p:spPr>
      </p:sp>
      <p:sp>
        <p:nvSpPr>
          <p:cNvPr id="24" name="Baseline takeaway"/>
          <p:cNvSpPr txBox="1"/>
          <p:nvPr/>
        </p:nvSpPr>
        <p:spPr>
          <a:xfrm>
            <a:off x="5166360" y="5440680"/>
            <a:ext cx="6202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Takeaway 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EEGNet reaches 74% within subjects but drops 12 points across subjects: room for Ch. 1 and Ch. 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-term Defense">
  <a:themeElements>
    <a:clrScheme name="Mid-term Defense">
      <a:dk1>
        <a:srgbClr val="1B2B30"/>
      </a:dk1>
      <a:lt1>
        <a:srgbClr val="FFFFFF"/>
      </a:lt1>
      <a:dk2>
        <a:srgbClr val="12343B"/>
      </a:dk2>
      <a:lt2>
        <a:srgbClr val="EEF3F3"/>
      </a:lt2>
      <a:accent1>
        <a:srgbClr val="2E6F73"/>
      </a:accent1>
      <a:accent2>
        <a:srgbClr val="C8553D"/>
      </a:accent2>
      <a:accent3>
        <a:srgbClr val="8AA6A3"/>
      </a:accent3>
      <a:accent4>
        <a:srgbClr val="D9A441"/>
      </a:accent4>
      <a:accent5>
        <a:srgbClr val="5B6770"/>
      </a:accent5>
      <a:accent6>
        <a:srgbClr val="A3C4BC"/>
      </a:accent6>
      <a:hlink>
        <a:srgbClr val="2E6F73"/>
      </a:hlink>
      <a:folHlink>
        <a:srgbClr val="5B6770"/>
      </a:folHlink>
    </a:clrScheme>
    <a:fontScheme name="Mid-term Defens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Mid-term Thesis Defense</dc:title>
  <dc:subject>PptxGenJS Presentation</dc:subject>
  <dc:creator>PptxGenJS</dc:creator>
  <cp:lastModifiedBy>PptxGenJS</cp:lastModifiedBy>
  <cp:revision>1</cp:revision>
  <dcterms:created xsi:type="dcterms:W3CDTF">2026-10-27T01:59:31Z</dcterms:created>
  <dcterms:modified xsi:type="dcterms:W3CDTF">2026-10-27T01:59:31Z</dcterms:modified>
</cp:coreProperties>
</file>