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5d7688c-8546-dda1-13e8-6165857311df}">
          <p14:sldIdLst>
            <p14:sldId id="256"/>
          </p14:sldIdLst>
        </p14:section>
        <p14:section name="Research Background and Objectives" id="{e7b14f48-b1d4-0763-28a7-e3ebd2b996a3}">
          <p14:sldIdLst>
            <p14:sldId id="257"/>
            <p14:sldId id="258"/>
            <p14:sldId id="259"/>
            <p14:sldId id="260"/>
          </p14:sldIdLst>
        </p14:section>
        <p14:section name="Research Progress and Stage Achievements" id="{aca0614d-fb59-aacf-390f-b7eee02e8687}">
          <p14:sldIdLst>
            <p14:sldId id="261"/>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Greet the committee and state the thesis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 Four parts: background and objectives, progress, next-stage plan,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Traditional visual BCIs use large stimuli: SSVEP needs big flickering targets, the P300 speller a flashing symbol matrix. Both cover most of the view, so the user cannot watch the robot or the road. aVEP uses tiny stimuli beside each command: a left→right pair is code 0, right→left code 1. The scene stays visible, which is what device control needs; this is the goal of Chapter 3. The cost is a very weak signal, shown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Left: grey lines are real single trials; red and blue are the class averages, black dashed their difference. Single trials swing by about ten microvolts, the class difference is about one, so a single trial carries very little of the signal. Responses to neighbouring pairs also overlap, since pairs come every 200 ms. Right: four real subjects. Sub18 follows the mirror rule, Sub22 peaks early, Sub17 is inverted, Sub05 barely responds. Across 28 subjects r ranges from −0.65 to 0.86 and the peak from 150 to 300 ms, so a model trained on some subjects transfers poorly to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The observations give two decoding problems, and the thesis adds an application: Chapter 1 targets single-trial SNR, Chapter 2 cross-subject variability, Chapter 3 the online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Completed so far: a verified, reproducible preprocessing pipeline and three leakage-free protocols. EEGNet is the stronger baseline: 74.4 % within subjects but 62.3 % across subjects, about 12 points lower. Chapter 1 targets single-trial accuracy, Chapter 2 the cross-subject 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s. Training only: a teacher EEGNet learns from k-trial averages, which have much higher SNR. The student sees single trials. Besides the label loss, a linear decoder reconstructs the ERP and is trained against the average of the other trials in the same group; because that target never contains x, the best possible output is the expected ERP given x, i.e. only what is recoverable. The frozen teacher then classifies this reconstruction and its verdict is distilled into the student. At test time only the EEGNet remains. Expected: higher within-subject accuracy than the 74.4 % baseline; naive distillation from averages should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s. Subjects differ in how symmetric and how fast their response is, so one model does not fit all. The trial is split by the mirror operator into an antisymmetric, lateralized part and a symmetric part. After a shared temporal convolution, three expert families process them: mirror-equivariant experts for strong lateralizers, hemisphere-dominant experts for asymmetric responders, and symmetric experts for the shared response; each has early, middle and late latency variants. A small router reads interpretable descriptors of the trial and weights the experts. Test: leave-one-subject-out without target data. Expected: above the 62.3 % EEGNet LOSO baseline, with router choices that agree with each subject's measured symmetry and latency.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274320"/>
            <a:ext cx="2377440" cy="731520"/>
          </a:xfrm>
          <a:prstGeom prst="rect">
            <a:avLst/>
          </a:prstGeom>
          <a:solidFill>
            <a:srgbClr val="FFFFFF"/>
          </a:solidFill>
          <a:ln w="9525">
            <a:solidFill>
              <a:srgbClr val="BFBFBF"/>
            </a:solidFill>
            <a:prstDash val="dash"/>
          </a:ln>
        </p:spPr>
      </p:sp>
      <p:sp>
        <p:nvSpPr>
          <p:cNvPr id="3" name="Text 1"/>
          <p:cNvSpPr/>
          <p:nvPr/>
        </p:nvSpPr>
        <p:spPr>
          <a:xfrm>
            <a:off x="9464040" y="274320"/>
            <a:ext cx="2377440" cy="731520"/>
          </a:xfrm>
          <a:prstGeom prst="rect">
            <a:avLst/>
          </a:prstGeom>
          <a:noFill/>
          <a:ln/>
        </p:spPr>
        <p:txBody>
          <a:bodyPr wrap="square" rtlCol="0" anchor="ctr"/>
          <a:lstStyle/>
          <a:p>
            <a:pPr algn="ctr" indent="0" marL="0">
              <a:buNone/>
            </a:pPr>
            <a:r>
              <a:rPr lang="en-US" sz="1200" dirty="0">
                <a:solidFill>
                  <a:schemeClr val="accent3"/>
                </a:solidFill>
              </a:rPr>
              <a:t>[University logo]</a:t>
            </a:r>
            <a:endParaRPr lang="en-US" sz="1200" dirty="0"/>
          </a:p>
        </p:txBody>
      </p:sp>
      <p:sp>
        <p:nvSpPr>
          <p:cNvPr id="4" name="Shape 2"/>
          <p:cNvSpPr/>
          <p:nvPr/>
        </p:nvSpPr>
        <p:spPr>
          <a:xfrm>
            <a:off x="0" y="6784848"/>
            <a:ext cx="12191695" cy="73152"/>
          </a:xfrm>
          <a:prstGeom prst="rect">
            <a:avLst/>
          </a:prstGeom>
          <a:solidFill>
            <a:srgbClr val="A00000"/>
          </a:solidFill>
          <a:ln/>
        </p:spPr>
      </p:sp>
      <p:sp>
        <p:nvSpPr>
          <p:cNvPr id="5" name="Text 3"/>
          <p:cNvSpPr/>
          <p:nvPr>
            <p:ph idx="103" type="title" hasCustomPrompt="1"/>
          </p:nvPr>
        </p:nvSpPr>
        <p:spPr>
          <a:xfrm>
            <a:off x="822960" y="1645920"/>
            <a:ext cx="10515600" cy="1828800"/>
          </a:xfrm>
          <a:prstGeom prst="rect">
            <a:avLst/>
          </a:prstGeom>
          <a:noFill/>
          <a:ln/>
        </p:spPr>
        <p:txBody>
          <a:bodyPr wrap="square" rtlCol="0"/>
          <a:lstStyle>
            <a:lvl1pPr algn="ctr" indent="0" marL="0">
              <a:buNone/>
              <a:defRPr lang="en-US" sz="3600" b="1" dirty="0">
                <a:solidFill>
                  <a:schemeClr val="accent1"/>
                </a:solidFill>
              </a:defRPr>
            </a:lvl1pPr>
          </a:lstStyle>
          <a:p>
            <a:pPr algn="ctr" indent="0" marL="0">
              <a:buNone/>
            </a:pPr>
            <a:endParaRPr lang="en-US" sz="3600" dirty="0"/>
          </a:p>
        </p:txBody>
      </p:sp>
      <p:sp>
        <p:nvSpPr>
          <p:cNvPr id="6" name="Text 3"/>
          <p:cNvSpPr/>
          <p:nvPr>
            <p:ph idx="104" type="body" hasCustomPrompt="1"/>
          </p:nvPr>
        </p:nvSpPr>
        <p:spPr>
          <a:xfrm>
            <a:off x="2286000" y="4160520"/>
            <a:ext cx="7589520" cy="1463040"/>
          </a:xfrm>
          <a:prstGeom prst="rect">
            <a:avLst/>
          </a:prstGeom>
          <a:noFill/>
          <a:ln/>
        </p:spPr>
        <p:txBody>
          <a:bodyPr wrap="square" rtlCol="0"/>
          <a:lstStyle>
            <a:lvl1pPr algn="ctr" indent="0" marL="0">
              <a:buNone/>
              <a:defRPr lang="en-US" sz="2000" dirty="0">
                <a:solidFill>
                  <a:schemeClr val="tx1"/>
                </a:solidFill>
              </a:defRPr>
            </a:lvl1pPr>
          </a:lstStyle>
          <a:p>
            <a:pPr algn="ct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UTLIN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274320"/>
            <a:ext cx="2377440" cy="731520"/>
          </a:xfrm>
          <a:prstGeom prst="rect">
            <a:avLst/>
          </a:prstGeom>
          <a:solidFill>
            <a:srgbClr val="FFFFFF"/>
          </a:solidFill>
          <a:ln w="9525">
            <a:solidFill>
              <a:srgbClr val="BFBFBF"/>
            </a:solidFill>
            <a:prstDash val="dash"/>
          </a:ln>
        </p:spPr>
      </p:sp>
      <p:sp>
        <p:nvSpPr>
          <p:cNvPr id="3" name="Text 1"/>
          <p:cNvSpPr/>
          <p:nvPr/>
        </p:nvSpPr>
        <p:spPr>
          <a:xfrm>
            <a:off x="9464040" y="274320"/>
            <a:ext cx="2377440" cy="731520"/>
          </a:xfrm>
          <a:prstGeom prst="rect">
            <a:avLst/>
          </a:prstGeom>
          <a:noFill/>
          <a:ln/>
        </p:spPr>
        <p:txBody>
          <a:bodyPr wrap="square" rtlCol="0" anchor="ctr"/>
          <a:lstStyle/>
          <a:p>
            <a:pPr algn="ctr" indent="0" marL="0">
              <a:buNone/>
            </a:pPr>
            <a:r>
              <a:rPr lang="en-US" sz="1200" dirty="0">
                <a:solidFill>
                  <a:schemeClr val="accent3"/>
                </a:solidFill>
              </a:rPr>
              <a:t>[University logo]</a:t>
            </a:r>
            <a:endParaRPr lang="en-US" sz="1200" dirty="0"/>
          </a:p>
        </p:txBody>
      </p:sp>
      <p:sp>
        <p:nvSpPr>
          <p:cNvPr id="4" name="Shape 2"/>
          <p:cNvSpPr/>
          <p:nvPr/>
        </p:nvSpPr>
        <p:spPr>
          <a:xfrm>
            <a:off x="0" y="6784848"/>
            <a:ext cx="12191695" cy="73152"/>
          </a:xfrm>
          <a:prstGeom prst="rect">
            <a:avLst/>
          </a:prstGeom>
          <a:solidFill>
            <a:srgbClr val="A00000"/>
          </a:solidFill>
          <a:ln/>
        </p:spPr>
      </p:sp>
      <p:sp>
        <p:nvSpPr>
          <p:cNvPr id="5" name="Shape 3"/>
          <p:cNvSpPr/>
          <p:nvPr/>
        </p:nvSpPr>
        <p:spPr>
          <a:xfrm>
            <a:off x="0" y="0"/>
            <a:ext cx="3749040" cy="6784848"/>
          </a:xfrm>
          <a:prstGeom prst="rect">
            <a:avLst/>
          </a:prstGeom>
          <a:solidFill>
            <a:srgbClr val="A00000"/>
          </a:solidFill>
          <a:ln/>
        </p:spPr>
      </p:sp>
      <p:sp>
        <p:nvSpPr>
          <p:cNvPr id="6" name="Text 4"/>
          <p:cNvSpPr/>
          <p:nvPr/>
        </p:nvSpPr>
        <p:spPr>
          <a:xfrm>
            <a:off x="274320" y="2743200"/>
            <a:ext cx="3200400" cy="914400"/>
          </a:xfrm>
          <a:prstGeom prst="rect">
            <a:avLst/>
          </a:prstGeom>
          <a:noFill/>
          <a:ln/>
        </p:spPr>
        <p:txBody>
          <a:bodyPr wrap="square" rtlCol="0" anchor="ctr"/>
          <a:lstStyle/>
          <a:p>
            <a:pPr algn="ctr" indent="0" marL="0">
              <a:buNone/>
            </a:pPr>
            <a:r>
              <a:rPr lang="en-US" sz="4000" b="1" dirty="0">
                <a:solidFill>
                  <a:schemeClr val="bg1"/>
                </a:solidFill>
              </a:rPr>
              <a:t>Outline</a:t>
            </a:r>
            <a:endParaRPr lang="en-US" sz="40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274320"/>
            <a:ext cx="2377440" cy="731520"/>
          </a:xfrm>
          <a:prstGeom prst="rect">
            <a:avLst/>
          </a:prstGeom>
          <a:solidFill>
            <a:srgbClr val="FFFFFF"/>
          </a:solidFill>
          <a:ln w="9525">
            <a:solidFill>
              <a:srgbClr val="BFBFBF"/>
            </a:solidFill>
            <a:prstDash val="dash"/>
          </a:ln>
        </p:spPr>
      </p:sp>
      <p:sp>
        <p:nvSpPr>
          <p:cNvPr id="3" name="Text 1"/>
          <p:cNvSpPr/>
          <p:nvPr/>
        </p:nvSpPr>
        <p:spPr>
          <a:xfrm>
            <a:off x="9464040" y="274320"/>
            <a:ext cx="2377440" cy="731520"/>
          </a:xfrm>
          <a:prstGeom prst="rect">
            <a:avLst/>
          </a:prstGeom>
          <a:noFill/>
          <a:ln/>
        </p:spPr>
        <p:txBody>
          <a:bodyPr wrap="square" rtlCol="0" anchor="ctr"/>
          <a:lstStyle/>
          <a:p>
            <a:pPr algn="ctr" indent="0" marL="0">
              <a:buNone/>
            </a:pPr>
            <a:r>
              <a:rPr lang="en-US" sz="1200" dirty="0">
                <a:solidFill>
                  <a:schemeClr val="accent3"/>
                </a:solidFill>
              </a:rPr>
              <a:t>[University logo]</a:t>
            </a:r>
            <a:endParaRPr lang="en-US" sz="1200" dirty="0"/>
          </a:p>
        </p:txBody>
      </p:sp>
      <p:sp>
        <p:nvSpPr>
          <p:cNvPr id="4" name="Shape 2"/>
          <p:cNvSpPr/>
          <p:nvPr/>
        </p:nvSpPr>
        <p:spPr>
          <a:xfrm>
            <a:off x="0" y="6784848"/>
            <a:ext cx="12191695" cy="73152"/>
          </a:xfrm>
          <a:prstGeom prst="rect">
            <a:avLst/>
          </a:prstGeom>
          <a:solidFill>
            <a:srgbClr val="A00000"/>
          </a:solidFill>
          <a:ln/>
        </p:spPr>
      </p:sp>
      <p:sp>
        <p:nvSpPr>
          <p:cNvPr id="5" name="Shape 3"/>
          <p:cNvSpPr/>
          <p:nvPr/>
        </p:nvSpPr>
        <p:spPr>
          <a:xfrm>
            <a:off x="320040" y="274320"/>
            <a:ext cx="8229600" cy="749808"/>
          </a:xfrm>
          <a:prstGeom prst="rect">
            <a:avLst/>
          </a:prstGeom>
          <a:solidFill>
            <a:srgbClr val="A00000"/>
          </a:solidFill>
          <a:ln/>
          <a:effectLst>
            <a:outerShdw sx="100000" sy="100000" kx="0" ky="0" algn="bl" rotWithShape="0" blurRad="50800" dist="25400" dir="5400000">
              <a:srgbClr val="000000">
                <a:alpha val="35000"/>
              </a:srgbClr>
            </a:outerShdw>
          </a:effectLst>
        </p:spPr>
      </p:sp>
      <p:sp>
        <p:nvSpPr>
          <p:cNvPr id="6" name="Text 4"/>
          <p:cNvSpPr/>
          <p:nvPr>
            <p:ph idx="104" type="title" hasCustomPrompt="1"/>
          </p:nvPr>
        </p:nvSpPr>
        <p:spPr>
          <a:xfrm>
            <a:off x="457200" y="274320"/>
            <a:ext cx="8001000" cy="749808"/>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p:nvPr>
            <p:ph idx="103" type="title" hasCustomPrompt="1"/>
          </p:nvPr>
        </p:nvSpPr>
        <p:spPr>
          <a:xfrm>
            <a:off x="822960" y="1645920"/>
            <a:ext cx="10515600" cy="1828800"/>
          </a:xfrm>
          <a:prstGeom prst="rect">
            <a:avLst/>
          </a:prstGeom>
          <a:noFill/>
          <a:ln/>
        </p:spPr>
        <p:txBody>
          <a:bodyPr wrap="square" lIns="0" tIns="0" rIns="0" bIns="0" rtlCol="0" anchor="ctr"/>
          <a:lstStyle/>
          <a:p>
            <a:pPr algn="ctr" indent="0" marL="0">
              <a:buNone/>
            </a:pPr>
            <a:r>
              <a:rPr lang="en-US" sz="3600" b="1" dirty="0">
                <a:solidFill>
                  <a:schemeClr val="accent1"/>
                </a:solidFill>
              </a:rPr>
              <a:t>Decoding Miniature Asymmetric Visual Evoked Potentials with EEGNet-Based Methods</a:t>
            </a:r>
            <a:endParaRPr lang="en-US" sz="3600" dirty="0"/>
          </a:p>
        </p:txBody>
      </p:sp>
      <p:sp>
        <p:nvSpPr>
          <p:cNvPr id="3" name="Text 3"/>
          <p:cNvSpPr/>
          <p:nvPr>
            <p:ph idx="104" type="body" hasCustomPrompt="1"/>
          </p:nvPr>
        </p:nvSpPr>
        <p:spPr>
          <a:xfrm>
            <a:off x="2286000" y="4160520"/>
            <a:ext cx="7589520" cy="1463040"/>
          </a:xfrm>
          <a:prstGeom prst="rect">
            <a:avLst/>
          </a:prstGeom>
          <a:noFill/>
          <a:ln/>
        </p:spPr>
        <p:txBody>
          <a:bodyPr wrap="square" lIns="0" tIns="0" rIns="0" bIns="0" rtlCol="0" anchor="t"/>
          <a:lstStyle/>
          <a:p>
            <a:pPr algn="ctr" indent="0" marL="0">
              <a:spcAft>
                <a:spcPts val="800"/>
              </a:spcAft>
              <a:buNone/>
            </a:pPr>
            <a:r>
              <a:rPr lang="en-US" sz="2000" dirty="0">
                <a:solidFill>
                  <a:schemeClr val="tx1"/>
                </a:solidFill>
              </a:rPr>
              <a:t>[Your Name]</a:t>
            </a:r>
            <a:endParaRPr lang="en-US" sz="2000" dirty="0"/>
          </a:p>
          <a:p>
            <a:pPr algn="ctr" indent="0" marL="0">
              <a:spcAft>
                <a:spcPts val="800"/>
              </a:spcAft>
              <a:buNone/>
            </a:pPr>
            <a:r>
              <a:rPr lang="en-US" sz="2000" dirty="0">
                <a:solidFill>
                  <a:schemeClr val="tx1"/>
                </a:solidFill>
              </a:rPr>
              <a:t>Supervisor: [Supervisor Name]</a:t>
            </a:r>
            <a:endParaRPr lang="en-US" sz="2000" dirty="0"/>
          </a:p>
          <a:p>
            <a:pPr algn="ctr" indent="0" marL="0">
              <a:spcAft>
                <a:spcPts val="800"/>
              </a:spcAft>
              <a:buNone/>
            </a:pPr>
            <a:r>
              <a:rPr lang="en-US" sz="2000" dirty="0">
                <a:solidFill>
                  <a:schemeClr val="tx1"/>
                </a:solidFill>
              </a:rPr>
              <a:t>[Date]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Outline list"/>
          <p:cNvSpPr txBox="1"/>
          <p:nvPr/>
        </p:nvSpPr>
        <p:spPr>
          <a:xfrm>
            <a:off x="4389120" y="1920240"/>
            <a:ext cx="7132320" cy="2926080"/>
          </a:xfrm>
          <a:prstGeom prst="rect">
            <a:avLst/>
          </a:prstGeom>
          <a:noFill/>
          <a:ln/>
        </p:spPr>
        <p:txBody>
          <a:bodyPr wrap="square" lIns="0" tIns="0" rIns="0" bIns="0" rtlCol="0" anchor="ctr"/>
          <a:lstStyle/>
          <a:p>
            <a:pPr marL="342900" indent="-342900">
              <a:spcAft>
                <a:spcPts val="1800"/>
              </a:spcAft>
              <a:buSzPct val="100000"/>
              <a:buChar char="•"/>
            </a:pPr>
            <a:r>
              <a:rPr lang="en-US" sz="2600" dirty="0">
                <a:solidFill>
                  <a:srgbClr val="A00000"/>
                </a:solidFill>
              </a:rPr>
              <a:t>Research Background and Objectives</a:t>
            </a:r>
            <a:endParaRPr lang="en-US" sz="2600" dirty="0"/>
          </a:p>
          <a:p>
            <a:pPr marL="342900" indent="-342900">
              <a:spcAft>
                <a:spcPts val="1800"/>
              </a:spcAft>
              <a:buSzPct val="100000"/>
              <a:buChar char="•"/>
            </a:pPr>
            <a:r>
              <a:rPr lang="en-US" sz="2600" dirty="0">
                <a:solidFill>
                  <a:srgbClr val="000000"/>
                </a:solidFill>
              </a:rPr>
              <a:t>Research Progress and Stage Achievements</a:t>
            </a:r>
            <a:endParaRPr lang="en-US" sz="2600" dirty="0"/>
          </a:p>
          <a:p>
            <a:pPr marL="342900" indent="-342900">
              <a:spcAft>
                <a:spcPts val="1800"/>
              </a:spcAft>
              <a:buSzPct val="100000"/>
              <a:buChar char="•"/>
            </a:pPr>
            <a:r>
              <a:rPr lang="en-US" sz="2600" dirty="0">
                <a:solidFill>
                  <a:srgbClr val="000000"/>
                </a:solidFill>
              </a:rPr>
              <a:t>Next-stage Research Plan</a:t>
            </a:r>
            <a:endParaRPr lang="en-US" sz="2600" dirty="0"/>
          </a:p>
          <a:p>
            <a:pPr marL="342900" indent="-342900">
              <a:spcAft>
                <a:spcPts val="1800"/>
              </a:spcAft>
              <a:buSzPct val="100000"/>
              <a:buChar char="•"/>
            </a:pPr>
            <a:r>
              <a:rPr lang="en-US" sz="2600" dirty="0">
                <a:solidFill>
                  <a:srgbClr val="000000"/>
                </a:solidFill>
              </a:rPr>
              <a:t>Project Schedule</a:t>
            </a:r>
            <a:endParaRPr lang="en-US" sz="26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1 Research Background and Objectives</a:t>
            </a:r>
            <a:endParaRPr lang="en-US" sz="2800" dirty="0"/>
          </a:p>
        </p:txBody>
      </p:sp>
      <p:sp>
        <p:nvSpPr>
          <p:cNvPr id="3" name="Panel 0 head"/>
          <p:cNvSpPr txBox="1"/>
          <p:nvPr/>
        </p:nvSpPr>
        <p:spPr>
          <a:xfrm>
            <a:off x="502920" y="1161288"/>
            <a:ext cx="3611880" cy="365760"/>
          </a:xfrm>
          <a:prstGeom prst="rect">
            <a:avLst/>
          </a:prstGeom>
          <a:noFill/>
          <a:ln/>
        </p:spPr>
        <p:txBody>
          <a:bodyPr wrap="square" lIns="0" tIns="0" rIns="0" bIns="0" rtlCol="0" anchor="ctr"/>
          <a:lstStyle/>
          <a:p>
            <a:pPr algn="ctr" indent="0" marL="0">
              <a:buNone/>
            </a:pPr>
            <a:r>
              <a:rPr lang="en-US" sz="1600" b="1" dirty="0">
                <a:solidFill>
                  <a:schemeClr val="tx1"/>
                </a:solidFill>
              </a:rPr>
              <a:t>(a) SSVEP [1]</a:t>
            </a:r>
            <a:endParaRPr lang="en-US" sz="1600" dirty="0"/>
          </a:p>
        </p:txBody>
      </p:sp>
      <p:pic>
        <p:nvPicPr>
          <p:cNvPr id="4" name="Panel 0 scene" descr="Schematic workspace: robotic arm and objects on a table">    </p:cNvPr>
          <p:cNvPicPr>
            <a:picLocks noChangeAspect="1"/>
          </p:cNvPicPr>
          <p:nvPr/>
        </p:nvPicPr>
        <p:blipFill>
          <a:blip r:embed="rId1"/>
          <a:stretch>
            <a:fillRect/>
          </a:stretch>
        </p:blipFill>
        <p:spPr>
          <a:xfrm>
            <a:off x="502920" y="1572768"/>
            <a:ext cx="3611880" cy="2258568"/>
          </a:xfrm>
          <a:prstGeom prst="rect">
            <a:avLst/>
          </a:prstGeom>
        </p:spPr>
      </p:pic>
      <p:sp>
        <p:nvSpPr>
          <p:cNvPr id="5" name="Panel 1 head"/>
          <p:cNvSpPr txBox="1"/>
          <p:nvPr/>
        </p:nvSpPr>
        <p:spPr>
          <a:xfrm>
            <a:off x="4297680" y="1161288"/>
            <a:ext cx="3611880" cy="365760"/>
          </a:xfrm>
          <a:prstGeom prst="rect">
            <a:avLst/>
          </a:prstGeom>
          <a:noFill/>
          <a:ln/>
        </p:spPr>
        <p:txBody>
          <a:bodyPr wrap="square" lIns="0" tIns="0" rIns="0" bIns="0" rtlCol="0" anchor="ctr"/>
          <a:lstStyle/>
          <a:p>
            <a:pPr algn="ctr" indent="0" marL="0">
              <a:buNone/>
            </a:pPr>
            <a:r>
              <a:rPr lang="en-US" sz="1600" b="1" dirty="0">
                <a:solidFill>
                  <a:schemeClr val="tx1"/>
                </a:solidFill>
              </a:rPr>
              <a:t>(b) Oddball (P300) [2]</a:t>
            </a:r>
            <a:endParaRPr lang="en-US" sz="1600" dirty="0"/>
          </a:p>
        </p:txBody>
      </p:sp>
      <p:pic>
        <p:nvPicPr>
          <p:cNvPr id="6" name="Panel 1 scene" descr="Schematic workspace: robotic arm and objects on a table">    </p:cNvPr>
          <p:cNvPicPr>
            <a:picLocks noChangeAspect="1"/>
          </p:cNvPicPr>
          <p:nvPr/>
        </p:nvPicPr>
        <p:blipFill>
          <a:blip r:embed="rId2"/>
          <a:stretch>
            <a:fillRect/>
          </a:stretch>
        </p:blipFill>
        <p:spPr>
          <a:xfrm>
            <a:off x="4297680" y="1572768"/>
            <a:ext cx="3611880" cy="2258568"/>
          </a:xfrm>
          <a:prstGeom prst="rect">
            <a:avLst/>
          </a:prstGeom>
        </p:spPr>
      </p:pic>
      <p:sp>
        <p:nvSpPr>
          <p:cNvPr id="7" name="Panel 2 head"/>
          <p:cNvSpPr txBox="1"/>
          <p:nvPr/>
        </p:nvSpPr>
        <p:spPr>
          <a:xfrm>
            <a:off x="8092440" y="1161288"/>
            <a:ext cx="3611880" cy="365760"/>
          </a:xfrm>
          <a:prstGeom prst="rect">
            <a:avLst/>
          </a:prstGeom>
          <a:noFill/>
          <a:ln/>
        </p:spPr>
        <p:txBody>
          <a:bodyPr wrap="square" lIns="0" tIns="0" rIns="0" bIns="0" rtlCol="0" anchor="ctr"/>
          <a:lstStyle/>
          <a:p>
            <a:pPr algn="ctr" indent="0" marL="0">
              <a:buNone/>
            </a:pPr>
            <a:r>
              <a:rPr lang="en-US" sz="1600" b="1" dirty="0">
                <a:solidFill>
                  <a:schemeClr val="tx1"/>
                </a:solidFill>
              </a:rPr>
              <a:t>(c) aVEP [3]</a:t>
            </a:r>
            <a:endParaRPr lang="en-US" sz="1600" dirty="0"/>
          </a:p>
        </p:txBody>
      </p:sp>
      <p:pic>
        <p:nvPicPr>
          <p:cNvPr id="8" name="Panel 2 scene" descr="Schematic workspace: robotic arm and objects on a table">    </p:cNvPr>
          <p:cNvPicPr>
            <a:picLocks noChangeAspect="1"/>
          </p:cNvPicPr>
          <p:nvPr/>
        </p:nvPicPr>
        <p:blipFill>
          <a:blip r:embed="rId3"/>
          <a:stretch>
            <a:fillRect/>
          </a:stretch>
        </p:blipFill>
        <p:spPr>
          <a:xfrm>
            <a:off x="8092440" y="1572768"/>
            <a:ext cx="3611880" cy="2258568"/>
          </a:xfrm>
          <a:prstGeom prst="rect">
            <a:avLst/>
          </a:prstGeom>
        </p:spPr>
      </p:pic>
      <p:sp>
        <p:nvSpPr>
          <p:cNvPr id="9" name="SSVEP target 0"/>
          <p:cNvSpPr/>
          <p:nvPr/>
        </p:nvSpPr>
        <p:spPr>
          <a:xfrm>
            <a:off x="698602" y="1753362"/>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8.0 Hz</a:t>
            </a:r>
            <a:endParaRPr lang="en-US" sz="1100" dirty="0"/>
          </a:p>
        </p:txBody>
      </p:sp>
      <p:sp>
        <p:nvSpPr>
          <p:cNvPr id="10" name="SSVEP target 1"/>
          <p:cNvSpPr/>
          <p:nvPr/>
        </p:nvSpPr>
        <p:spPr>
          <a:xfrm>
            <a:off x="1552651" y="1753362"/>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8.5 Hz</a:t>
            </a:r>
            <a:endParaRPr lang="en-US" sz="1100" dirty="0"/>
          </a:p>
        </p:txBody>
      </p:sp>
      <p:sp>
        <p:nvSpPr>
          <p:cNvPr id="11" name="SSVEP target 2"/>
          <p:cNvSpPr/>
          <p:nvPr/>
        </p:nvSpPr>
        <p:spPr>
          <a:xfrm>
            <a:off x="2406701" y="1753362"/>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9.0 Hz</a:t>
            </a:r>
            <a:endParaRPr lang="en-US" sz="1100" dirty="0"/>
          </a:p>
        </p:txBody>
      </p:sp>
      <p:sp>
        <p:nvSpPr>
          <p:cNvPr id="12" name="SSVEP target 3"/>
          <p:cNvSpPr/>
          <p:nvPr/>
        </p:nvSpPr>
        <p:spPr>
          <a:xfrm>
            <a:off x="3260750" y="1753362"/>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9.5 Hz</a:t>
            </a:r>
            <a:endParaRPr lang="en-US" sz="1100" dirty="0"/>
          </a:p>
        </p:txBody>
      </p:sp>
      <p:sp>
        <p:nvSpPr>
          <p:cNvPr id="13" name="SSVEP target 4"/>
          <p:cNvSpPr/>
          <p:nvPr/>
        </p:nvSpPr>
        <p:spPr>
          <a:xfrm>
            <a:off x="698602" y="2446020"/>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10.0 Hz</a:t>
            </a:r>
            <a:endParaRPr lang="en-US" sz="1100" dirty="0"/>
          </a:p>
        </p:txBody>
      </p:sp>
      <p:sp>
        <p:nvSpPr>
          <p:cNvPr id="14" name="SSVEP target 5"/>
          <p:cNvSpPr/>
          <p:nvPr/>
        </p:nvSpPr>
        <p:spPr>
          <a:xfrm>
            <a:off x="1552651" y="2446020"/>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10.5 Hz</a:t>
            </a:r>
            <a:endParaRPr lang="en-US" sz="1100" dirty="0"/>
          </a:p>
        </p:txBody>
      </p:sp>
      <p:sp>
        <p:nvSpPr>
          <p:cNvPr id="15" name="SSVEP target 6"/>
          <p:cNvSpPr/>
          <p:nvPr/>
        </p:nvSpPr>
        <p:spPr>
          <a:xfrm>
            <a:off x="2406701" y="2446020"/>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11.0 Hz</a:t>
            </a:r>
            <a:endParaRPr lang="en-US" sz="1100" dirty="0"/>
          </a:p>
        </p:txBody>
      </p:sp>
      <p:sp>
        <p:nvSpPr>
          <p:cNvPr id="16" name="SSVEP target 7"/>
          <p:cNvSpPr/>
          <p:nvPr/>
        </p:nvSpPr>
        <p:spPr>
          <a:xfrm>
            <a:off x="3260750" y="2446020"/>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11.5 Hz</a:t>
            </a:r>
            <a:endParaRPr lang="en-US" sz="1100" dirty="0"/>
          </a:p>
        </p:txBody>
      </p:sp>
      <p:sp>
        <p:nvSpPr>
          <p:cNvPr id="17" name="SSVEP target 8"/>
          <p:cNvSpPr/>
          <p:nvPr/>
        </p:nvSpPr>
        <p:spPr>
          <a:xfrm>
            <a:off x="698602" y="3138678"/>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12.0 Hz</a:t>
            </a:r>
            <a:endParaRPr lang="en-US" sz="1100" dirty="0"/>
          </a:p>
        </p:txBody>
      </p:sp>
      <p:sp>
        <p:nvSpPr>
          <p:cNvPr id="18" name="SSVEP target 9"/>
          <p:cNvSpPr/>
          <p:nvPr/>
        </p:nvSpPr>
        <p:spPr>
          <a:xfrm>
            <a:off x="1552651" y="3138678"/>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12.5 Hz</a:t>
            </a:r>
            <a:endParaRPr lang="en-US" sz="1100" dirty="0"/>
          </a:p>
        </p:txBody>
      </p:sp>
      <p:sp>
        <p:nvSpPr>
          <p:cNvPr id="19" name="SSVEP target 10"/>
          <p:cNvSpPr/>
          <p:nvPr/>
        </p:nvSpPr>
        <p:spPr>
          <a:xfrm>
            <a:off x="2406701" y="3138678"/>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13.0 Hz</a:t>
            </a:r>
            <a:endParaRPr lang="en-US" sz="1100" dirty="0"/>
          </a:p>
        </p:txBody>
      </p:sp>
      <p:sp>
        <p:nvSpPr>
          <p:cNvPr id="20" name="SSVEP target 11"/>
          <p:cNvSpPr/>
          <p:nvPr/>
        </p:nvSpPr>
        <p:spPr>
          <a:xfrm>
            <a:off x="3260750" y="3138678"/>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13.5 Hz</a:t>
            </a:r>
            <a:endParaRPr lang="en-US" sz="1100" dirty="0"/>
          </a:p>
        </p:txBody>
      </p:sp>
      <p:sp>
        <p:nvSpPr>
          <p:cNvPr id="21" name="P300 matrix bg"/>
          <p:cNvSpPr/>
          <p:nvPr/>
        </p:nvSpPr>
        <p:spPr>
          <a:xfrm>
            <a:off x="4617720" y="1682496"/>
            <a:ext cx="2971800" cy="2039112"/>
          </a:xfrm>
          <a:prstGeom prst="rect">
            <a:avLst/>
          </a:prstGeom>
          <a:solidFill>
            <a:srgbClr val="1A1A1A"/>
          </a:solidFill>
          <a:ln/>
        </p:spPr>
      </p:sp>
      <p:sp>
        <p:nvSpPr>
          <p:cNvPr id="22" name="P300 flashed row"/>
          <p:cNvSpPr/>
          <p:nvPr/>
        </p:nvSpPr>
        <p:spPr>
          <a:xfrm>
            <a:off x="4617720" y="2362200"/>
            <a:ext cx="2971800" cy="339852"/>
          </a:xfrm>
          <a:prstGeom prst="rect">
            <a:avLst/>
          </a:prstGeom>
          <a:solidFill>
            <a:srgbClr val="595959"/>
          </a:solidFill>
          <a:ln/>
        </p:spPr>
      </p:sp>
      <p:sp>
        <p:nvSpPr>
          <p:cNvPr id="23" name="P300 cell 0"/>
          <p:cNvSpPr txBox="1"/>
          <p:nvPr/>
        </p:nvSpPr>
        <p:spPr>
          <a:xfrm>
            <a:off x="46177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A</a:t>
            </a:r>
            <a:endParaRPr lang="en-US" sz="1300" dirty="0"/>
          </a:p>
        </p:txBody>
      </p:sp>
      <p:sp>
        <p:nvSpPr>
          <p:cNvPr id="24" name="P300 cell 1"/>
          <p:cNvSpPr txBox="1"/>
          <p:nvPr/>
        </p:nvSpPr>
        <p:spPr>
          <a:xfrm>
            <a:off x="51130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B</a:t>
            </a:r>
            <a:endParaRPr lang="en-US" sz="1300" dirty="0"/>
          </a:p>
        </p:txBody>
      </p:sp>
      <p:sp>
        <p:nvSpPr>
          <p:cNvPr id="25" name="P300 cell 2"/>
          <p:cNvSpPr txBox="1"/>
          <p:nvPr/>
        </p:nvSpPr>
        <p:spPr>
          <a:xfrm>
            <a:off x="56083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C</a:t>
            </a:r>
            <a:endParaRPr lang="en-US" sz="1300" dirty="0"/>
          </a:p>
        </p:txBody>
      </p:sp>
      <p:sp>
        <p:nvSpPr>
          <p:cNvPr id="26" name="P300 cell 3"/>
          <p:cNvSpPr txBox="1"/>
          <p:nvPr/>
        </p:nvSpPr>
        <p:spPr>
          <a:xfrm>
            <a:off x="61036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D</a:t>
            </a:r>
            <a:endParaRPr lang="en-US" sz="1300" dirty="0"/>
          </a:p>
        </p:txBody>
      </p:sp>
      <p:sp>
        <p:nvSpPr>
          <p:cNvPr id="27" name="P300 cell 4"/>
          <p:cNvSpPr txBox="1"/>
          <p:nvPr/>
        </p:nvSpPr>
        <p:spPr>
          <a:xfrm>
            <a:off x="65989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E</a:t>
            </a:r>
            <a:endParaRPr lang="en-US" sz="1300" dirty="0"/>
          </a:p>
        </p:txBody>
      </p:sp>
      <p:sp>
        <p:nvSpPr>
          <p:cNvPr id="28" name="P300 cell 5"/>
          <p:cNvSpPr txBox="1"/>
          <p:nvPr/>
        </p:nvSpPr>
        <p:spPr>
          <a:xfrm>
            <a:off x="70942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F</a:t>
            </a:r>
            <a:endParaRPr lang="en-US" sz="1300" dirty="0"/>
          </a:p>
        </p:txBody>
      </p:sp>
      <p:sp>
        <p:nvSpPr>
          <p:cNvPr id="29" name="P300 cell 6"/>
          <p:cNvSpPr txBox="1"/>
          <p:nvPr/>
        </p:nvSpPr>
        <p:spPr>
          <a:xfrm>
            <a:off x="46177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G</a:t>
            </a:r>
            <a:endParaRPr lang="en-US" sz="1300" dirty="0"/>
          </a:p>
        </p:txBody>
      </p:sp>
      <p:sp>
        <p:nvSpPr>
          <p:cNvPr id="30" name="P300 cell 7"/>
          <p:cNvSpPr txBox="1"/>
          <p:nvPr/>
        </p:nvSpPr>
        <p:spPr>
          <a:xfrm>
            <a:off x="51130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H</a:t>
            </a:r>
            <a:endParaRPr lang="en-US" sz="1300" dirty="0"/>
          </a:p>
        </p:txBody>
      </p:sp>
      <p:sp>
        <p:nvSpPr>
          <p:cNvPr id="31" name="P300 cell 8"/>
          <p:cNvSpPr txBox="1"/>
          <p:nvPr/>
        </p:nvSpPr>
        <p:spPr>
          <a:xfrm>
            <a:off x="56083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I</a:t>
            </a:r>
            <a:endParaRPr lang="en-US" sz="1300" dirty="0"/>
          </a:p>
        </p:txBody>
      </p:sp>
      <p:sp>
        <p:nvSpPr>
          <p:cNvPr id="32" name="P300 cell 9"/>
          <p:cNvSpPr txBox="1"/>
          <p:nvPr/>
        </p:nvSpPr>
        <p:spPr>
          <a:xfrm>
            <a:off x="61036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J</a:t>
            </a:r>
            <a:endParaRPr lang="en-US" sz="1300" dirty="0"/>
          </a:p>
        </p:txBody>
      </p:sp>
      <p:sp>
        <p:nvSpPr>
          <p:cNvPr id="33" name="P300 cell 10"/>
          <p:cNvSpPr txBox="1"/>
          <p:nvPr/>
        </p:nvSpPr>
        <p:spPr>
          <a:xfrm>
            <a:off x="65989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K</a:t>
            </a:r>
            <a:endParaRPr lang="en-US" sz="1300" dirty="0"/>
          </a:p>
        </p:txBody>
      </p:sp>
      <p:sp>
        <p:nvSpPr>
          <p:cNvPr id="34" name="P300 cell 11"/>
          <p:cNvSpPr txBox="1"/>
          <p:nvPr/>
        </p:nvSpPr>
        <p:spPr>
          <a:xfrm>
            <a:off x="70942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L</a:t>
            </a:r>
            <a:endParaRPr lang="en-US" sz="1300" dirty="0"/>
          </a:p>
        </p:txBody>
      </p:sp>
      <p:sp>
        <p:nvSpPr>
          <p:cNvPr id="35" name="P300 cell 12"/>
          <p:cNvSpPr txBox="1"/>
          <p:nvPr/>
        </p:nvSpPr>
        <p:spPr>
          <a:xfrm>
            <a:off x="46177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M</a:t>
            </a:r>
            <a:endParaRPr lang="en-US" sz="1300" dirty="0"/>
          </a:p>
        </p:txBody>
      </p:sp>
      <p:sp>
        <p:nvSpPr>
          <p:cNvPr id="36" name="P300 cell 13"/>
          <p:cNvSpPr txBox="1"/>
          <p:nvPr/>
        </p:nvSpPr>
        <p:spPr>
          <a:xfrm>
            <a:off x="51130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N</a:t>
            </a:r>
            <a:endParaRPr lang="en-US" sz="1300" dirty="0"/>
          </a:p>
        </p:txBody>
      </p:sp>
      <p:sp>
        <p:nvSpPr>
          <p:cNvPr id="37" name="P300 cell 14"/>
          <p:cNvSpPr txBox="1"/>
          <p:nvPr/>
        </p:nvSpPr>
        <p:spPr>
          <a:xfrm>
            <a:off x="56083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O</a:t>
            </a:r>
            <a:endParaRPr lang="en-US" sz="1300" dirty="0"/>
          </a:p>
        </p:txBody>
      </p:sp>
      <p:sp>
        <p:nvSpPr>
          <p:cNvPr id="38" name="P300 cell 15"/>
          <p:cNvSpPr txBox="1"/>
          <p:nvPr/>
        </p:nvSpPr>
        <p:spPr>
          <a:xfrm>
            <a:off x="61036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P</a:t>
            </a:r>
            <a:endParaRPr lang="en-US" sz="1300" dirty="0"/>
          </a:p>
        </p:txBody>
      </p:sp>
      <p:sp>
        <p:nvSpPr>
          <p:cNvPr id="39" name="P300 cell 16"/>
          <p:cNvSpPr txBox="1"/>
          <p:nvPr/>
        </p:nvSpPr>
        <p:spPr>
          <a:xfrm>
            <a:off x="65989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Q</a:t>
            </a:r>
            <a:endParaRPr lang="en-US" sz="1300" dirty="0"/>
          </a:p>
        </p:txBody>
      </p:sp>
      <p:sp>
        <p:nvSpPr>
          <p:cNvPr id="40" name="P300 cell 17"/>
          <p:cNvSpPr txBox="1"/>
          <p:nvPr/>
        </p:nvSpPr>
        <p:spPr>
          <a:xfrm>
            <a:off x="70942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R</a:t>
            </a:r>
            <a:endParaRPr lang="en-US" sz="1300" dirty="0"/>
          </a:p>
        </p:txBody>
      </p:sp>
      <p:sp>
        <p:nvSpPr>
          <p:cNvPr id="41" name="P300 cell 18"/>
          <p:cNvSpPr txBox="1"/>
          <p:nvPr/>
        </p:nvSpPr>
        <p:spPr>
          <a:xfrm>
            <a:off x="46177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S</a:t>
            </a:r>
            <a:endParaRPr lang="en-US" sz="1300" dirty="0"/>
          </a:p>
        </p:txBody>
      </p:sp>
      <p:sp>
        <p:nvSpPr>
          <p:cNvPr id="42" name="P300 cell 19"/>
          <p:cNvSpPr txBox="1"/>
          <p:nvPr/>
        </p:nvSpPr>
        <p:spPr>
          <a:xfrm>
            <a:off x="51130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T</a:t>
            </a:r>
            <a:endParaRPr lang="en-US" sz="1300" dirty="0"/>
          </a:p>
        </p:txBody>
      </p:sp>
      <p:sp>
        <p:nvSpPr>
          <p:cNvPr id="43" name="P300 cell 20"/>
          <p:cNvSpPr txBox="1"/>
          <p:nvPr/>
        </p:nvSpPr>
        <p:spPr>
          <a:xfrm>
            <a:off x="56083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U</a:t>
            </a:r>
            <a:endParaRPr lang="en-US" sz="1300" dirty="0"/>
          </a:p>
        </p:txBody>
      </p:sp>
      <p:sp>
        <p:nvSpPr>
          <p:cNvPr id="44" name="P300 cell 21"/>
          <p:cNvSpPr txBox="1"/>
          <p:nvPr/>
        </p:nvSpPr>
        <p:spPr>
          <a:xfrm>
            <a:off x="61036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V</a:t>
            </a:r>
            <a:endParaRPr lang="en-US" sz="1300" dirty="0"/>
          </a:p>
        </p:txBody>
      </p:sp>
      <p:sp>
        <p:nvSpPr>
          <p:cNvPr id="45" name="P300 cell 22"/>
          <p:cNvSpPr txBox="1"/>
          <p:nvPr/>
        </p:nvSpPr>
        <p:spPr>
          <a:xfrm>
            <a:off x="65989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W</a:t>
            </a:r>
            <a:endParaRPr lang="en-US" sz="1300" dirty="0"/>
          </a:p>
        </p:txBody>
      </p:sp>
      <p:sp>
        <p:nvSpPr>
          <p:cNvPr id="46" name="P300 cell 23"/>
          <p:cNvSpPr txBox="1"/>
          <p:nvPr/>
        </p:nvSpPr>
        <p:spPr>
          <a:xfrm>
            <a:off x="70942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X</a:t>
            </a:r>
            <a:endParaRPr lang="en-US" sz="1300" dirty="0"/>
          </a:p>
        </p:txBody>
      </p:sp>
      <p:sp>
        <p:nvSpPr>
          <p:cNvPr id="47" name="P300 cell 24"/>
          <p:cNvSpPr txBox="1"/>
          <p:nvPr/>
        </p:nvSpPr>
        <p:spPr>
          <a:xfrm>
            <a:off x="46177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Y</a:t>
            </a:r>
            <a:endParaRPr lang="en-US" sz="1300" dirty="0"/>
          </a:p>
        </p:txBody>
      </p:sp>
      <p:sp>
        <p:nvSpPr>
          <p:cNvPr id="48" name="P300 cell 25"/>
          <p:cNvSpPr txBox="1"/>
          <p:nvPr/>
        </p:nvSpPr>
        <p:spPr>
          <a:xfrm>
            <a:off x="51130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Z</a:t>
            </a:r>
            <a:endParaRPr lang="en-US" sz="1300" dirty="0"/>
          </a:p>
        </p:txBody>
      </p:sp>
      <p:sp>
        <p:nvSpPr>
          <p:cNvPr id="49" name="P300 cell 26"/>
          <p:cNvSpPr txBox="1"/>
          <p:nvPr/>
        </p:nvSpPr>
        <p:spPr>
          <a:xfrm>
            <a:off x="56083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1</a:t>
            </a:r>
            <a:endParaRPr lang="en-US" sz="1300" dirty="0"/>
          </a:p>
        </p:txBody>
      </p:sp>
      <p:sp>
        <p:nvSpPr>
          <p:cNvPr id="50" name="P300 cell 27"/>
          <p:cNvSpPr txBox="1"/>
          <p:nvPr/>
        </p:nvSpPr>
        <p:spPr>
          <a:xfrm>
            <a:off x="61036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2</a:t>
            </a:r>
            <a:endParaRPr lang="en-US" sz="1300" dirty="0"/>
          </a:p>
        </p:txBody>
      </p:sp>
      <p:sp>
        <p:nvSpPr>
          <p:cNvPr id="51" name="P300 cell 28"/>
          <p:cNvSpPr txBox="1"/>
          <p:nvPr/>
        </p:nvSpPr>
        <p:spPr>
          <a:xfrm>
            <a:off x="65989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3</a:t>
            </a:r>
            <a:endParaRPr lang="en-US" sz="1300" dirty="0"/>
          </a:p>
        </p:txBody>
      </p:sp>
      <p:sp>
        <p:nvSpPr>
          <p:cNvPr id="52" name="P300 cell 29"/>
          <p:cNvSpPr txBox="1"/>
          <p:nvPr/>
        </p:nvSpPr>
        <p:spPr>
          <a:xfrm>
            <a:off x="70942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4</a:t>
            </a:r>
            <a:endParaRPr lang="en-US" sz="1300" dirty="0"/>
          </a:p>
        </p:txBody>
      </p:sp>
      <p:sp>
        <p:nvSpPr>
          <p:cNvPr id="53" name="P300 cell 30"/>
          <p:cNvSpPr txBox="1"/>
          <p:nvPr/>
        </p:nvSpPr>
        <p:spPr>
          <a:xfrm>
            <a:off x="46177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5</a:t>
            </a:r>
            <a:endParaRPr lang="en-US" sz="1300" dirty="0"/>
          </a:p>
        </p:txBody>
      </p:sp>
      <p:sp>
        <p:nvSpPr>
          <p:cNvPr id="54" name="P300 cell 31"/>
          <p:cNvSpPr txBox="1"/>
          <p:nvPr/>
        </p:nvSpPr>
        <p:spPr>
          <a:xfrm>
            <a:off x="51130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6</a:t>
            </a:r>
            <a:endParaRPr lang="en-US" sz="1300" dirty="0"/>
          </a:p>
        </p:txBody>
      </p:sp>
      <p:sp>
        <p:nvSpPr>
          <p:cNvPr id="55" name="P300 cell 32"/>
          <p:cNvSpPr txBox="1"/>
          <p:nvPr/>
        </p:nvSpPr>
        <p:spPr>
          <a:xfrm>
            <a:off x="56083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7</a:t>
            </a:r>
            <a:endParaRPr lang="en-US" sz="1300" dirty="0"/>
          </a:p>
        </p:txBody>
      </p:sp>
      <p:sp>
        <p:nvSpPr>
          <p:cNvPr id="56" name="P300 cell 33"/>
          <p:cNvSpPr txBox="1"/>
          <p:nvPr/>
        </p:nvSpPr>
        <p:spPr>
          <a:xfrm>
            <a:off x="61036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8</a:t>
            </a:r>
            <a:endParaRPr lang="en-US" sz="1300" dirty="0"/>
          </a:p>
        </p:txBody>
      </p:sp>
      <p:sp>
        <p:nvSpPr>
          <p:cNvPr id="57" name="P300 cell 34"/>
          <p:cNvSpPr txBox="1"/>
          <p:nvPr/>
        </p:nvSpPr>
        <p:spPr>
          <a:xfrm>
            <a:off x="65989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9</a:t>
            </a:r>
            <a:endParaRPr lang="en-US" sz="1300" dirty="0"/>
          </a:p>
        </p:txBody>
      </p:sp>
      <p:sp>
        <p:nvSpPr>
          <p:cNvPr id="58" name="P300 cell 35"/>
          <p:cNvSpPr txBox="1"/>
          <p:nvPr/>
        </p:nvSpPr>
        <p:spPr>
          <a:xfrm>
            <a:off x="70942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_</a:t>
            </a:r>
            <a:endParaRPr lang="en-US" sz="1300" dirty="0"/>
          </a:p>
        </p:txBody>
      </p:sp>
      <p:sp>
        <p:nvSpPr>
          <p:cNvPr id="59" name="aVEP command 0"/>
          <p:cNvSpPr txBox="1"/>
          <p:nvPr/>
        </p:nvSpPr>
        <p:spPr>
          <a:xfrm>
            <a:off x="8229600"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a:t>
            </a:r>
            <a:endParaRPr lang="en-US" sz="1100" dirty="0"/>
          </a:p>
        </p:txBody>
      </p:sp>
      <p:sp>
        <p:nvSpPr>
          <p:cNvPr id="60" name="aVEP stimulus 0L"/>
          <p:cNvSpPr/>
          <p:nvPr/>
        </p:nvSpPr>
        <p:spPr>
          <a:xfrm>
            <a:off x="8417052" y="3625596"/>
            <a:ext cx="45720" cy="45720"/>
          </a:xfrm>
          <a:prstGeom prst="rect">
            <a:avLst/>
          </a:prstGeom>
          <a:solidFill>
            <a:srgbClr val="A00000"/>
          </a:solidFill>
          <a:ln/>
        </p:spPr>
      </p:sp>
      <p:sp>
        <p:nvSpPr>
          <p:cNvPr id="61" name="aVEP stimulus 0R"/>
          <p:cNvSpPr/>
          <p:nvPr/>
        </p:nvSpPr>
        <p:spPr>
          <a:xfrm>
            <a:off x="8663940" y="3625596"/>
            <a:ext cx="45720" cy="45720"/>
          </a:xfrm>
          <a:prstGeom prst="rect">
            <a:avLst/>
          </a:prstGeom>
          <a:solidFill>
            <a:srgbClr val="A00000"/>
          </a:solidFill>
          <a:ln/>
        </p:spPr>
      </p:sp>
      <p:sp>
        <p:nvSpPr>
          <p:cNvPr id="62" name="aVEP command 1"/>
          <p:cNvSpPr txBox="1"/>
          <p:nvPr/>
        </p:nvSpPr>
        <p:spPr>
          <a:xfrm>
            <a:off x="8897112"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a:t>
            </a:r>
            <a:endParaRPr lang="en-US" sz="1100" dirty="0"/>
          </a:p>
        </p:txBody>
      </p:sp>
      <p:sp>
        <p:nvSpPr>
          <p:cNvPr id="63" name="aVEP stimulus 1L"/>
          <p:cNvSpPr/>
          <p:nvPr/>
        </p:nvSpPr>
        <p:spPr>
          <a:xfrm>
            <a:off x="9084564" y="3625596"/>
            <a:ext cx="45720" cy="45720"/>
          </a:xfrm>
          <a:prstGeom prst="rect">
            <a:avLst/>
          </a:prstGeom>
          <a:solidFill>
            <a:srgbClr val="A00000"/>
          </a:solidFill>
          <a:ln/>
        </p:spPr>
      </p:sp>
      <p:sp>
        <p:nvSpPr>
          <p:cNvPr id="64" name="aVEP stimulus 1R"/>
          <p:cNvSpPr/>
          <p:nvPr/>
        </p:nvSpPr>
        <p:spPr>
          <a:xfrm>
            <a:off x="9331452" y="3625596"/>
            <a:ext cx="45720" cy="45720"/>
          </a:xfrm>
          <a:prstGeom prst="rect">
            <a:avLst/>
          </a:prstGeom>
          <a:solidFill>
            <a:srgbClr val="A00000"/>
          </a:solidFill>
          <a:ln/>
        </p:spPr>
      </p:sp>
      <p:sp>
        <p:nvSpPr>
          <p:cNvPr id="65" name="aVEP command 2"/>
          <p:cNvSpPr txBox="1"/>
          <p:nvPr/>
        </p:nvSpPr>
        <p:spPr>
          <a:xfrm>
            <a:off x="9564624"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a:t>
            </a:r>
            <a:endParaRPr lang="en-US" sz="1100" dirty="0"/>
          </a:p>
        </p:txBody>
      </p:sp>
      <p:sp>
        <p:nvSpPr>
          <p:cNvPr id="66" name="aVEP stimulus 2L"/>
          <p:cNvSpPr/>
          <p:nvPr/>
        </p:nvSpPr>
        <p:spPr>
          <a:xfrm>
            <a:off x="9752076" y="3625596"/>
            <a:ext cx="45720" cy="45720"/>
          </a:xfrm>
          <a:prstGeom prst="rect">
            <a:avLst/>
          </a:prstGeom>
          <a:solidFill>
            <a:srgbClr val="A00000"/>
          </a:solidFill>
          <a:ln/>
        </p:spPr>
      </p:sp>
      <p:sp>
        <p:nvSpPr>
          <p:cNvPr id="67" name="aVEP stimulus 2R"/>
          <p:cNvSpPr/>
          <p:nvPr/>
        </p:nvSpPr>
        <p:spPr>
          <a:xfrm>
            <a:off x="9998964" y="3625596"/>
            <a:ext cx="45720" cy="45720"/>
          </a:xfrm>
          <a:prstGeom prst="rect">
            <a:avLst/>
          </a:prstGeom>
          <a:solidFill>
            <a:srgbClr val="A00000"/>
          </a:solidFill>
          <a:ln/>
        </p:spPr>
      </p:sp>
      <p:sp>
        <p:nvSpPr>
          <p:cNvPr id="68" name="aVEP command 3"/>
          <p:cNvSpPr txBox="1"/>
          <p:nvPr/>
        </p:nvSpPr>
        <p:spPr>
          <a:xfrm>
            <a:off x="10232136"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a:t>
            </a:r>
            <a:endParaRPr lang="en-US" sz="1100" dirty="0"/>
          </a:p>
        </p:txBody>
      </p:sp>
      <p:sp>
        <p:nvSpPr>
          <p:cNvPr id="69" name="aVEP stimulus 3L"/>
          <p:cNvSpPr/>
          <p:nvPr/>
        </p:nvSpPr>
        <p:spPr>
          <a:xfrm>
            <a:off x="10419588" y="3625596"/>
            <a:ext cx="45720" cy="45720"/>
          </a:xfrm>
          <a:prstGeom prst="rect">
            <a:avLst/>
          </a:prstGeom>
          <a:solidFill>
            <a:srgbClr val="A00000"/>
          </a:solidFill>
          <a:ln/>
        </p:spPr>
      </p:sp>
      <p:sp>
        <p:nvSpPr>
          <p:cNvPr id="70" name="aVEP stimulus 3R"/>
          <p:cNvSpPr/>
          <p:nvPr/>
        </p:nvSpPr>
        <p:spPr>
          <a:xfrm>
            <a:off x="10666476" y="3625596"/>
            <a:ext cx="45720" cy="45720"/>
          </a:xfrm>
          <a:prstGeom prst="rect">
            <a:avLst/>
          </a:prstGeom>
          <a:solidFill>
            <a:srgbClr val="A00000"/>
          </a:solidFill>
          <a:ln/>
        </p:spPr>
      </p:sp>
      <p:sp>
        <p:nvSpPr>
          <p:cNvPr id="71" name="aVEP command 4"/>
          <p:cNvSpPr txBox="1"/>
          <p:nvPr/>
        </p:nvSpPr>
        <p:spPr>
          <a:xfrm>
            <a:off x="10899648"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Grasp</a:t>
            </a:r>
            <a:endParaRPr lang="en-US" sz="1100" dirty="0"/>
          </a:p>
        </p:txBody>
      </p:sp>
      <p:sp>
        <p:nvSpPr>
          <p:cNvPr id="72" name="aVEP stimulus 4L"/>
          <p:cNvSpPr/>
          <p:nvPr/>
        </p:nvSpPr>
        <p:spPr>
          <a:xfrm>
            <a:off x="10968228" y="3625596"/>
            <a:ext cx="45720" cy="45720"/>
          </a:xfrm>
          <a:prstGeom prst="rect">
            <a:avLst/>
          </a:prstGeom>
          <a:solidFill>
            <a:srgbClr val="A00000"/>
          </a:solidFill>
          <a:ln/>
        </p:spPr>
      </p:sp>
      <p:sp>
        <p:nvSpPr>
          <p:cNvPr id="73" name="aVEP stimulus 4R"/>
          <p:cNvSpPr/>
          <p:nvPr/>
        </p:nvSpPr>
        <p:spPr>
          <a:xfrm>
            <a:off x="11452860" y="3625596"/>
            <a:ext cx="45720" cy="45720"/>
          </a:xfrm>
          <a:prstGeom prst="rect">
            <a:avLst/>
          </a:prstGeom>
          <a:solidFill>
            <a:srgbClr val="A00000"/>
          </a:solidFill>
          <a:ln/>
        </p:spPr>
      </p:sp>
      <p:sp>
        <p:nvSpPr>
          <p:cNvPr id="74" name="Panel 0 caption"/>
          <p:cNvSpPr txBox="1"/>
          <p:nvPr/>
        </p:nvSpPr>
        <p:spPr>
          <a:xfrm>
            <a:off x="502920" y="3886200"/>
            <a:ext cx="3611880" cy="566928"/>
          </a:xfrm>
          <a:prstGeom prst="rect">
            <a:avLst/>
          </a:prstGeom>
          <a:noFill/>
          <a:ln/>
        </p:spPr>
        <p:txBody>
          <a:bodyPr wrap="square" lIns="0" tIns="0" rIns="0" bIns="0" rtlCol="0" anchor="t"/>
          <a:lstStyle/>
          <a:p>
            <a:pPr algn="ctr" indent="0" marL="0">
              <a:buNone/>
            </a:pPr>
            <a:r>
              <a:rPr lang="en-US" sz="1400" dirty="0">
                <a:solidFill>
                  <a:schemeClr val="tx1"/>
                </a:solidFill>
              </a:rPr>
              <a:t>Large flickering targets, one frequency each</a:t>
            </a:r>
            <a:endParaRPr lang="en-US" sz="1400" dirty="0"/>
          </a:p>
          <a:p>
            <a:pPr algn="ctr" indent="0" marL="0">
              <a:buNone/>
            </a:pPr>
            <a:r>
              <a:rPr lang="en-US" sz="1400" b="1" dirty="0">
                <a:solidFill>
                  <a:srgbClr val="A00000"/>
                </a:solidFill>
              </a:rPr>
              <a:t>High visual burden: view largely occluded</a:t>
            </a:r>
            <a:endParaRPr lang="en-US" sz="1400" dirty="0"/>
          </a:p>
        </p:txBody>
      </p:sp>
      <p:sp>
        <p:nvSpPr>
          <p:cNvPr id="75" name="Panel 1 caption"/>
          <p:cNvSpPr txBox="1"/>
          <p:nvPr/>
        </p:nvSpPr>
        <p:spPr>
          <a:xfrm>
            <a:off x="4297680" y="3886200"/>
            <a:ext cx="3611880" cy="566928"/>
          </a:xfrm>
          <a:prstGeom prst="rect">
            <a:avLst/>
          </a:prstGeom>
          <a:noFill/>
          <a:ln/>
        </p:spPr>
        <p:txBody>
          <a:bodyPr wrap="square" lIns="0" tIns="0" rIns="0" bIns="0" rtlCol="0" anchor="t"/>
          <a:lstStyle/>
          <a:p>
            <a:pPr algn="ctr" indent="0" marL="0">
              <a:buNone/>
            </a:pPr>
            <a:r>
              <a:rPr lang="en-US" sz="1400" dirty="0">
                <a:solidFill>
                  <a:schemeClr val="tx1"/>
                </a:solidFill>
              </a:rPr>
              <a:t>Flashing rows / columns of a symbol matrix</a:t>
            </a:r>
            <a:endParaRPr lang="en-US" sz="1400" dirty="0"/>
          </a:p>
          <a:p>
            <a:pPr algn="ctr" indent="0" marL="0">
              <a:buNone/>
            </a:pPr>
            <a:r>
              <a:rPr lang="en-US" sz="1400" b="1" dirty="0">
                <a:solidFill>
                  <a:srgbClr val="A00000"/>
                </a:solidFill>
              </a:rPr>
              <a:t>High visual burden: view largely occluded</a:t>
            </a:r>
            <a:endParaRPr lang="en-US" sz="1400" dirty="0"/>
          </a:p>
        </p:txBody>
      </p:sp>
      <p:sp>
        <p:nvSpPr>
          <p:cNvPr id="76" name="Panel 2 caption"/>
          <p:cNvSpPr txBox="1"/>
          <p:nvPr/>
        </p:nvSpPr>
        <p:spPr>
          <a:xfrm>
            <a:off x="8092440" y="3886200"/>
            <a:ext cx="3611880" cy="566928"/>
          </a:xfrm>
          <a:prstGeom prst="rect">
            <a:avLst/>
          </a:prstGeom>
          <a:noFill/>
          <a:ln/>
        </p:spPr>
        <p:txBody>
          <a:bodyPr wrap="square" lIns="0" tIns="0" rIns="0" bIns="0" rtlCol="0" anchor="t"/>
          <a:lstStyle/>
          <a:p>
            <a:pPr algn="ctr" indent="0" marL="0">
              <a:buNone/>
            </a:pPr>
            <a:r>
              <a:rPr lang="en-US" sz="1400" dirty="0">
                <a:solidFill>
                  <a:schemeClr val="tx1"/>
                </a:solidFill>
              </a:rPr>
              <a:t>Miniature stimuli beside each command</a:t>
            </a:r>
            <a:endParaRPr lang="en-US" sz="1400" dirty="0"/>
          </a:p>
          <a:p>
            <a:pPr algn="ctr" indent="0" marL="0">
              <a:buNone/>
            </a:pPr>
            <a:r>
              <a:rPr lang="en-US" sz="1400" b="1" dirty="0">
                <a:solidFill>
                  <a:srgbClr val="1E7B34"/>
                </a:solidFill>
              </a:rPr>
              <a:t>Low visual burden: environment stays visible</a:t>
            </a:r>
            <a:endParaRPr lang="en-US" sz="1400" dirty="0"/>
          </a:p>
        </p:txBody>
      </p:sp>
      <p:sp>
        <p:nvSpPr>
          <p:cNvPr id="77" name="Coding panel"/>
          <p:cNvSpPr/>
          <p:nvPr/>
        </p:nvSpPr>
        <p:spPr>
          <a:xfrm>
            <a:off x="502920" y="4553712"/>
            <a:ext cx="5486400" cy="1344168"/>
          </a:xfrm>
          <a:prstGeom prst="rect">
            <a:avLst/>
          </a:prstGeom>
          <a:solidFill>
            <a:srgbClr val="F2F2F2"/>
          </a:solidFill>
          <a:ln/>
        </p:spPr>
      </p:sp>
      <p:sp>
        <p:nvSpPr>
          <p:cNvPr id="78" name="Coding head"/>
          <p:cNvSpPr txBox="1"/>
          <p:nvPr/>
        </p:nvSpPr>
        <p:spPr>
          <a:xfrm>
            <a:off x="685800" y="4645152"/>
            <a:ext cx="5120640" cy="320040"/>
          </a:xfrm>
          <a:prstGeom prst="rect">
            <a:avLst/>
          </a:prstGeom>
          <a:noFill/>
          <a:ln/>
        </p:spPr>
        <p:txBody>
          <a:bodyPr wrap="square" lIns="0" tIns="0" rIns="0" bIns="0" rtlCol="0" anchor="t"/>
          <a:lstStyle/>
          <a:p>
            <a:pPr indent="0" marL="0">
              <a:buNone/>
            </a:pPr>
            <a:r>
              <a:rPr lang="en-US" sz="1600" b="1" dirty="0">
                <a:solidFill>
                  <a:schemeClr val="tx1"/>
                </a:solidFill>
              </a:rPr>
              <a:t>aVEP coding [3]: stimulus order = code</a:t>
            </a:r>
            <a:endParaRPr lang="en-US" sz="1600" dirty="0"/>
          </a:p>
        </p:txBody>
      </p:sp>
      <p:sp>
        <p:nvSpPr>
          <p:cNvPr id="79" name="Code 0 first"/>
          <p:cNvSpPr/>
          <p:nvPr/>
        </p:nvSpPr>
        <p:spPr>
          <a:xfrm>
            <a:off x="685800" y="4965192"/>
            <a:ext cx="548640" cy="365760"/>
          </a:xfrm>
          <a:prstGeom prst="rect">
            <a:avLst/>
          </a:prstGeom>
          <a:solidFill>
            <a:srgbClr val="262626"/>
          </a:solidFill>
          <a:ln/>
        </p:spPr>
      </p:sp>
      <p:sp>
        <p:nvSpPr>
          <p:cNvPr id="80" name="Code 0 first fixation"/>
          <p:cNvSpPr txBox="1"/>
          <p:nvPr/>
        </p:nvSpPr>
        <p:spPr>
          <a:xfrm>
            <a:off x="777240" y="4965192"/>
            <a:ext cx="365760" cy="365760"/>
          </a:xfrm>
          <a:prstGeom prst="rect">
            <a:avLst/>
          </a:prstGeom>
          <a:noFill/>
          <a:ln/>
        </p:spPr>
        <p:txBody>
          <a:bodyPr wrap="square" lIns="0" tIns="0" rIns="0" bIns="0" rtlCol="0" anchor="ctr"/>
          <a:lstStyle/>
          <a:p>
            <a:pPr algn="ctr" indent="0" marL="0">
              <a:buNone/>
            </a:pPr>
            <a:r>
              <a:rPr lang="en-US" sz="1000" b="1" dirty="0">
                <a:solidFill>
                  <a:schemeClr val="bg1"/>
                </a:solidFill>
              </a:rPr>
              <a:t>+</a:t>
            </a:r>
            <a:endParaRPr lang="en-US" sz="1000" dirty="0"/>
          </a:p>
        </p:txBody>
      </p:sp>
      <p:sp>
        <p:nvSpPr>
          <p:cNvPr id="81" name="Code 0 first L stimulus"/>
          <p:cNvSpPr/>
          <p:nvPr/>
        </p:nvSpPr>
        <p:spPr>
          <a:xfrm>
            <a:off x="811987" y="5120640"/>
            <a:ext cx="54864" cy="54864"/>
          </a:xfrm>
          <a:prstGeom prst="rect">
            <a:avLst/>
          </a:prstGeom>
          <a:solidFill>
            <a:srgbClr val="FFFFFF"/>
          </a:solidFill>
          <a:ln/>
        </p:spPr>
      </p:sp>
      <p:sp>
        <p:nvSpPr>
          <p:cNvPr id="82" name="Code 0 arrow"/>
          <p:cNvSpPr/>
          <p:nvPr/>
        </p:nvSpPr>
        <p:spPr>
          <a:xfrm>
            <a:off x="1280160" y="5148072"/>
            <a:ext cx="274320" cy="0"/>
          </a:xfrm>
          <a:prstGeom prst="line">
            <a:avLst/>
          </a:prstGeom>
          <a:noFill/>
          <a:ln w="15875">
            <a:solidFill>
              <a:srgbClr val="000000"/>
            </a:solidFill>
            <a:prstDash val="solid"/>
            <a:tailEnd type="triangle"/>
          </a:ln>
        </p:spPr>
      </p:sp>
      <p:sp>
        <p:nvSpPr>
          <p:cNvPr id="83" name="Code 0 second"/>
          <p:cNvSpPr/>
          <p:nvPr/>
        </p:nvSpPr>
        <p:spPr>
          <a:xfrm>
            <a:off x="1600200" y="4965192"/>
            <a:ext cx="548640" cy="365760"/>
          </a:xfrm>
          <a:prstGeom prst="rect">
            <a:avLst/>
          </a:prstGeom>
          <a:solidFill>
            <a:srgbClr val="262626"/>
          </a:solidFill>
          <a:ln/>
        </p:spPr>
      </p:sp>
      <p:sp>
        <p:nvSpPr>
          <p:cNvPr id="84" name="Code 0 second fixation"/>
          <p:cNvSpPr txBox="1"/>
          <p:nvPr/>
        </p:nvSpPr>
        <p:spPr>
          <a:xfrm>
            <a:off x="1691640" y="4965192"/>
            <a:ext cx="365760" cy="365760"/>
          </a:xfrm>
          <a:prstGeom prst="rect">
            <a:avLst/>
          </a:prstGeom>
          <a:noFill/>
          <a:ln/>
        </p:spPr>
        <p:txBody>
          <a:bodyPr wrap="square" lIns="0" tIns="0" rIns="0" bIns="0" rtlCol="0" anchor="ctr"/>
          <a:lstStyle/>
          <a:p>
            <a:pPr algn="ctr" indent="0" marL="0">
              <a:buNone/>
            </a:pPr>
            <a:r>
              <a:rPr lang="en-US" sz="1000" b="1" dirty="0">
                <a:solidFill>
                  <a:schemeClr val="bg1"/>
                </a:solidFill>
              </a:rPr>
              <a:t>+</a:t>
            </a:r>
            <a:endParaRPr lang="en-US" sz="1000" dirty="0"/>
          </a:p>
        </p:txBody>
      </p:sp>
      <p:sp>
        <p:nvSpPr>
          <p:cNvPr id="85" name="Code 0 second R stimulus"/>
          <p:cNvSpPr/>
          <p:nvPr/>
        </p:nvSpPr>
        <p:spPr>
          <a:xfrm>
            <a:off x="1967789" y="5120640"/>
            <a:ext cx="54864" cy="54864"/>
          </a:xfrm>
          <a:prstGeom prst="rect">
            <a:avLst/>
          </a:prstGeom>
          <a:solidFill>
            <a:srgbClr val="FFFFFF"/>
          </a:solidFill>
          <a:ln/>
        </p:spPr>
      </p:sp>
      <p:sp>
        <p:nvSpPr>
          <p:cNvPr id="86" name="Code 0 label"/>
          <p:cNvSpPr txBox="1"/>
          <p:nvPr/>
        </p:nvSpPr>
        <p:spPr>
          <a:xfrm>
            <a:off x="2240280" y="4965192"/>
            <a:ext cx="1097280" cy="365760"/>
          </a:xfrm>
          <a:prstGeom prst="rect">
            <a:avLst/>
          </a:prstGeom>
          <a:noFill/>
          <a:ln/>
        </p:spPr>
        <p:txBody>
          <a:bodyPr wrap="square" lIns="0" tIns="0" rIns="0" bIns="0" rtlCol="0" anchor="ctr"/>
          <a:lstStyle/>
          <a:p>
            <a:pPr indent="0" marL="0">
              <a:buNone/>
            </a:pPr>
            <a:r>
              <a:rPr lang="en-US" sz="1400" dirty="0">
                <a:solidFill>
                  <a:schemeClr val="tx1"/>
                </a:solidFill>
              </a:rPr>
              <a:t>= code 0</a:t>
            </a:r>
            <a:endParaRPr lang="en-US" sz="1400" dirty="0"/>
          </a:p>
        </p:txBody>
      </p:sp>
      <p:sp>
        <p:nvSpPr>
          <p:cNvPr id="87" name="Code 1 first"/>
          <p:cNvSpPr/>
          <p:nvPr/>
        </p:nvSpPr>
        <p:spPr>
          <a:xfrm>
            <a:off x="3383280" y="4965192"/>
            <a:ext cx="548640" cy="365760"/>
          </a:xfrm>
          <a:prstGeom prst="rect">
            <a:avLst/>
          </a:prstGeom>
          <a:solidFill>
            <a:srgbClr val="262626"/>
          </a:solidFill>
          <a:ln/>
        </p:spPr>
      </p:sp>
      <p:sp>
        <p:nvSpPr>
          <p:cNvPr id="88" name="Code 1 first fixation"/>
          <p:cNvSpPr txBox="1"/>
          <p:nvPr/>
        </p:nvSpPr>
        <p:spPr>
          <a:xfrm>
            <a:off x="3474720" y="4965192"/>
            <a:ext cx="365760" cy="365760"/>
          </a:xfrm>
          <a:prstGeom prst="rect">
            <a:avLst/>
          </a:prstGeom>
          <a:noFill/>
          <a:ln/>
        </p:spPr>
        <p:txBody>
          <a:bodyPr wrap="square" lIns="0" tIns="0" rIns="0" bIns="0" rtlCol="0" anchor="ctr"/>
          <a:lstStyle/>
          <a:p>
            <a:pPr algn="ctr" indent="0" marL="0">
              <a:buNone/>
            </a:pPr>
            <a:r>
              <a:rPr lang="en-US" sz="1000" b="1" dirty="0">
                <a:solidFill>
                  <a:schemeClr val="bg1"/>
                </a:solidFill>
              </a:rPr>
              <a:t>+</a:t>
            </a:r>
            <a:endParaRPr lang="en-US" sz="1000" dirty="0"/>
          </a:p>
        </p:txBody>
      </p:sp>
      <p:sp>
        <p:nvSpPr>
          <p:cNvPr id="89" name="Code 1 first R stimulus"/>
          <p:cNvSpPr/>
          <p:nvPr/>
        </p:nvSpPr>
        <p:spPr>
          <a:xfrm>
            <a:off x="3750869" y="5120640"/>
            <a:ext cx="54864" cy="54864"/>
          </a:xfrm>
          <a:prstGeom prst="rect">
            <a:avLst/>
          </a:prstGeom>
          <a:solidFill>
            <a:srgbClr val="FFFFFF"/>
          </a:solidFill>
          <a:ln/>
        </p:spPr>
      </p:sp>
      <p:sp>
        <p:nvSpPr>
          <p:cNvPr id="90" name="Code 1 arrow"/>
          <p:cNvSpPr/>
          <p:nvPr/>
        </p:nvSpPr>
        <p:spPr>
          <a:xfrm>
            <a:off x="3977640" y="5148072"/>
            <a:ext cx="274320" cy="0"/>
          </a:xfrm>
          <a:prstGeom prst="line">
            <a:avLst/>
          </a:prstGeom>
          <a:noFill/>
          <a:ln w="15875">
            <a:solidFill>
              <a:srgbClr val="000000"/>
            </a:solidFill>
            <a:prstDash val="solid"/>
            <a:tailEnd type="triangle"/>
          </a:ln>
        </p:spPr>
      </p:sp>
      <p:sp>
        <p:nvSpPr>
          <p:cNvPr id="91" name="Code 1 second"/>
          <p:cNvSpPr/>
          <p:nvPr/>
        </p:nvSpPr>
        <p:spPr>
          <a:xfrm>
            <a:off x="4297680" y="4965192"/>
            <a:ext cx="548640" cy="365760"/>
          </a:xfrm>
          <a:prstGeom prst="rect">
            <a:avLst/>
          </a:prstGeom>
          <a:solidFill>
            <a:srgbClr val="262626"/>
          </a:solidFill>
          <a:ln/>
        </p:spPr>
      </p:sp>
      <p:sp>
        <p:nvSpPr>
          <p:cNvPr id="92" name="Code 1 second fixation"/>
          <p:cNvSpPr txBox="1"/>
          <p:nvPr/>
        </p:nvSpPr>
        <p:spPr>
          <a:xfrm>
            <a:off x="4389120" y="4965192"/>
            <a:ext cx="365760" cy="365760"/>
          </a:xfrm>
          <a:prstGeom prst="rect">
            <a:avLst/>
          </a:prstGeom>
          <a:noFill/>
          <a:ln/>
        </p:spPr>
        <p:txBody>
          <a:bodyPr wrap="square" lIns="0" tIns="0" rIns="0" bIns="0" rtlCol="0" anchor="ctr"/>
          <a:lstStyle/>
          <a:p>
            <a:pPr algn="ctr" indent="0" marL="0">
              <a:buNone/>
            </a:pPr>
            <a:r>
              <a:rPr lang="en-US" sz="1000" b="1" dirty="0">
                <a:solidFill>
                  <a:schemeClr val="bg1"/>
                </a:solidFill>
              </a:rPr>
              <a:t>+</a:t>
            </a:r>
            <a:endParaRPr lang="en-US" sz="1000" dirty="0"/>
          </a:p>
        </p:txBody>
      </p:sp>
      <p:sp>
        <p:nvSpPr>
          <p:cNvPr id="93" name="Code 1 second L stimulus"/>
          <p:cNvSpPr/>
          <p:nvPr/>
        </p:nvSpPr>
        <p:spPr>
          <a:xfrm>
            <a:off x="4423867" y="5120640"/>
            <a:ext cx="54864" cy="54864"/>
          </a:xfrm>
          <a:prstGeom prst="rect">
            <a:avLst/>
          </a:prstGeom>
          <a:solidFill>
            <a:srgbClr val="FFFFFF"/>
          </a:solidFill>
          <a:ln/>
        </p:spPr>
      </p:sp>
      <p:sp>
        <p:nvSpPr>
          <p:cNvPr id="94" name="Code 1 label"/>
          <p:cNvSpPr txBox="1"/>
          <p:nvPr/>
        </p:nvSpPr>
        <p:spPr>
          <a:xfrm>
            <a:off x="4937760" y="4965192"/>
            <a:ext cx="1097280" cy="365760"/>
          </a:xfrm>
          <a:prstGeom prst="rect">
            <a:avLst/>
          </a:prstGeom>
          <a:noFill/>
          <a:ln/>
        </p:spPr>
        <p:txBody>
          <a:bodyPr wrap="square" lIns="0" tIns="0" rIns="0" bIns="0" rtlCol="0" anchor="ctr"/>
          <a:lstStyle/>
          <a:p>
            <a:pPr indent="0" marL="0">
              <a:buNone/>
            </a:pPr>
            <a:r>
              <a:rPr lang="en-US" sz="1400" dirty="0">
                <a:solidFill>
                  <a:schemeClr val="tx1"/>
                </a:solidFill>
              </a:rPr>
              <a:t>= code 1</a:t>
            </a:r>
            <a:endParaRPr lang="en-US" sz="1400" dirty="0"/>
          </a:p>
        </p:txBody>
      </p:sp>
      <p:sp>
        <p:nvSpPr>
          <p:cNvPr id="95" name="Coding task"/>
          <p:cNvSpPr txBox="1"/>
          <p:nvPr/>
        </p:nvSpPr>
        <p:spPr>
          <a:xfrm>
            <a:off x="685800" y="5559552"/>
            <a:ext cx="5120640" cy="274320"/>
          </a:xfrm>
          <a:prstGeom prst="rect">
            <a:avLst/>
          </a:prstGeom>
          <a:noFill/>
          <a:ln/>
        </p:spPr>
        <p:txBody>
          <a:bodyPr wrap="square" lIns="0" tIns="0" rIns="0" bIns="0" rtlCol="0" anchor="t"/>
          <a:lstStyle/>
          <a:p>
            <a:pPr indent="0" marL="0">
              <a:buNone/>
            </a:pPr>
            <a:r>
              <a:rPr lang="en-US" sz="1400" i="1" dirty="0">
                <a:solidFill>
                  <a:schemeClr val="tx1"/>
                </a:solidFill>
              </a:rPr>
              <a:t>Task: decode each pair (one every 200 ms) from single-trial EEG</a:t>
            </a:r>
            <a:endParaRPr lang="en-US" sz="1400" dirty="0"/>
          </a:p>
        </p:txBody>
      </p:sp>
      <p:sp>
        <p:nvSpPr>
          <p:cNvPr id="96" name="Application panel"/>
          <p:cNvSpPr/>
          <p:nvPr/>
        </p:nvSpPr>
        <p:spPr>
          <a:xfrm>
            <a:off x="6172200" y="4553712"/>
            <a:ext cx="5486400" cy="1344168"/>
          </a:xfrm>
          <a:prstGeom prst="rect">
            <a:avLst/>
          </a:prstGeom>
          <a:solidFill>
            <a:srgbClr val="F2F2F2"/>
          </a:solidFill>
          <a:ln/>
        </p:spPr>
      </p:sp>
      <p:sp>
        <p:nvSpPr>
          <p:cNvPr id="97" name="Application"/>
          <p:cNvSpPr txBox="1"/>
          <p:nvPr/>
        </p:nvSpPr>
        <p:spPr>
          <a:xfrm>
            <a:off x="6355080" y="4645152"/>
            <a:ext cx="5120640" cy="1161288"/>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Application</a:t>
            </a:r>
            <a:endParaRPr lang="en-US" sz="1600" dirty="0"/>
          </a:p>
          <a:p>
            <a:pPr indent="0" marL="0">
              <a:spcAft>
                <a:spcPts val="200"/>
              </a:spcAft>
              <a:buNone/>
            </a:pPr>
            <a:r>
              <a:rPr lang="en-US" sz="1600" dirty="0">
                <a:solidFill>
                  <a:schemeClr val="tx1"/>
                </a:solidFill>
              </a:rPr>
              <a:t>Robotic arms, unmanned vehicles: the user must keep watching the environment while issuing commands</a:t>
            </a:r>
            <a:endParaRPr lang="en-US" sz="1600" dirty="0"/>
          </a:p>
          <a:p>
            <a:pPr indent="0" marL="0">
              <a:spcAft>
                <a:spcPts val="200"/>
              </a:spcAft>
              <a:buNone/>
            </a:pPr>
            <a:r>
              <a:rPr lang="en-US" sz="1600" b="1" dirty="0">
                <a:solidFill>
                  <a:schemeClr val="accent1"/>
                </a:solidFill>
              </a:rPr>
              <a:t>→ Chapter 3: online aVEP-based robotic arm</a:t>
            </a:r>
            <a:endParaRPr lang="en-US" sz="1600" dirty="0"/>
          </a:p>
        </p:txBody>
      </p:sp>
      <p:sp>
        <p:nvSpPr>
          <p:cNvPr id="98" name="Reference"/>
          <p:cNvSpPr txBox="1"/>
          <p:nvPr/>
        </p:nvSpPr>
        <p:spPr>
          <a:xfrm>
            <a:off x="320040" y="5989320"/>
            <a:ext cx="10881360" cy="731520"/>
          </a:xfrm>
          <a:prstGeom prst="rect">
            <a:avLst/>
          </a:prstGeom>
          <a:noFill/>
          <a:ln/>
        </p:spPr>
        <p:txBody>
          <a:bodyPr wrap="square" lIns="0" tIns="0" rIns="0" bIns="0" rtlCol="0" anchor="b"/>
          <a:lstStyle/>
          <a:p>
            <a:pPr indent="0" marL="0">
              <a:buNone/>
            </a:pPr>
            <a:r>
              <a:rPr lang="en-US" sz="1200" dirty="0">
                <a:solidFill>
                  <a:schemeClr val="accent3"/>
                </a:solidFill>
              </a:rPr>
              <a:t>[1] X. Chen et al., PNAS, 2015.   [2] L. A. Farwell, E. Donchin, Electroencephalogr. Clin. Neurophysiol., 1988.</a:t>
            </a:r>
            <a:endParaRPr lang="en-US" sz="1200" dirty="0"/>
          </a:p>
          <a:p>
            <a:pPr indent="0" marL="0">
              <a:buNone/>
            </a:pPr>
            <a:r>
              <a:rPr lang="en-US" sz="1200" dirty="0">
                <a:solidFill>
                  <a:schemeClr val="accent3"/>
                </a:solidFill>
              </a:rPr>
              <a:t>[3] M. Xu et al., IEEE Trans. Biomed. Eng., 2018.   Panels (a)–(c) are schematic illustrations.</a:t>
            </a:r>
            <a:endParaRPr lang="en-US" sz="12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1 Research Background and Objectives</a:t>
            </a:r>
            <a:endParaRPr lang="en-US" sz="2800" dirty="0"/>
          </a:p>
        </p:txBody>
      </p:sp>
      <p:sp>
        <p:nvSpPr>
          <p:cNvPr id="3" name="Challenge 1 head"/>
          <p:cNvSpPr txBox="1"/>
          <p:nvPr/>
        </p:nvSpPr>
        <p:spPr>
          <a:xfrm>
            <a:off x="411480" y="1161288"/>
            <a:ext cx="5577840" cy="384048"/>
          </a:xfrm>
          <a:prstGeom prst="rect">
            <a:avLst/>
          </a:prstGeom>
          <a:noFill/>
          <a:ln/>
        </p:spPr>
        <p:txBody>
          <a:bodyPr wrap="square" lIns="0" tIns="0" rIns="0" bIns="0" rtlCol="0" anchor="ctr"/>
          <a:lstStyle/>
          <a:p>
            <a:pPr algn="ctr" indent="0" marL="0">
              <a:buNone/>
            </a:pPr>
            <a:r>
              <a:rPr lang="en-US" sz="1800" b="1" dirty="0">
                <a:solidFill>
                  <a:schemeClr val="accent1"/>
                </a:solidFill>
              </a:rPr>
              <a:t>Challenge 1: Low single-trial SNR</a:t>
            </a:r>
            <a:endParaRPr lang="en-US" sz="1800" dirty="0"/>
          </a:p>
        </p:txBody>
      </p:sp>
      <p:pic>
        <p:nvPicPr>
          <p:cNvPr id="4" name="Challenge 1 figure" descr="Measured single trials (grey) vs. class averages, all 28 subjects">    </p:cNvPr>
          <p:cNvPicPr>
            <a:picLocks noChangeAspect="1"/>
          </p:cNvPicPr>
          <p:nvPr/>
        </p:nvPicPr>
        <p:blipFill>
          <a:blip r:embed="rId1"/>
          <a:stretch>
            <a:fillRect/>
          </a:stretch>
        </p:blipFill>
        <p:spPr>
          <a:xfrm>
            <a:off x="411480" y="1600200"/>
            <a:ext cx="5577840" cy="3429000"/>
          </a:xfrm>
          <a:prstGeom prst="rect">
            <a:avLst/>
          </a:prstGeom>
        </p:spPr>
      </p:pic>
      <p:sp>
        <p:nvSpPr>
          <p:cNvPr id="5" name="Challenge 2 head"/>
          <p:cNvSpPr txBox="1"/>
          <p:nvPr/>
        </p:nvSpPr>
        <p:spPr>
          <a:xfrm>
            <a:off x="6217920" y="1161288"/>
            <a:ext cx="5577840" cy="384048"/>
          </a:xfrm>
          <a:prstGeom prst="rect">
            <a:avLst/>
          </a:prstGeom>
          <a:noFill/>
          <a:ln/>
        </p:spPr>
        <p:txBody>
          <a:bodyPr wrap="square" lIns="0" tIns="0" rIns="0" bIns="0" rtlCol="0" anchor="ctr"/>
          <a:lstStyle/>
          <a:p>
            <a:pPr algn="ctr" indent="0" marL="0">
              <a:buNone/>
            </a:pPr>
            <a:r>
              <a:rPr lang="en-US" sz="1800" b="1" dirty="0">
                <a:solidFill>
                  <a:schemeClr val="accent1"/>
                </a:solidFill>
              </a:rPr>
              <a:t>Challenge 2: High inter-subject variability</a:t>
            </a:r>
            <a:endParaRPr lang="en-US" sz="1800" dirty="0"/>
          </a:p>
        </p:txBody>
      </p:sp>
      <p:pic>
        <p:nvPicPr>
          <p:cNvPr id="6" name="Challenge 2 figure" descr="Measured class averages of four example subjects and per-subject statistics">    </p:cNvPr>
          <p:cNvPicPr>
            <a:picLocks noChangeAspect="1"/>
          </p:cNvPicPr>
          <p:nvPr/>
        </p:nvPicPr>
        <p:blipFill>
          <a:blip r:embed="rId2"/>
          <a:stretch>
            <a:fillRect/>
          </a:stretch>
        </p:blipFill>
        <p:spPr>
          <a:xfrm>
            <a:off x="6217920" y="1600200"/>
            <a:ext cx="5577840" cy="3429000"/>
          </a:xfrm>
          <a:prstGeom prst="rect">
            <a:avLst/>
          </a:prstGeom>
        </p:spPr>
      </p:pic>
      <p:sp>
        <p:nvSpPr>
          <p:cNvPr id="7" name="Challenge 1 text"/>
          <p:cNvSpPr txBox="1"/>
          <p:nvPr/>
        </p:nvSpPr>
        <p:spPr>
          <a:xfrm>
            <a:off x="548640" y="5120640"/>
            <a:ext cx="5303520" cy="777240"/>
          </a:xfrm>
          <a:prstGeom prst="rect">
            <a:avLst/>
          </a:prstGeom>
          <a:noFill/>
          <a:ln/>
        </p:spPr>
        <p:txBody>
          <a:bodyPr wrap="square" lIns="0" tIns="0" rIns="0" bIns="0" rtlCol="0" anchor="t"/>
          <a:lstStyle/>
          <a:p>
            <a:pPr indent="0" marL="0">
              <a:buNone/>
            </a:pPr>
            <a:r>
              <a:rPr lang="en-US" sz="1500" dirty="0">
                <a:solidFill>
                  <a:schemeClr val="tx1"/>
                </a:solidFill>
              </a:rPr>
              <a:t>Single trials fluctuate by about ±10 µV (SD 3.3 µV), while the class difference peaks at only ≈ 1 µV</a:t>
            </a:r>
            <a:endParaRPr lang="en-US" sz="1500" dirty="0"/>
          </a:p>
          <a:p>
            <a:pPr indent="0" marL="0">
              <a:buNone/>
            </a:pPr>
            <a:r>
              <a:rPr lang="en-US" sz="1500" b="1" dirty="0">
                <a:solidFill>
                  <a:schemeClr val="tx1"/>
                </a:solidFill>
              </a:rPr>
              <a:t>→ The task-related ERP is buried in background EEG</a:t>
            </a:r>
            <a:endParaRPr lang="en-US" sz="1500" dirty="0"/>
          </a:p>
        </p:txBody>
      </p:sp>
      <p:sp>
        <p:nvSpPr>
          <p:cNvPr id="8" name="Challenge 2 text"/>
          <p:cNvSpPr txBox="1"/>
          <p:nvPr/>
        </p:nvSpPr>
        <p:spPr>
          <a:xfrm>
            <a:off x="6355080" y="5120640"/>
            <a:ext cx="5303520" cy="777240"/>
          </a:xfrm>
          <a:prstGeom prst="rect">
            <a:avLst/>
          </a:prstGeom>
          <a:noFill/>
          <a:ln/>
        </p:spPr>
        <p:txBody>
          <a:bodyPr wrap="square" lIns="0" tIns="0" rIns="0" bIns="0" rtlCol="0" anchor="t"/>
          <a:lstStyle/>
          <a:p>
            <a:pPr indent="0" marL="0">
              <a:buNone/>
            </a:pPr>
            <a:r>
              <a:rPr lang="en-US" sz="1500" dirty="0">
                <a:solidFill>
                  <a:schemeClr val="tx1"/>
                </a:solidFill>
              </a:rPr>
              <a:t>Mirror-symmetry r: −0.65 to 0.86;  peak latency: 150–300 ms;  peak amplitude: 0.3–3.9 µV</a:t>
            </a:r>
            <a:endParaRPr lang="en-US" sz="1500" dirty="0"/>
          </a:p>
          <a:p>
            <a:pPr indent="0" marL="0">
              <a:buNone/>
            </a:pPr>
            <a:r>
              <a:rPr lang="en-US" sz="1500" b="1" dirty="0">
                <a:solidFill>
                  <a:schemeClr val="tx1"/>
                </a:solidFill>
              </a:rPr>
              <a:t>→ Waveform, timing and lateralization differ across subjects</a:t>
            </a:r>
            <a:endParaRPr lang="en-US" sz="1500" dirty="0"/>
          </a:p>
        </p:txBody>
      </p:sp>
      <p:sp>
        <p:nvSpPr>
          <p:cNvPr id="9" name="Reference"/>
          <p:cNvSpPr txBox="1"/>
          <p:nvPr/>
        </p:nvSpPr>
        <p:spPr>
          <a:xfrm>
            <a:off x="320040" y="5943600"/>
            <a:ext cx="10881360" cy="777240"/>
          </a:xfrm>
          <a:prstGeom prst="rect">
            <a:avLst/>
          </a:prstGeom>
          <a:noFill/>
          <a:ln/>
        </p:spPr>
        <p:txBody>
          <a:bodyPr wrap="square" lIns="0" tIns="0" rIns="0" bIns="0" rtlCol="0" anchor="b"/>
          <a:lstStyle/>
          <a:p>
            <a:pPr indent="0" marL="0">
              <a:buNone/>
            </a:pPr>
            <a:r>
              <a:rPr lang="en-US" sz="1100" dirty="0">
                <a:solidFill>
                  <a:schemeClr val="accent3"/>
                </a:solidFill>
              </a:rPr>
              <a:t>All waveforms are measured data (28 subjects; 1–30 Hz, common average reference). Signal: left − right hemisphere, mean of 9 mirror channel pairs. r: correlation of the class-0 pattern with the sign-flipped class-1 pattern (9 pairs × time; mirror rule gives r = 1). Peak latency: largest class difference within 80–300 ms.</a:t>
            </a:r>
            <a:endParaRPr lang="en-US" sz="11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1 Research Background and Objectives</a:t>
            </a:r>
            <a:endParaRPr lang="en-US" sz="2800" dirty="0"/>
          </a:p>
        </p:txBody>
      </p:sp>
      <p:graphicFrame>
        <p:nvGraphicFramePr>
          <p:cNvPr id="6" name="Objectives table"/>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566160"/>
                <a:gridCol w="3840480"/>
                <a:gridCol w="3657600"/>
              </a:tblGrid>
              <a:tr h="548640">
                <a:tc>
                  <a:txBody>
                    <a:bodyPr/>
                    <a:lstStyle/>
                    <a:p>
                      <a:pPr algn="l" indent="0" marL="0">
                        <a:buNone/>
                      </a:pPr>
                      <a:endParaRPr lang="en-US" sz="18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en-US" sz="1800" b="1" dirty="0">
                          <a:solidFill>
                            <a:srgbClr val="000000"/>
                          </a:solidFill>
                          <a:latin typeface="Times New Roman" pitchFamily="34" charset="0"/>
                          <a:ea typeface="Times New Roman" pitchFamily="34" charset="-122"/>
                          <a:cs typeface="Times New Roman" pitchFamily="34" charset="-120"/>
                        </a:rPr>
                        <a:t>Current limitation</a:t>
                      </a:r>
                      <a:endParaRPr lang="en-US" sz="18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en-US" sz="1800" b="1" dirty="0">
                          <a:solidFill>
                            <a:srgbClr val="000000"/>
                          </a:solidFill>
                          <a:latin typeface="Times New Roman" pitchFamily="34" charset="0"/>
                          <a:ea typeface="Times New Roman" pitchFamily="34" charset="-122"/>
                          <a:cs typeface="Times New Roman" pitchFamily="34" charset="-120"/>
                        </a:rPr>
                        <a:t>Research focus</a:t>
                      </a:r>
                      <a:endParaRPr lang="en-US" sz="18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96012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① Chapter 1: Low single-trial SNR</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Weak (≈ 1 µV), overlapping responses; single trials are unreliable</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Distil the recoverable ERP from multi-trial averages (RED)</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r>
              <a:tr h="96012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② Chapter 2: Inter-subject variability</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Symmetry and latency differ by subject; cross-subject accuracy drops</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Physiology-routed mixture of experts (LR-MoE)</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r>
              <a:tr h="96012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③ Chapter 3: Offline-only validation</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Decoders are evaluated offline only</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Online EEG-based brain-controlled robotic arm</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4" name="Research line"/>
          <p:cNvSpPr txBox="1"/>
          <p:nvPr/>
        </p:nvSpPr>
        <p:spPr>
          <a:xfrm>
            <a:off x="548640" y="5532120"/>
            <a:ext cx="11064240" cy="411480"/>
          </a:xfrm>
          <a:prstGeom prst="rect">
            <a:avLst/>
          </a:prstGeom>
          <a:noFill/>
          <a:ln/>
        </p:spPr>
        <p:txBody>
          <a:bodyPr wrap="square" lIns="0" tIns="0" rIns="0" bIns="0" rtlCol="0" anchor="ctr"/>
          <a:lstStyle/>
          <a:p>
            <a:pPr algn="ctr" indent="0" marL="0">
              <a:buNone/>
            </a:pPr>
            <a:r>
              <a:rPr lang="en-US" sz="2000" b="1" dirty="0">
                <a:solidFill>
                  <a:schemeClr val="accent1"/>
                </a:solidFill>
              </a:rPr>
              <a:t>Single-trial decoding  →  Cross-subject generalization  →  Online application</a:t>
            </a:r>
            <a:endParaRPr lang="en-US" sz="20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Outline list"/>
          <p:cNvSpPr txBox="1"/>
          <p:nvPr/>
        </p:nvSpPr>
        <p:spPr>
          <a:xfrm>
            <a:off x="4389120" y="1920240"/>
            <a:ext cx="7132320" cy="2926080"/>
          </a:xfrm>
          <a:prstGeom prst="rect">
            <a:avLst/>
          </a:prstGeom>
          <a:noFill/>
          <a:ln/>
        </p:spPr>
        <p:txBody>
          <a:bodyPr wrap="square" lIns="0" tIns="0" rIns="0" bIns="0" rtlCol="0" anchor="ctr"/>
          <a:lstStyle/>
          <a:p>
            <a:pPr marL="342900" indent="-342900">
              <a:spcAft>
                <a:spcPts val="1800"/>
              </a:spcAft>
              <a:buSzPct val="100000"/>
              <a:buChar char="•"/>
            </a:pPr>
            <a:r>
              <a:rPr lang="en-US" sz="2600" dirty="0">
                <a:solidFill>
                  <a:srgbClr val="000000"/>
                </a:solidFill>
              </a:rPr>
              <a:t>Research Background and Objectives</a:t>
            </a:r>
            <a:endParaRPr lang="en-US" sz="2600" dirty="0"/>
          </a:p>
          <a:p>
            <a:pPr marL="342900" indent="-342900">
              <a:spcAft>
                <a:spcPts val="1800"/>
              </a:spcAft>
              <a:buSzPct val="100000"/>
              <a:buChar char="•"/>
            </a:pPr>
            <a:r>
              <a:rPr lang="en-US" sz="2600" dirty="0">
                <a:solidFill>
                  <a:srgbClr val="A00000"/>
                </a:solidFill>
              </a:rPr>
              <a:t>Research Progress and Stage Achievements</a:t>
            </a:r>
            <a:endParaRPr lang="en-US" sz="2600" dirty="0"/>
          </a:p>
          <a:p>
            <a:pPr marL="342900" indent="-342900">
              <a:spcAft>
                <a:spcPts val="1800"/>
              </a:spcAft>
              <a:buSzPct val="100000"/>
              <a:buChar char="•"/>
            </a:pPr>
            <a:r>
              <a:rPr lang="en-US" sz="2600" dirty="0">
                <a:solidFill>
                  <a:srgbClr val="000000"/>
                </a:solidFill>
              </a:rPr>
              <a:t>Next-stage Research Plan</a:t>
            </a:r>
            <a:endParaRPr lang="en-US" sz="2600" dirty="0"/>
          </a:p>
          <a:p>
            <a:pPr marL="342900" indent="-342900">
              <a:spcAft>
                <a:spcPts val="1800"/>
              </a:spcAft>
              <a:buSzPct val="100000"/>
              <a:buChar char="•"/>
            </a:pPr>
            <a:r>
              <a:rPr lang="en-US" sz="2600" dirty="0">
                <a:solidFill>
                  <a:srgbClr val="000000"/>
                </a:solidFill>
              </a:rPr>
              <a:t>Project Schedule</a:t>
            </a:r>
            <a:endParaRPr lang="en-US" sz="26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2 Research Progress and Stage Achievements</a:t>
            </a:r>
            <a:endParaRPr lang="en-US" sz="2800" dirty="0"/>
          </a:p>
        </p:txBody>
      </p:sp>
      <p:sp>
        <p:nvSpPr>
          <p:cNvPr id="3" name="Lead"/>
          <p:cNvSpPr txBox="1"/>
          <p:nvPr/>
        </p:nvSpPr>
        <p:spPr>
          <a:xfrm>
            <a:off x="548640" y="1234440"/>
            <a:ext cx="11064240" cy="365760"/>
          </a:xfrm>
          <a:prstGeom prst="rect">
            <a:avLst/>
          </a:prstGeom>
          <a:noFill/>
          <a:ln/>
        </p:spPr>
        <p:txBody>
          <a:bodyPr wrap="square" lIns="0" tIns="0" rIns="0" bIns="0" rtlCol="0" anchor="t"/>
          <a:lstStyle/>
          <a:p>
            <a:pPr indent="0" marL="0">
              <a:buNone/>
            </a:pPr>
            <a:r>
              <a:rPr lang="en-US" sz="1800" dirty="0">
                <a:solidFill>
                  <a:schemeClr val="tx1"/>
                </a:solidFill>
              </a:rPr>
              <a:t>Completed: a verified preprocessing pipeline, leakage-free evaluation and two baselines.</a:t>
            </a:r>
            <a:endParaRPr lang="en-US" sz="1800" dirty="0"/>
          </a:p>
        </p:txBody>
      </p:sp>
      <p:sp>
        <p:nvSpPr>
          <p:cNvPr id="4" name="Pipeline head"/>
          <p:cNvSpPr txBox="1"/>
          <p:nvPr/>
        </p:nvSpPr>
        <p:spPr>
          <a:xfrm>
            <a:off x="548640" y="1783080"/>
            <a:ext cx="3931920" cy="365760"/>
          </a:xfrm>
          <a:prstGeom prst="rect">
            <a:avLst/>
          </a:prstGeom>
          <a:noFill/>
          <a:ln/>
        </p:spPr>
        <p:txBody>
          <a:bodyPr wrap="square" lIns="0" tIns="0" rIns="0" bIns="0" rtlCol="0" anchor="t"/>
          <a:lstStyle/>
          <a:p>
            <a:pPr algn="ctr" indent="0" marL="0">
              <a:buNone/>
            </a:pPr>
            <a:r>
              <a:rPr lang="en-US" sz="1800" b="1" dirty="0">
                <a:solidFill>
                  <a:schemeClr val="tx1"/>
                </a:solidFill>
              </a:rPr>
              <a:t>Preprocessing pipeline</a:t>
            </a:r>
            <a:endParaRPr lang="en-US" sz="1800" dirty="0"/>
          </a:p>
        </p:txBody>
      </p:sp>
      <p:sp>
        <p:nvSpPr>
          <p:cNvPr id="5" name="Pipeline panel"/>
          <p:cNvSpPr/>
          <p:nvPr/>
        </p:nvSpPr>
        <p:spPr>
          <a:xfrm>
            <a:off x="548640" y="2194560"/>
            <a:ext cx="3931920" cy="3749040"/>
          </a:xfrm>
          <a:prstGeom prst="rect">
            <a:avLst/>
          </a:prstGeom>
          <a:solidFill>
            <a:srgbClr val="F2F2F2"/>
          </a:solidFill>
          <a:ln/>
        </p:spPr>
      </p:sp>
      <p:sp>
        <p:nvSpPr>
          <p:cNvPr id="6" name="Pipeline step 0"/>
          <p:cNvSpPr txBox="1"/>
          <p:nvPr/>
        </p:nvSpPr>
        <p:spPr>
          <a:xfrm>
            <a:off x="640080" y="233172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Raw EEG: 21 channels, 200 Hz</a:t>
            </a:r>
            <a:endParaRPr lang="en-US" sz="1600" dirty="0"/>
          </a:p>
        </p:txBody>
      </p:sp>
      <p:sp>
        <p:nvSpPr>
          <p:cNvPr id="7" name="Pipeline arrow 0"/>
          <p:cNvSpPr/>
          <p:nvPr/>
        </p:nvSpPr>
        <p:spPr>
          <a:xfrm>
            <a:off x="2514600" y="2715768"/>
            <a:ext cx="0" cy="310896"/>
          </a:xfrm>
          <a:prstGeom prst="line">
            <a:avLst/>
          </a:prstGeom>
          <a:noFill/>
          <a:ln w="19050">
            <a:solidFill>
              <a:srgbClr val="000000"/>
            </a:solidFill>
            <a:prstDash val="solid"/>
            <a:tailEnd type="triangle"/>
          </a:ln>
        </p:spPr>
      </p:sp>
      <p:sp>
        <p:nvSpPr>
          <p:cNvPr id="8" name="Pipeline step 1"/>
          <p:cNvSpPr txBox="1"/>
          <p:nvPr/>
        </p:nvSpPr>
        <p:spPr>
          <a:xfrm>
            <a:off x="640080" y="306324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Band-pass 1–30 Hz (zero-phase FIR)</a:t>
            </a:r>
            <a:endParaRPr lang="en-US" sz="1600" dirty="0"/>
          </a:p>
        </p:txBody>
      </p:sp>
      <p:sp>
        <p:nvSpPr>
          <p:cNvPr id="9" name="Pipeline arrow 1"/>
          <p:cNvSpPr/>
          <p:nvPr/>
        </p:nvSpPr>
        <p:spPr>
          <a:xfrm>
            <a:off x="2514600" y="3447288"/>
            <a:ext cx="0" cy="310896"/>
          </a:xfrm>
          <a:prstGeom prst="line">
            <a:avLst/>
          </a:prstGeom>
          <a:noFill/>
          <a:ln w="19050">
            <a:solidFill>
              <a:srgbClr val="000000"/>
            </a:solidFill>
            <a:prstDash val="solid"/>
            <a:tailEnd type="triangle"/>
          </a:ln>
        </p:spPr>
      </p:sp>
      <p:sp>
        <p:nvSpPr>
          <p:cNvPr id="10" name="Pipeline step 2"/>
          <p:cNvSpPr txBox="1"/>
          <p:nvPr/>
        </p:nvSpPr>
        <p:spPr>
          <a:xfrm>
            <a:off x="640080" y="379476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Bad-channel interpolation + CAR</a:t>
            </a:r>
            <a:endParaRPr lang="en-US" sz="1600" dirty="0"/>
          </a:p>
        </p:txBody>
      </p:sp>
      <p:sp>
        <p:nvSpPr>
          <p:cNvPr id="11" name="Pipeline arrow 2"/>
          <p:cNvSpPr/>
          <p:nvPr/>
        </p:nvSpPr>
        <p:spPr>
          <a:xfrm>
            <a:off x="2514600" y="4178808"/>
            <a:ext cx="0" cy="310896"/>
          </a:xfrm>
          <a:prstGeom prst="line">
            <a:avLst/>
          </a:prstGeom>
          <a:noFill/>
          <a:ln w="19050">
            <a:solidFill>
              <a:srgbClr val="000000"/>
            </a:solidFill>
            <a:prstDash val="solid"/>
            <a:tailEnd type="triangle"/>
          </a:ln>
        </p:spPr>
      </p:sp>
      <p:sp>
        <p:nvSpPr>
          <p:cNvPr id="12" name="Pipeline step 3"/>
          <p:cNvSpPr txBox="1"/>
          <p:nvPr/>
        </p:nvSpPr>
        <p:spPr>
          <a:xfrm>
            <a:off x="640080" y="452628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Epoch 0.05–0.34 s after pair onset</a:t>
            </a:r>
            <a:endParaRPr lang="en-US" sz="1600" dirty="0"/>
          </a:p>
        </p:txBody>
      </p:sp>
      <p:sp>
        <p:nvSpPr>
          <p:cNvPr id="13" name="Pipeline arrow 3"/>
          <p:cNvSpPr/>
          <p:nvPr/>
        </p:nvSpPr>
        <p:spPr>
          <a:xfrm>
            <a:off x="2514600" y="4910328"/>
            <a:ext cx="0" cy="310896"/>
          </a:xfrm>
          <a:prstGeom prst="line">
            <a:avLst/>
          </a:prstGeom>
          <a:noFill/>
          <a:ln w="19050">
            <a:solidFill>
              <a:srgbClr val="000000"/>
            </a:solidFill>
            <a:prstDash val="solid"/>
            <a:tailEnd type="triangle"/>
          </a:ln>
        </p:spPr>
      </p:sp>
      <p:sp>
        <p:nvSpPr>
          <p:cNvPr id="14" name="Pipeline step 4"/>
          <p:cNvSpPr txBox="1"/>
          <p:nvPr/>
        </p:nvSpPr>
        <p:spPr>
          <a:xfrm>
            <a:off x="640080" y="525780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Session- / subject-wise splits (no leakage)</a:t>
            </a:r>
            <a:endParaRPr lang="en-US" sz="1600" dirty="0"/>
          </a:p>
        </p:txBody>
      </p:sp>
      <p:sp>
        <p:nvSpPr>
          <p:cNvPr id="15" name="Table caption"/>
          <p:cNvSpPr txBox="1"/>
          <p:nvPr/>
        </p:nvSpPr>
        <p:spPr>
          <a:xfrm>
            <a:off x="4937760" y="1783080"/>
            <a:ext cx="6720840" cy="594360"/>
          </a:xfrm>
          <a:prstGeom prst="rect">
            <a:avLst/>
          </a:prstGeom>
          <a:noFill/>
          <a:ln/>
        </p:spPr>
        <p:txBody>
          <a:bodyPr wrap="square" lIns="0" tIns="0" rIns="0" bIns="0" rtlCol="0" anchor="t"/>
          <a:lstStyle/>
          <a:p>
            <a:pPr indent="0" marL="0">
              <a:buNone/>
            </a:pPr>
            <a:r>
              <a:rPr lang="en-US" sz="1400" b="1" dirty="0">
                <a:solidFill>
                  <a:schemeClr val="tx1"/>
                </a:solidFill>
              </a:rPr>
              <a:t>Table 1. </a:t>
            </a:r>
            <a:pPr indent="0" marL="0">
              <a:buNone/>
            </a:pPr>
            <a:r>
              <a:rPr lang="en-US" sz="1400" dirty="0">
                <a:solidFill>
                  <a:schemeClr val="tx1"/>
                </a:solidFill>
              </a:rPr>
              <a:t>Single-trial accuracy (%), mean ± std over 28 subjects (chance 50%)</a:t>
            </a:r>
            <a:endParaRPr lang="en-US" sz="1400" dirty="0"/>
          </a:p>
        </p:txBody>
      </p:sp>
      <p:graphicFrame>
        <p:nvGraphicFramePr>
          <p:cNvPr id="8" name="Baseline table"/>
          <p:cNvGraphicFramePr>
            <a:graphicFrameLocks noGrp="1"/>
          </p:cNvGraphicFramePr>
          <p:nvPr>
            <p:extLst>
              <p:ext uri="{D42A27DB-BD31-4B8C-83A1-F6EECF244321}">
                <p14:modId xmlns:p14="http://schemas.microsoft.com/office/powerpoint/2010/main" val="1579011935"/>
              </p:ext>
            </p:extLst>
          </p:nvPr>
        </p:nvGraphicFramePr>
        <p:xfrm>
          <a:off x="4937760" y="2423160"/>
          <a:ext cx="6720840" cy="914400"/>
        </p:xfrm>
        <a:graphic>
          <a:graphicData uri="http://schemas.openxmlformats.org/drawingml/2006/table">
            <a:tbl>
              <a:tblPr/>
              <a:tblGrid>
                <a:gridCol w="1463040"/>
                <a:gridCol w="1874520"/>
                <a:gridCol w="1691640"/>
                <a:gridCol w="1691640"/>
              </a:tblGrid>
              <a:tr h="457200">
                <a:tc>
                  <a:txBody>
                    <a:bodyPr/>
                    <a:lstStyle/>
                    <a:p>
                      <a:pPr algn="l" indent="0" marL="0">
                        <a:buNone/>
                      </a:pPr>
                      <a:r>
                        <a:rPr lang="en-US" sz="1600" b="1" dirty="0">
                          <a:solidFill>
                            <a:srgbClr val="000000"/>
                          </a:solidFill>
                          <a:latin typeface="Times New Roman" pitchFamily="34" charset="0"/>
                          <a:ea typeface="Times New Roman" pitchFamily="34" charset="-122"/>
                          <a:cs typeface="Times New Roman" pitchFamily="34" charset="-120"/>
                        </a:rPr>
                        <a:t>Method</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000000"/>
                          </a:solidFill>
                          <a:latin typeface="Times New Roman" pitchFamily="34" charset="0"/>
                          <a:ea typeface="Times New Roman" pitchFamily="34" charset="-122"/>
                          <a:cs typeface="Times New Roman" pitchFamily="34" charset="-120"/>
                        </a:rPr>
                        <a:t>Within-subject</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000000"/>
                          </a:solidFill>
                          <a:latin typeface="Times New Roman" pitchFamily="34" charset="0"/>
                          <a:ea typeface="Times New Roman" pitchFamily="34" charset="-122"/>
                          <a:cs typeface="Times New Roman" pitchFamily="34" charset="-120"/>
                        </a:rPr>
                        <a:t>Pooled</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000000"/>
                          </a:solidFill>
                          <a:latin typeface="Times New Roman" pitchFamily="34" charset="0"/>
                          <a:ea typeface="Times New Roman" pitchFamily="34" charset="-122"/>
                          <a:cs typeface="Times New Roman" pitchFamily="34" charset="-120"/>
                        </a:rPr>
                        <a:t>LOSO</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45720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DCPM [1]</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72.57 ± 9.34</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63.21 ± 6.76</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60.34 ± 7.31</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EEGNet [2]</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A00000"/>
                          </a:solidFill>
                          <a:latin typeface="Times New Roman" pitchFamily="34" charset="0"/>
                          <a:ea typeface="Times New Roman" pitchFamily="34" charset="-122"/>
                          <a:cs typeface="Times New Roman" pitchFamily="34" charset="-120"/>
                        </a:rPr>
                        <a:t>74.40 ± 8.46</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A00000"/>
                          </a:solidFill>
                          <a:latin typeface="Times New Roman" pitchFamily="34" charset="0"/>
                          <a:ea typeface="Times New Roman" pitchFamily="34" charset="-122"/>
                          <a:cs typeface="Times New Roman" pitchFamily="34" charset="-120"/>
                        </a:rPr>
                        <a:t>66.73 ± 8.59</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A00000"/>
                          </a:solidFill>
                          <a:latin typeface="Times New Roman" pitchFamily="34" charset="0"/>
                          <a:ea typeface="Times New Roman" pitchFamily="34" charset="-122"/>
                          <a:cs typeface="Times New Roman" pitchFamily="34" charset="-120"/>
                        </a:rPr>
                        <a:t>62.26 ± 7.88</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17" name="Protocols"/>
          <p:cNvSpPr txBox="1"/>
          <p:nvPr/>
        </p:nvSpPr>
        <p:spPr>
          <a:xfrm>
            <a:off x="4937760" y="3977640"/>
            <a:ext cx="6720840" cy="10058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Within-subject: </a:t>
            </a:r>
            <a:pPr indent="0" marL="0">
              <a:spcAft>
                <a:spcPts val="400"/>
              </a:spcAft>
              <a:buNone/>
            </a:pPr>
            <a:r>
              <a:rPr lang="en-US" sz="1600" dirty="0">
                <a:solidFill>
                  <a:schemeClr val="tx1"/>
                </a:solidFill>
              </a:rPr>
              <a:t>leave-one-session-out, per subject</a:t>
            </a:r>
            <a:endParaRPr lang="en-US" sz="1600" dirty="0"/>
          </a:p>
          <a:p>
            <a:pPr indent="0" marL="0">
              <a:spcAft>
                <a:spcPts val="400"/>
              </a:spcAft>
              <a:buNone/>
            </a:pPr>
            <a:r>
              <a:rPr lang="en-US" sz="1600" b="1" dirty="0">
                <a:solidFill>
                  <a:schemeClr val="tx1"/>
                </a:solidFill>
              </a:rPr>
              <a:t>Pooled: </a:t>
            </a:r>
            <a:pPr indent="0" marL="0">
              <a:spcAft>
                <a:spcPts val="400"/>
              </a:spcAft>
              <a:buNone/>
            </a:pPr>
            <a:r>
              <a:rPr lang="en-US" sz="1600" dirty="0">
                <a:solidFill>
                  <a:schemeClr val="tx1"/>
                </a:solidFill>
              </a:rPr>
              <a:t>all subjects, leave-one-session-out</a:t>
            </a:r>
            <a:endParaRPr lang="en-US" sz="1600" dirty="0"/>
          </a:p>
          <a:p>
            <a:pPr indent="0" marL="0">
              <a:spcAft>
                <a:spcPts val="400"/>
              </a:spcAft>
              <a:buNone/>
            </a:pPr>
            <a:r>
              <a:rPr lang="en-US" sz="1600" b="1" dirty="0">
                <a:solidFill>
                  <a:schemeClr val="tx1"/>
                </a:solidFill>
              </a:rPr>
              <a:t>LOSO: </a:t>
            </a:r>
            <a:pPr indent="0" marL="0">
              <a:spcAft>
                <a:spcPts val="400"/>
              </a:spcAft>
              <a:buNone/>
            </a:pPr>
            <a:r>
              <a:rPr lang="en-US" sz="1600" dirty="0">
                <a:solidFill>
                  <a:schemeClr val="tx1"/>
                </a:solidFill>
              </a:rPr>
              <a:t>leave-one-subject-out (cross-subject)</a:t>
            </a:r>
            <a:endParaRPr lang="en-US" sz="1600" dirty="0"/>
          </a:p>
        </p:txBody>
      </p:sp>
      <p:sp>
        <p:nvSpPr>
          <p:cNvPr id="18" name="Finding"/>
          <p:cNvSpPr txBox="1"/>
          <p:nvPr/>
        </p:nvSpPr>
        <p:spPr>
          <a:xfrm>
            <a:off x="4937760" y="5166360"/>
            <a:ext cx="6720840" cy="731520"/>
          </a:xfrm>
          <a:prstGeom prst="rect">
            <a:avLst/>
          </a:prstGeom>
          <a:noFill/>
          <a:ln/>
        </p:spPr>
        <p:txBody>
          <a:bodyPr wrap="square" lIns="0" tIns="0" rIns="0" bIns="0" rtlCol="0" anchor="t"/>
          <a:lstStyle/>
          <a:p>
            <a:pPr indent="0" marL="0">
              <a:buNone/>
            </a:pPr>
            <a:r>
              <a:rPr lang="en-US" sz="1800" dirty="0">
                <a:solidFill>
                  <a:schemeClr val="accent1"/>
                </a:solidFill>
              </a:rPr>
              <a:t>Finding: accuracy drops by ≈ 12 points from within-subject to cross-subject, which motivates Chapters 1 and 2.</a:t>
            </a:r>
            <a:endParaRPr lang="en-US" sz="1800" dirty="0"/>
          </a:p>
        </p:txBody>
      </p:sp>
      <p:sp>
        <p:nvSpPr>
          <p:cNvPr id="19" name="Reference"/>
          <p:cNvSpPr txBox="1"/>
          <p:nvPr/>
        </p:nvSpPr>
        <p:spPr>
          <a:xfrm>
            <a:off x="320040" y="6355080"/>
            <a:ext cx="10607040" cy="365760"/>
          </a:xfrm>
          <a:prstGeom prst="rect">
            <a:avLst/>
          </a:prstGeom>
          <a:noFill/>
          <a:ln/>
        </p:spPr>
        <p:txBody>
          <a:bodyPr wrap="square" lIns="0" tIns="0" rIns="0" bIns="0" rtlCol="0" anchor="b"/>
          <a:lstStyle/>
          <a:p>
            <a:pPr indent="0" marL="0">
              <a:buNone/>
            </a:pPr>
            <a:r>
              <a:rPr lang="en-US" sz="1200" dirty="0">
                <a:solidFill>
                  <a:schemeClr val="accent3"/>
                </a:solidFill>
              </a:rPr>
              <a:t>[1] Xu et al., IEEE TBME, 2018.   [2] V. J. Lawhern et al. EEGNet: a compact convolutional neural network for EEG-based brain–computer interfaces. J. Neural Eng., 2018.</a:t>
            </a:r>
            <a:endParaRPr lang="en-US" sz="12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2 Research Progress and Stage Achievements</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 1 · RED: learn from multi-trial averages during training; a plain EEGNet at inference</a:t>
            </a:r>
            <a:endParaRPr lang="en-US" sz="1700" dirty="0"/>
          </a:p>
        </p:txBody>
      </p:sp>
      <p:sp>
        <p:nvSpPr>
          <p:cNvPr id="4" name="Stage 1"/>
          <p:cNvSpPr/>
          <p:nvPr/>
        </p:nvSpPr>
        <p:spPr>
          <a:xfrm>
            <a:off x="411480" y="1600200"/>
            <a:ext cx="8092440" cy="1097280"/>
          </a:xfrm>
          <a:prstGeom prst="rect">
            <a:avLst/>
          </a:prstGeom>
          <a:solidFill>
            <a:srgbClr val="F2F2F2"/>
          </a:solidFill>
          <a:ln/>
        </p:spPr>
      </p:sp>
      <p:sp>
        <p:nvSpPr>
          <p:cNvPr id="5" name="Stage 1 label"/>
          <p:cNvSpPr txBox="1"/>
          <p:nvPr/>
        </p:nvSpPr>
        <p:spPr>
          <a:xfrm>
            <a:off x="521208" y="1645920"/>
            <a:ext cx="7872984" cy="274320"/>
          </a:xfrm>
          <a:prstGeom prst="rect">
            <a:avLst/>
          </a:prstGeom>
          <a:noFill/>
          <a:ln/>
        </p:spPr>
        <p:txBody>
          <a:bodyPr wrap="square" lIns="0" tIns="0" rIns="0" bIns="0" rtlCol="0" anchor="ctr"/>
          <a:lstStyle/>
          <a:p>
            <a:pPr indent="0" marL="0">
              <a:buNone/>
            </a:pPr>
            <a:r>
              <a:rPr lang="en-US" sz="1300" b="1" dirty="0">
                <a:solidFill>
                  <a:schemeClr val="tx1"/>
                </a:solidFill>
              </a:rPr>
              <a:t>Stage 1 · Averaged-input teacher (training only)</a:t>
            </a:r>
            <a:endParaRPr lang="en-US" sz="1300" dirty="0"/>
          </a:p>
        </p:txBody>
      </p:sp>
      <p:sp>
        <p:nvSpPr>
          <p:cNvPr id="6" name="Averaging group"/>
          <p:cNvSpPr/>
          <p:nvPr/>
        </p:nvSpPr>
        <p:spPr>
          <a:xfrm>
            <a:off x="548640" y="1984248"/>
            <a:ext cx="1828800" cy="59436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300" b="1" dirty="0">
                <a:solidFill>
                  <a:srgbClr val="000000"/>
                </a:solidFill>
              </a:rPr>
              <a:t>Averaging group</a:t>
            </a:r>
            <a:endParaRPr lang="en-US" sz="1300" dirty="0"/>
          </a:p>
          <a:p>
            <a:pPr algn="ctr" indent="0" marL="0">
              <a:buNone/>
            </a:pPr>
            <a:r>
              <a:rPr lang="en-US" sz="1150" dirty="0">
                <a:solidFill>
                  <a:srgbClr val="262626"/>
                </a:solidFill>
              </a:rPr>
              <a:t>same subject, session,</a:t>
            </a:r>
            <a:endParaRPr lang="en-US" sz="1300" dirty="0"/>
          </a:p>
          <a:p>
            <a:pPr algn="ctr" indent="0" marL="0">
              <a:buNone/>
            </a:pPr>
            <a:r>
              <a:rPr lang="en-US" sz="1150" dirty="0">
                <a:solidFill>
                  <a:srgbClr val="262626"/>
                </a:solidFill>
              </a:rPr>
              <a:t>character and bit</a:t>
            </a:r>
            <a:endParaRPr lang="en-US" sz="1300" dirty="0"/>
          </a:p>
        </p:txBody>
      </p:sp>
      <p:sp>
        <p:nvSpPr>
          <p:cNvPr id="7" name="k-trial average"/>
          <p:cNvSpPr/>
          <p:nvPr/>
        </p:nvSpPr>
        <p:spPr>
          <a:xfrm>
            <a:off x="2697480" y="1984248"/>
            <a:ext cx="1828800" cy="59436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300" b="1" dirty="0">
                <a:solidFill>
                  <a:srgbClr val="000000"/>
                </a:solidFill>
              </a:rPr>
              <a:t>k-trial average a</a:t>
            </a:r>
            <a:endParaRPr lang="en-US" sz="1300" dirty="0"/>
          </a:p>
          <a:p>
            <a:pPr algn="ctr" indent="0" marL="0">
              <a:buNone/>
            </a:pPr>
            <a:r>
              <a:rPr lang="en-US" sz="1150" dirty="0">
                <a:solidFill>
                  <a:srgbClr val="262626"/>
                </a:solidFill>
              </a:rPr>
              <a:t>k ∈ {2, 3, 6}</a:t>
            </a:r>
            <a:endParaRPr lang="en-US" sz="1300" dirty="0"/>
          </a:p>
        </p:txBody>
      </p:sp>
      <p:sp>
        <p:nvSpPr>
          <p:cNvPr id="8" name="Teacher"/>
          <p:cNvSpPr/>
          <p:nvPr/>
        </p:nvSpPr>
        <p:spPr>
          <a:xfrm>
            <a:off x="4846320" y="1984248"/>
            <a:ext cx="1508760" cy="59436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300" b="1" dirty="0">
                <a:solidFill>
                  <a:srgbClr val="000000"/>
                </a:solidFill>
              </a:rPr>
              <a:t>Teacher EEGNet</a:t>
            </a:r>
            <a:endParaRPr lang="en-US" sz="1300" dirty="0"/>
          </a:p>
          <a:p>
            <a:pPr algn="ctr" indent="0" marL="0">
              <a:buNone/>
            </a:pPr>
            <a:r>
              <a:rPr lang="en-US" sz="1150" dirty="0">
                <a:solidFill>
                  <a:srgbClr val="262626"/>
                </a:solidFill>
              </a:rPr>
              <a:t>trained on averages</a:t>
            </a:r>
            <a:endParaRPr lang="en-US" sz="1300" dirty="0"/>
          </a:p>
        </p:txBody>
      </p:sp>
      <p:sp>
        <p:nvSpPr>
          <p:cNvPr id="9" name="Frozen teacher"/>
          <p:cNvSpPr/>
          <p:nvPr/>
        </p:nvSpPr>
        <p:spPr>
          <a:xfrm>
            <a:off x="6675120" y="1984248"/>
            <a:ext cx="1691640" cy="594360"/>
          </a:xfrm>
          <a:prstGeom prst="rect">
            <a:avLst/>
          </a:prstGeom>
          <a:solidFill>
            <a:srgbClr val="FFFFFF"/>
          </a:solidFill>
          <a:ln w="12700">
            <a:solidFill>
              <a:srgbClr val="A00000"/>
            </a:solidFill>
            <a:prstDash val="solid"/>
          </a:ln>
        </p:spPr>
        <p:txBody>
          <a:bodyPr wrap="square" lIns="25400" tIns="25400" rIns="25400" bIns="25400" rtlCol="0" anchor="ctr"/>
          <a:lstStyle/>
          <a:p>
            <a:pPr algn="ctr" indent="0" marL="0">
              <a:buNone/>
            </a:pPr>
            <a:r>
              <a:rPr lang="en-US" sz="1300" b="1" dirty="0">
                <a:solidFill>
                  <a:srgbClr val="000000"/>
                </a:solidFill>
              </a:rPr>
              <a:t>Frozen teacher T</a:t>
            </a:r>
            <a:endParaRPr lang="en-US" sz="1300" dirty="0"/>
          </a:p>
          <a:p>
            <a:pPr algn="ctr" indent="0" marL="0">
              <a:buNone/>
            </a:pPr>
            <a:r>
              <a:rPr lang="en-US" sz="1150" dirty="0">
                <a:solidFill>
                  <a:srgbClr val="262626"/>
                </a:solidFill>
              </a:rPr>
              <a:t>reused in Stage 2</a:t>
            </a:r>
            <a:endParaRPr lang="en-US" sz="1300" dirty="0"/>
          </a:p>
        </p:txBody>
      </p:sp>
      <p:sp>
        <p:nvSpPr>
          <p:cNvPr id="10" name="S1 arrow 1"/>
          <p:cNvSpPr/>
          <p:nvPr/>
        </p:nvSpPr>
        <p:spPr>
          <a:xfrm>
            <a:off x="2377440" y="2281428"/>
            <a:ext cx="320040" cy="0"/>
          </a:xfrm>
          <a:prstGeom prst="line">
            <a:avLst/>
          </a:prstGeom>
          <a:noFill/>
          <a:ln w="15875">
            <a:solidFill>
              <a:srgbClr val="000000"/>
            </a:solidFill>
            <a:prstDash val="solid"/>
            <a:tailEnd type="triangle"/>
          </a:ln>
        </p:spPr>
      </p:sp>
      <p:sp>
        <p:nvSpPr>
          <p:cNvPr id="11" name="S1 arrow 2"/>
          <p:cNvSpPr/>
          <p:nvPr/>
        </p:nvSpPr>
        <p:spPr>
          <a:xfrm>
            <a:off x="4526280" y="2281428"/>
            <a:ext cx="320040" cy="0"/>
          </a:xfrm>
          <a:prstGeom prst="line">
            <a:avLst/>
          </a:prstGeom>
          <a:noFill/>
          <a:ln w="15875">
            <a:solidFill>
              <a:srgbClr val="000000"/>
            </a:solidFill>
            <a:prstDash val="solid"/>
            <a:tailEnd type="triangle"/>
          </a:ln>
        </p:spPr>
      </p:sp>
      <p:sp>
        <p:nvSpPr>
          <p:cNvPr id="12" name="S1 arrow 3"/>
          <p:cNvSpPr/>
          <p:nvPr/>
        </p:nvSpPr>
        <p:spPr>
          <a:xfrm>
            <a:off x="6355080" y="2281428"/>
            <a:ext cx="320040" cy="0"/>
          </a:xfrm>
          <a:prstGeom prst="line">
            <a:avLst/>
          </a:prstGeom>
          <a:noFill/>
          <a:ln w="15875">
            <a:solidFill>
              <a:srgbClr val="000000"/>
            </a:solidFill>
            <a:prstDash val="solid"/>
            <a:tailEnd type="triangle"/>
          </a:ln>
        </p:spPr>
      </p:sp>
      <p:sp>
        <p:nvSpPr>
          <p:cNvPr id="13" name="Stage 2"/>
          <p:cNvSpPr/>
          <p:nvPr/>
        </p:nvSpPr>
        <p:spPr>
          <a:xfrm>
            <a:off x="411480" y="2816352"/>
            <a:ext cx="8092440" cy="2441448"/>
          </a:xfrm>
          <a:prstGeom prst="rect">
            <a:avLst/>
          </a:prstGeom>
          <a:solidFill>
            <a:srgbClr val="F2F2F2"/>
          </a:solidFill>
          <a:ln/>
        </p:spPr>
      </p:sp>
      <p:sp>
        <p:nvSpPr>
          <p:cNvPr id="14" name="Stage 2 label"/>
          <p:cNvSpPr txBox="1"/>
          <p:nvPr/>
        </p:nvSpPr>
        <p:spPr>
          <a:xfrm>
            <a:off x="521208" y="2862072"/>
            <a:ext cx="7872984" cy="274320"/>
          </a:xfrm>
          <a:prstGeom prst="rect">
            <a:avLst/>
          </a:prstGeom>
          <a:noFill/>
          <a:ln/>
        </p:spPr>
        <p:txBody>
          <a:bodyPr wrap="square" lIns="0" tIns="0" rIns="0" bIns="0" rtlCol="0" anchor="ctr"/>
          <a:lstStyle/>
          <a:p>
            <a:pPr indent="0" marL="0">
              <a:buNone/>
            </a:pPr>
            <a:r>
              <a:rPr lang="en-US" sz="1300" b="1" dirty="0">
                <a:solidFill>
                  <a:schemeClr val="tx1"/>
                </a:solidFill>
              </a:rPr>
              <a:t>Stage 2 · Student training on single trials</a:t>
            </a:r>
            <a:endParaRPr lang="en-US" sz="1300" dirty="0"/>
          </a:p>
        </p:txBody>
      </p:sp>
      <p:sp>
        <p:nvSpPr>
          <p:cNvPr id="15" name="Single trial"/>
          <p:cNvSpPr/>
          <p:nvPr/>
        </p:nvSpPr>
        <p:spPr>
          <a:xfrm>
            <a:off x="548640" y="3172968"/>
            <a:ext cx="1828800" cy="54864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300" b="1" dirty="0">
                <a:solidFill>
                  <a:srgbClr val="000000"/>
                </a:solidFill>
              </a:rPr>
              <a:t>Single trial x</a:t>
            </a:r>
            <a:endParaRPr lang="en-US" sz="1300" dirty="0"/>
          </a:p>
          <a:p>
            <a:pPr algn="ctr" indent="0" marL="0">
              <a:buNone/>
            </a:pPr>
            <a:r>
              <a:rPr lang="en-US" sz="1150" dirty="0">
                <a:solidFill>
                  <a:srgbClr val="262626"/>
                </a:solidFill>
              </a:rPr>
              <a:t>21 channels × 58 samples</a:t>
            </a:r>
            <a:endParaRPr lang="en-US" sz="1300" dirty="0"/>
          </a:p>
        </p:txBody>
      </p:sp>
      <p:sp>
        <p:nvSpPr>
          <p:cNvPr id="16" name="Encoder"/>
          <p:cNvSpPr/>
          <p:nvPr/>
        </p:nvSpPr>
        <p:spPr>
          <a:xfrm>
            <a:off x="2697480" y="3172968"/>
            <a:ext cx="1828800" cy="54864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300" b="1" dirty="0">
                <a:solidFill>
                  <a:srgbClr val="000000"/>
                </a:solidFill>
              </a:rPr>
              <a:t>EEGNet encoder</a:t>
            </a:r>
            <a:endParaRPr lang="en-US" sz="1300" dirty="0"/>
          </a:p>
          <a:p>
            <a:pPr algn="ctr" indent="0" marL="0">
              <a:buNone/>
            </a:pPr>
            <a:r>
              <a:rPr lang="en-US" sz="1150" dirty="0">
                <a:solidFill>
                  <a:srgbClr val="262626"/>
                </a:solidFill>
              </a:rPr>
              <a:t>temporal + spatial filters</a:t>
            </a:r>
            <a:endParaRPr lang="en-US" sz="1300" dirty="0"/>
          </a:p>
        </p:txBody>
      </p:sp>
      <p:sp>
        <p:nvSpPr>
          <p:cNvPr id="17" name="Classifier"/>
          <p:cNvSpPr/>
          <p:nvPr/>
        </p:nvSpPr>
        <p:spPr>
          <a:xfrm>
            <a:off x="4846320" y="3172968"/>
            <a:ext cx="1508760" cy="54864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300" b="1" dirty="0">
                <a:solidFill>
                  <a:srgbClr val="000000"/>
                </a:solidFill>
              </a:rPr>
              <a:t>Classifier</a:t>
            </a:r>
            <a:endParaRPr lang="en-US" sz="1300" dirty="0"/>
          </a:p>
          <a:p>
            <a:pPr algn="ctr" indent="0" marL="0">
              <a:buNone/>
            </a:pPr>
            <a:r>
              <a:rPr lang="en-US" sz="1150" dirty="0">
                <a:solidFill>
                  <a:srgbClr val="262626"/>
                </a:solidFill>
              </a:rPr>
              <a:t>student logits</a:t>
            </a:r>
            <a:endParaRPr lang="en-US" sz="1300" dirty="0"/>
          </a:p>
        </p:txBody>
      </p:sp>
      <p:sp>
        <p:nvSpPr>
          <p:cNvPr id="18" name="L_CE"/>
          <p:cNvSpPr/>
          <p:nvPr/>
        </p:nvSpPr>
        <p:spPr>
          <a:xfrm>
            <a:off x="6675120" y="3172968"/>
            <a:ext cx="1691640" cy="548640"/>
          </a:xfrm>
          <a:prstGeom prst="rect">
            <a:avLst/>
          </a:prstGeom>
          <a:solidFill>
            <a:srgbClr val="FBEDED"/>
          </a:solidFill>
          <a:ln w="12700">
            <a:solidFill>
              <a:srgbClr val="A00000"/>
            </a:solidFill>
            <a:prstDash val="solid"/>
          </a:ln>
        </p:spPr>
        <p:txBody>
          <a:bodyPr wrap="square" lIns="25400" tIns="25400" rIns="25400" bIns="25400" rtlCol="0" anchor="ctr"/>
          <a:lstStyle/>
          <a:p>
            <a:pPr algn="ctr" indent="0" marL="0">
              <a:buNone/>
            </a:pPr>
            <a:r>
              <a:rPr lang="en-US" sz="1300" b="1" dirty="0">
                <a:solidFill>
                  <a:srgbClr val="000000"/>
                </a:solidFill>
              </a:rPr>
              <a:t>L</a:t>
            </a:r>
            <a:pPr algn="ctr" indent="0" marL="0">
              <a:buNone/>
            </a:pPr>
            <a:r>
              <a:rPr lang="en-US" sz="1300" b="1" baseline="-40000" dirty="0">
                <a:solidFill>
                  <a:srgbClr val="000000"/>
                </a:solidFill>
              </a:rPr>
              <a:t>CE</a:t>
            </a:r>
            <a:endParaRPr lang="en-US" sz="1300" dirty="0"/>
          </a:p>
          <a:p>
            <a:pPr algn="ctr" indent="0" marL="0">
              <a:buNone/>
            </a:pPr>
            <a:r>
              <a:rPr lang="en-US" sz="1150" dirty="0">
                <a:solidFill>
                  <a:srgbClr val="262626"/>
                </a:solidFill>
              </a:rPr>
              <a:t>single-trial label y</a:t>
            </a:r>
            <a:endParaRPr lang="en-US" sz="1300" dirty="0"/>
          </a:p>
        </p:txBody>
      </p:sp>
      <p:sp>
        <p:nvSpPr>
          <p:cNvPr id="19" name="Decoder"/>
          <p:cNvSpPr/>
          <p:nvPr/>
        </p:nvSpPr>
        <p:spPr>
          <a:xfrm>
            <a:off x="2697480" y="3904488"/>
            <a:ext cx="1828800" cy="548640"/>
          </a:xfrm>
          <a:prstGeom prst="rect">
            <a:avLst/>
          </a:prstGeom>
          <a:solidFill>
            <a:srgbClr val="FFFFFF"/>
          </a:solidFill>
          <a:ln w="12700">
            <a:solidFill>
              <a:srgbClr val="000000"/>
            </a:solidFill>
            <a:prstDash val="dash"/>
          </a:ln>
        </p:spPr>
        <p:txBody>
          <a:bodyPr wrap="square" lIns="25400" tIns="25400" rIns="25400" bIns="25400" rtlCol="0" anchor="ctr"/>
          <a:lstStyle/>
          <a:p>
            <a:pPr algn="ctr" indent="0" marL="0">
              <a:buNone/>
            </a:pPr>
            <a:r>
              <a:rPr lang="en-US" sz="1300" b="1" dirty="0">
                <a:solidFill>
                  <a:srgbClr val="000000"/>
                </a:solidFill>
              </a:rPr>
              <a:t>Linear ERP decoder</a:t>
            </a:r>
            <a:endParaRPr lang="en-US" sz="1300" dirty="0"/>
          </a:p>
          <a:p>
            <a:pPr algn="ctr" indent="0" marL="0">
              <a:buNone/>
            </a:pPr>
            <a:r>
              <a:rPr lang="en-US" sz="1150" dirty="0">
                <a:solidFill>
                  <a:srgbClr val="262626"/>
                </a:solidFill>
              </a:rPr>
              <a:t>training only</a:t>
            </a:r>
            <a:endParaRPr lang="en-US" sz="1300" dirty="0"/>
          </a:p>
        </p:txBody>
      </p:sp>
      <p:sp>
        <p:nvSpPr>
          <p:cNvPr id="20" name="Reconstruction"/>
          <p:cNvSpPr/>
          <p:nvPr/>
        </p:nvSpPr>
        <p:spPr>
          <a:xfrm>
            <a:off x="4846320" y="3904488"/>
            <a:ext cx="1508760" cy="54864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300" b="1" dirty="0">
                <a:solidFill>
                  <a:srgbClr val="000000"/>
                </a:solidFill>
              </a:rPr>
              <a:t>Reconstruction x̂</a:t>
            </a:r>
            <a:endParaRPr lang="en-US" sz="1300" dirty="0"/>
          </a:p>
          <a:p>
            <a:pPr algn="ctr" indent="0" marL="0">
              <a:buNone/>
            </a:pPr>
            <a:r>
              <a:rPr lang="en-US" sz="1150" dirty="0">
                <a:solidFill>
                  <a:srgbClr val="262626"/>
                </a:solidFill>
              </a:rPr>
              <a:t>channels × time</a:t>
            </a:r>
            <a:endParaRPr lang="en-US" sz="1300" dirty="0"/>
          </a:p>
        </p:txBody>
      </p:sp>
      <p:sp>
        <p:nvSpPr>
          <p:cNvPr id="21" name="L_N2N"/>
          <p:cNvSpPr/>
          <p:nvPr/>
        </p:nvSpPr>
        <p:spPr>
          <a:xfrm>
            <a:off x="6675120" y="3904488"/>
            <a:ext cx="1691640" cy="548640"/>
          </a:xfrm>
          <a:prstGeom prst="rect">
            <a:avLst/>
          </a:prstGeom>
          <a:solidFill>
            <a:srgbClr val="FBEDED"/>
          </a:solidFill>
          <a:ln w="12700">
            <a:solidFill>
              <a:srgbClr val="A00000"/>
            </a:solidFill>
            <a:prstDash val="solid"/>
          </a:ln>
        </p:spPr>
        <p:txBody>
          <a:bodyPr wrap="square" lIns="25400" tIns="25400" rIns="25400" bIns="25400" rtlCol="0" anchor="ctr"/>
          <a:lstStyle/>
          <a:p>
            <a:pPr algn="ctr" indent="0" marL="0">
              <a:buNone/>
            </a:pPr>
            <a:r>
              <a:rPr lang="en-US" sz="1300" b="1" dirty="0">
                <a:solidFill>
                  <a:srgbClr val="000000"/>
                </a:solidFill>
              </a:rPr>
              <a:t>L</a:t>
            </a:r>
            <a:pPr algn="ctr" indent="0" marL="0">
              <a:buNone/>
            </a:pPr>
            <a:r>
              <a:rPr lang="en-US" sz="1300" b="1" baseline="-40000" dirty="0">
                <a:solidFill>
                  <a:srgbClr val="000000"/>
                </a:solidFill>
              </a:rPr>
              <a:t>N2N</a:t>
            </a:r>
            <a:pPr algn="ctr" indent="0" marL="0">
              <a:buNone/>
            </a:pPr>
            <a:r>
              <a:rPr lang="en-US" sz="1300" b="1" dirty="0">
                <a:solidFill>
                  <a:srgbClr val="000000"/>
                </a:solidFill>
              </a:rPr>
              <a:t> = ‖x̂ − ā‖</a:t>
            </a:r>
            <a:pPr algn="ctr" indent="0" marL="0">
              <a:buNone/>
            </a:pPr>
            <a:r>
              <a:rPr lang="en-US" sz="1300" b="1" baseline="30000" dirty="0">
                <a:solidFill>
                  <a:srgbClr val="000000"/>
                </a:solidFill>
              </a:rPr>
              <a:t>2</a:t>
            </a:r>
            <a:endParaRPr lang="en-US" sz="1300" dirty="0"/>
          </a:p>
          <a:p>
            <a:pPr algn="ctr" indent="0" marL="0">
              <a:buNone/>
            </a:pPr>
            <a:r>
              <a:rPr lang="en-US" sz="1150" dirty="0">
                <a:solidFill>
                  <a:srgbClr val="262626"/>
                </a:solidFill>
              </a:rPr>
              <a:t>ā: group average without x</a:t>
            </a:r>
            <a:endParaRPr lang="en-US" sz="1300" dirty="0"/>
          </a:p>
        </p:txBody>
      </p:sp>
      <p:sp>
        <p:nvSpPr>
          <p:cNvPr id="22" name="Frozen teacher 2"/>
          <p:cNvSpPr/>
          <p:nvPr/>
        </p:nvSpPr>
        <p:spPr>
          <a:xfrm>
            <a:off x="4846320" y="4617720"/>
            <a:ext cx="1508760" cy="548640"/>
          </a:xfrm>
          <a:prstGeom prst="rect">
            <a:avLst/>
          </a:prstGeom>
          <a:solidFill>
            <a:srgbClr val="FFFFFF"/>
          </a:solidFill>
          <a:ln w="12700">
            <a:solidFill>
              <a:srgbClr val="A00000"/>
            </a:solidFill>
            <a:prstDash val="solid"/>
          </a:ln>
        </p:spPr>
        <p:txBody>
          <a:bodyPr wrap="square" lIns="25400" tIns="25400" rIns="25400" bIns="25400" rtlCol="0" anchor="ctr"/>
          <a:lstStyle/>
          <a:p>
            <a:pPr algn="ctr" indent="0" marL="0">
              <a:buNone/>
            </a:pPr>
            <a:r>
              <a:rPr lang="en-US" sz="1300" b="1" dirty="0">
                <a:solidFill>
                  <a:srgbClr val="000000"/>
                </a:solidFill>
              </a:rPr>
              <a:t>Frozen teacher T</a:t>
            </a:r>
            <a:endParaRPr lang="en-US" sz="1300" dirty="0"/>
          </a:p>
          <a:p>
            <a:pPr algn="ctr" indent="0" marL="0">
              <a:buNone/>
            </a:pPr>
            <a:r>
              <a:rPr lang="en-US" sz="1150" dirty="0">
                <a:solidFill>
                  <a:srgbClr val="262626"/>
                </a:solidFill>
              </a:rPr>
              <a:t>judges x̂</a:t>
            </a:r>
            <a:endParaRPr lang="en-US" sz="1300" dirty="0"/>
          </a:p>
        </p:txBody>
      </p:sp>
      <p:sp>
        <p:nvSpPr>
          <p:cNvPr id="23" name="L_critic"/>
          <p:cNvSpPr/>
          <p:nvPr/>
        </p:nvSpPr>
        <p:spPr>
          <a:xfrm>
            <a:off x="6675120" y="4617720"/>
            <a:ext cx="1691640" cy="548640"/>
          </a:xfrm>
          <a:prstGeom prst="rect">
            <a:avLst/>
          </a:prstGeom>
          <a:solidFill>
            <a:srgbClr val="FBEDED"/>
          </a:solidFill>
          <a:ln w="12700">
            <a:solidFill>
              <a:srgbClr val="A00000"/>
            </a:solidFill>
            <a:prstDash val="solid"/>
          </a:ln>
        </p:spPr>
        <p:txBody>
          <a:bodyPr wrap="square" lIns="25400" tIns="25400" rIns="25400" bIns="25400" rtlCol="0" anchor="ctr"/>
          <a:lstStyle/>
          <a:p>
            <a:pPr algn="ctr" indent="0" marL="0">
              <a:buNone/>
            </a:pPr>
            <a:r>
              <a:rPr lang="en-US" sz="1300" b="1" dirty="0">
                <a:solidFill>
                  <a:srgbClr val="000000"/>
                </a:solidFill>
              </a:rPr>
              <a:t>L</a:t>
            </a:r>
            <a:pPr algn="ctr" indent="0" marL="0">
              <a:buNone/>
            </a:pPr>
            <a:r>
              <a:rPr lang="en-US" sz="1300" b="1" baseline="-40000" dirty="0">
                <a:solidFill>
                  <a:srgbClr val="000000"/>
                </a:solidFill>
              </a:rPr>
              <a:t>critic</a:t>
            </a:r>
            <a:endParaRPr lang="en-US" sz="1300" dirty="0"/>
          </a:p>
          <a:p>
            <a:pPr algn="ctr" indent="0" marL="0">
              <a:buNone/>
            </a:pPr>
            <a:r>
              <a:rPr lang="en-US" sz="1150" dirty="0">
                <a:solidFill>
                  <a:srgbClr val="262626"/>
                </a:solidFill>
              </a:rPr>
              <a:t>CE(T(x̂), y) + KL</a:t>
            </a:r>
            <a:endParaRPr lang="en-US" sz="1300" dirty="0"/>
          </a:p>
        </p:txBody>
      </p:sp>
      <p:sp>
        <p:nvSpPr>
          <p:cNvPr id="24" name="S2 x-enc"/>
          <p:cNvSpPr/>
          <p:nvPr/>
        </p:nvSpPr>
        <p:spPr>
          <a:xfrm>
            <a:off x="2377440" y="3447288"/>
            <a:ext cx="320040" cy="0"/>
          </a:xfrm>
          <a:prstGeom prst="line">
            <a:avLst/>
          </a:prstGeom>
          <a:noFill/>
          <a:ln w="15875">
            <a:solidFill>
              <a:srgbClr val="000000"/>
            </a:solidFill>
            <a:prstDash val="solid"/>
            <a:tailEnd type="triangle"/>
          </a:ln>
        </p:spPr>
      </p:sp>
      <p:sp>
        <p:nvSpPr>
          <p:cNvPr id="25" name="S2 enc-cls"/>
          <p:cNvSpPr/>
          <p:nvPr/>
        </p:nvSpPr>
        <p:spPr>
          <a:xfrm>
            <a:off x="4526280" y="3447288"/>
            <a:ext cx="320040" cy="0"/>
          </a:xfrm>
          <a:prstGeom prst="line">
            <a:avLst/>
          </a:prstGeom>
          <a:noFill/>
          <a:ln w="15875">
            <a:solidFill>
              <a:srgbClr val="000000"/>
            </a:solidFill>
            <a:prstDash val="solid"/>
            <a:tailEnd type="triangle"/>
          </a:ln>
        </p:spPr>
      </p:sp>
      <p:sp>
        <p:nvSpPr>
          <p:cNvPr id="26" name="S2 cls-ce"/>
          <p:cNvSpPr/>
          <p:nvPr/>
        </p:nvSpPr>
        <p:spPr>
          <a:xfrm>
            <a:off x="6355080" y="3447288"/>
            <a:ext cx="320040" cy="0"/>
          </a:xfrm>
          <a:prstGeom prst="line">
            <a:avLst/>
          </a:prstGeom>
          <a:noFill/>
          <a:ln w="15875">
            <a:solidFill>
              <a:srgbClr val="000000"/>
            </a:solidFill>
            <a:prstDash val="solid"/>
            <a:tailEnd type="triangle"/>
          </a:ln>
        </p:spPr>
      </p:sp>
      <p:sp>
        <p:nvSpPr>
          <p:cNvPr id="27" name="S2 enc-dec"/>
          <p:cNvSpPr/>
          <p:nvPr/>
        </p:nvSpPr>
        <p:spPr>
          <a:xfrm>
            <a:off x="3611880" y="3721608"/>
            <a:ext cx="0" cy="182880"/>
          </a:xfrm>
          <a:prstGeom prst="line">
            <a:avLst/>
          </a:prstGeom>
          <a:noFill/>
          <a:ln w="15875">
            <a:solidFill>
              <a:srgbClr val="000000"/>
            </a:solidFill>
            <a:prstDash val="solid"/>
            <a:tailEnd type="triangle"/>
          </a:ln>
        </p:spPr>
      </p:sp>
      <p:sp>
        <p:nvSpPr>
          <p:cNvPr id="28" name="S2 dec-rec"/>
          <p:cNvSpPr/>
          <p:nvPr/>
        </p:nvSpPr>
        <p:spPr>
          <a:xfrm>
            <a:off x="4526280" y="4178808"/>
            <a:ext cx="320040" cy="0"/>
          </a:xfrm>
          <a:prstGeom prst="line">
            <a:avLst/>
          </a:prstGeom>
          <a:noFill/>
          <a:ln w="15875">
            <a:solidFill>
              <a:srgbClr val="000000"/>
            </a:solidFill>
            <a:prstDash val="solid"/>
            <a:tailEnd type="triangle"/>
          </a:ln>
        </p:spPr>
      </p:sp>
      <p:sp>
        <p:nvSpPr>
          <p:cNvPr id="29" name="S2 rec-n2n"/>
          <p:cNvSpPr/>
          <p:nvPr/>
        </p:nvSpPr>
        <p:spPr>
          <a:xfrm>
            <a:off x="6355080" y="4178808"/>
            <a:ext cx="320040" cy="0"/>
          </a:xfrm>
          <a:prstGeom prst="line">
            <a:avLst/>
          </a:prstGeom>
          <a:noFill/>
          <a:ln w="15875">
            <a:solidFill>
              <a:srgbClr val="000000"/>
            </a:solidFill>
            <a:prstDash val="solid"/>
            <a:tailEnd type="triangle"/>
          </a:ln>
        </p:spPr>
      </p:sp>
      <p:sp>
        <p:nvSpPr>
          <p:cNvPr id="30" name="S2 rec-T"/>
          <p:cNvSpPr/>
          <p:nvPr/>
        </p:nvSpPr>
        <p:spPr>
          <a:xfrm>
            <a:off x="5600700" y="4453128"/>
            <a:ext cx="0" cy="164592"/>
          </a:xfrm>
          <a:prstGeom prst="line">
            <a:avLst/>
          </a:prstGeom>
          <a:noFill/>
          <a:ln w="15875">
            <a:solidFill>
              <a:srgbClr val="000000"/>
            </a:solidFill>
            <a:prstDash val="solid"/>
            <a:tailEnd type="triangle"/>
          </a:ln>
        </p:spPr>
      </p:sp>
      <p:sp>
        <p:nvSpPr>
          <p:cNvPr id="31" name="S2 T-critic"/>
          <p:cNvSpPr/>
          <p:nvPr/>
        </p:nvSpPr>
        <p:spPr>
          <a:xfrm>
            <a:off x="6355080" y="4892040"/>
            <a:ext cx="320040" cy="0"/>
          </a:xfrm>
          <a:prstGeom prst="line">
            <a:avLst/>
          </a:prstGeom>
          <a:noFill/>
          <a:ln w="15875">
            <a:solidFill>
              <a:srgbClr val="000000"/>
            </a:solidFill>
            <a:prstDash val="solid"/>
            <a:tailEnd type="triangle"/>
          </a:ln>
        </p:spPr>
      </p:sp>
      <p:sp>
        <p:nvSpPr>
          <p:cNvPr id="32" name="Total loss"/>
          <p:cNvSpPr txBox="1"/>
          <p:nvPr/>
        </p:nvSpPr>
        <p:spPr>
          <a:xfrm>
            <a:off x="548640" y="3904488"/>
            <a:ext cx="1965960" cy="640080"/>
          </a:xfrm>
          <a:prstGeom prst="rect">
            <a:avLst/>
          </a:prstGeom>
          <a:noFill/>
          <a:ln/>
        </p:spPr>
        <p:txBody>
          <a:bodyPr wrap="square" lIns="0" tIns="0" rIns="0" bIns="0" rtlCol="0" anchor="ctr"/>
          <a:lstStyle/>
          <a:p>
            <a:pPr indent="0" marL="0">
              <a:buNone/>
            </a:pPr>
            <a:r>
              <a:rPr lang="en-US" sz="1400" b="1" dirty="0">
                <a:solidFill>
                  <a:schemeClr val="accent1"/>
                </a:solidFill>
              </a:rPr>
              <a:t>L = L</a:t>
            </a:r>
            <a:pPr indent="0" marL="0">
              <a:buNone/>
            </a:pPr>
            <a:r>
              <a:rPr lang="en-US" sz="1400" b="1" baseline="-40000" dirty="0">
                <a:solidFill>
                  <a:schemeClr val="accent1"/>
                </a:solidFill>
              </a:rPr>
              <a:t>CE</a:t>
            </a:r>
            <a:pPr indent="0" marL="0">
              <a:buNone/>
            </a:pPr>
            <a:r>
              <a:rPr lang="en-US" sz="1400" b="1" dirty="0">
                <a:solidFill>
                  <a:schemeClr val="accent1"/>
                </a:solidFill>
              </a:rPr>
              <a:t> + λ</a:t>
            </a:r>
            <a:pPr indent="0" marL="0">
              <a:buNone/>
            </a:pPr>
            <a:r>
              <a:rPr lang="en-US" sz="1400" b="1" baseline="-40000" dirty="0">
                <a:solidFill>
                  <a:schemeClr val="accent1"/>
                </a:solidFill>
              </a:rPr>
              <a:t>1</a:t>
            </a:r>
            <a:pPr indent="0" marL="0">
              <a:buNone/>
            </a:pPr>
            <a:r>
              <a:rPr lang="en-US" sz="1400" b="1" dirty="0">
                <a:solidFill>
                  <a:schemeClr val="accent1"/>
                </a:solidFill>
              </a:rPr>
              <a:t> L</a:t>
            </a:r>
            <a:pPr indent="0" marL="0">
              <a:buNone/>
            </a:pPr>
            <a:r>
              <a:rPr lang="en-US" sz="1400" b="1" baseline="-40000" dirty="0">
                <a:solidFill>
                  <a:schemeClr val="accent1"/>
                </a:solidFill>
              </a:rPr>
              <a:t>N2N</a:t>
            </a:r>
            <a:endParaRPr lang="en-US" sz="1400" dirty="0"/>
          </a:p>
          <a:p>
            <a:pPr indent="0" marL="0">
              <a:buNone/>
            </a:pPr>
            <a:r>
              <a:rPr lang="en-US" sz="1400" b="1" dirty="0">
                <a:solidFill>
                  <a:schemeClr val="accent1"/>
                </a:solidFill>
              </a:rPr>
              <a:t>      + λ</a:t>
            </a:r>
            <a:pPr indent="0" marL="0">
              <a:buNone/>
            </a:pPr>
            <a:r>
              <a:rPr lang="en-US" sz="1400" b="1" baseline="-40000" dirty="0">
                <a:solidFill>
                  <a:schemeClr val="accent1"/>
                </a:solidFill>
              </a:rPr>
              <a:t>2</a:t>
            </a:r>
            <a:pPr indent="0" marL="0">
              <a:buNone/>
            </a:pPr>
            <a:r>
              <a:rPr lang="en-US" sz="1400" b="1" dirty="0">
                <a:solidFill>
                  <a:schemeClr val="accent1"/>
                </a:solidFill>
              </a:rPr>
              <a:t> L</a:t>
            </a:r>
            <a:pPr indent="0" marL="0">
              <a:buNone/>
            </a:pPr>
            <a:r>
              <a:rPr lang="en-US" sz="1400" b="1" baseline="-40000" dirty="0">
                <a:solidFill>
                  <a:schemeClr val="accent1"/>
                </a:solidFill>
              </a:rPr>
              <a:t>critic</a:t>
            </a:r>
            <a:endParaRPr lang="en-US" sz="1400" dirty="0"/>
          </a:p>
        </p:txBody>
      </p:sp>
      <p:sp>
        <p:nvSpPr>
          <p:cNvPr id="33" name="Total loss note"/>
          <p:cNvSpPr txBox="1"/>
          <p:nvPr/>
        </p:nvSpPr>
        <p:spPr>
          <a:xfrm>
            <a:off x="548640" y="4590288"/>
            <a:ext cx="1965960" cy="274320"/>
          </a:xfrm>
          <a:prstGeom prst="rect">
            <a:avLst/>
          </a:prstGeom>
          <a:noFill/>
          <a:ln/>
        </p:spPr>
        <p:txBody>
          <a:bodyPr wrap="square" lIns="0" tIns="0" rIns="0" bIns="0" rtlCol="0" anchor="ctr"/>
          <a:lstStyle/>
          <a:p>
            <a:pPr indent="0" marL="0">
              <a:buNone/>
            </a:pPr>
            <a:r>
              <a:rPr lang="en-US" sz="1200" dirty="0">
                <a:solidFill>
                  <a:schemeClr val="accent3"/>
                </a:solidFill>
              </a:rPr>
              <a:t>λ</a:t>
            </a:r>
            <a:pPr indent="0" marL="0">
              <a:buNone/>
            </a:pPr>
            <a:r>
              <a:rPr lang="en-US" sz="1200" baseline="-40000" dirty="0">
                <a:solidFill>
                  <a:schemeClr val="accent3"/>
                </a:solidFill>
              </a:rPr>
              <a:t>1</a:t>
            </a:r>
            <a:pPr indent="0" marL="0">
              <a:buNone/>
            </a:pPr>
            <a:r>
              <a:rPr lang="en-US" sz="1200" dirty="0">
                <a:solidFill>
                  <a:schemeClr val="accent3"/>
                </a:solidFill>
              </a:rPr>
              <a:t> = 1,  λ</a:t>
            </a:r>
            <a:pPr indent="0" marL="0">
              <a:buNone/>
            </a:pPr>
            <a:r>
              <a:rPr lang="en-US" sz="1200" baseline="-40000" dirty="0">
                <a:solidFill>
                  <a:schemeClr val="accent3"/>
                </a:solidFill>
              </a:rPr>
              <a:t>2</a:t>
            </a:r>
            <a:pPr indent="0" marL="0">
              <a:buNone/>
            </a:pPr>
            <a:r>
              <a:rPr lang="en-US" sz="1200" dirty="0">
                <a:solidFill>
                  <a:schemeClr val="accent3"/>
                </a:solidFill>
              </a:rPr>
              <a:t> = 0.5</a:t>
            </a:r>
            <a:endParaRPr lang="en-US" sz="1200" dirty="0"/>
          </a:p>
        </p:txBody>
      </p:sp>
      <p:sp>
        <p:nvSpPr>
          <p:cNvPr id="34" name="Inference"/>
          <p:cNvSpPr/>
          <p:nvPr/>
        </p:nvSpPr>
        <p:spPr>
          <a:xfrm>
            <a:off x="411480" y="5394960"/>
            <a:ext cx="8092440" cy="566928"/>
          </a:xfrm>
          <a:prstGeom prst="rect">
            <a:avLst/>
          </a:prstGeom>
          <a:solidFill>
            <a:srgbClr val="F2F2F2"/>
          </a:solidFill>
          <a:ln/>
        </p:spPr>
      </p:sp>
      <p:sp>
        <p:nvSpPr>
          <p:cNvPr id="35" name="Inference text"/>
          <p:cNvSpPr txBox="1"/>
          <p:nvPr/>
        </p:nvSpPr>
        <p:spPr>
          <a:xfrm>
            <a:off x="548640" y="5394960"/>
            <a:ext cx="7863840" cy="566928"/>
          </a:xfrm>
          <a:prstGeom prst="rect">
            <a:avLst/>
          </a:prstGeom>
          <a:noFill/>
          <a:ln/>
        </p:spPr>
        <p:txBody>
          <a:bodyPr wrap="square" lIns="0" tIns="0" rIns="0" bIns="0" rtlCol="0" anchor="ctr"/>
          <a:lstStyle/>
          <a:p>
            <a:pPr indent="0" marL="0">
              <a:buNone/>
            </a:pPr>
            <a:r>
              <a:rPr lang="en-US" sz="1300" b="1" dirty="0">
                <a:solidFill>
                  <a:schemeClr val="tx1"/>
                </a:solidFill>
              </a:rPr>
              <a:t>Inference:  </a:t>
            </a:r>
            <a:pPr indent="0" marL="0">
              <a:buNone/>
            </a:pPr>
            <a:r>
              <a:rPr lang="en-US" sz="1300" dirty="0">
                <a:solidFill>
                  <a:schemeClr val="tx1"/>
                </a:solidFill>
              </a:rPr>
              <a:t>single trial x → EEGNet (student) → left→right / right→left.  </a:t>
            </a:r>
            <a:pPr indent="0" marL="0">
              <a:buNone/>
            </a:pPr>
            <a:r>
              <a:rPr lang="en-US" sz="1300" i="1" dirty="0">
                <a:solidFill>
                  <a:srgbClr val="262626"/>
                </a:solidFill>
              </a:rPr>
              <a:t>Decoder and teacher are discarded: same cost as the baseline EEGNet.</a:t>
            </a:r>
            <a:endParaRPr lang="en-US" sz="1300" dirty="0"/>
          </a:p>
        </p:txBody>
      </p:sp>
      <p:sp>
        <p:nvSpPr>
          <p:cNvPr id="36" name="Key points"/>
          <p:cNvSpPr txBox="1"/>
          <p:nvPr/>
        </p:nvSpPr>
        <p:spPr>
          <a:xfrm>
            <a:off x="8778240" y="1600200"/>
            <a:ext cx="3108960" cy="4434840"/>
          </a:xfrm>
          <a:prstGeom prst="rect">
            <a:avLst/>
          </a:prstGeom>
          <a:noFill/>
          <a:ln/>
        </p:spPr>
        <p:txBody>
          <a:bodyPr wrap="square" lIns="0" tIns="0" rIns="0" bIns="0" rtlCol="0" anchor="t"/>
          <a:lstStyle/>
          <a:p>
            <a:pPr indent="0" marL="0">
              <a:buNone/>
            </a:pPr>
            <a:r>
              <a:rPr lang="en-US" sz="1400" b="1" dirty="0">
                <a:solidFill>
                  <a:schemeClr val="tx1"/>
                </a:solidFill>
              </a:rPr>
              <a:t>1. Teacher on averages</a:t>
            </a:r>
            <a:endParaRPr lang="en-US" sz="1400" dirty="0"/>
          </a:p>
          <a:p>
            <a:pPr indent="0" marL="0">
              <a:buNone/>
            </a:pPr>
            <a:r>
              <a:rPr lang="en-US" sz="1400" dirty="0">
                <a:solidFill>
                  <a:srgbClr val="262626"/>
                </a:solidFill>
              </a:rPr>
              <a:t>Averaging the same group raises the SNR; the teacher learns what the clean aVEP looks like</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tx1"/>
                </a:solidFill>
              </a:rPr>
              <a:t>2. Noise2Noise reconstruction</a:t>
            </a:r>
            <a:endParaRPr lang="en-US" sz="1400" dirty="0"/>
          </a:p>
          <a:p>
            <a:pPr indent="0" marL="0">
              <a:buNone/>
            </a:pPr>
            <a:r>
              <a:rPr lang="en-US" sz="1400" dirty="0">
                <a:solidFill>
                  <a:srgbClr val="262626"/>
                </a:solidFill>
              </a:rPr>
              <a:t>The target ā never contains x, so the student learns E[ERP | x]: only the part a single trial can recover</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tx1"/>
                </a:solidFill>
              </a:rPr>
              <a:t>3. Teacher as critic</a:t>
            </a:r>
            <a:endParaRPr lang="en-US" sz="1400" dirty="0"/>
          </a:p>
          <a:p>
            <a:pPr indent="0" marL="0">
              <a:buNone/>
            </a:pPr>
            <a:r>
              <a:rPr lang="en-US" sz="1400" dirty="0">
                <a:solidFill>
                  <a:srgbClr val="262626"/>
                </a:solidFill>
              </a:rPr>
              <a:t>T judges the student's own reconstruction, so the distilled target is always reachable</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rgbClr val="A00000"/>
                </a:solidFill>
              </a:rPr>
              <a:t>Research positioning</a:t>
            </a:r>
            <a:endParaRPr lang="en-US" sz="1400" dirty="0"/>
          </a:p>
          <a:p>
            <a:pPr indent="0" marL="0">
              <a:buNone/>
            </a:pPr>
            <a:r>
              <a:rPr lang="en-US" sz="1400" b="1" dirty="0">
                <a:solidFill>
                  <a:srgbClr val="A00000"/>
                </a:solidFill>
              </a:rPr>
              <a:t>Chapter 1 · within-subject single-trial SNR</a:t>
            </a:r>
            <a:endParaRPr lang="en-US" sz="14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2 Research Progress and Stage Achievements</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 2 · LR-MoE: experts organized by hemispheric symmetry and latency, chosen by a physiological router</a:t>
            </a:r>
            <a:endParaRPr lang="en-US" sz="1700" dirty="0"/>
          </a:p>
        </p:txBody>
      </p:sp>
      <p:sp>
        <p:nvSpPr>
          <p:cNvPr id="4" name="Diagram panel"/>
          <p:cNvSpPr/>
          <p:nvPr/>
        </p:nvSpPr>
        <p:spPr>
          <a:xfrm>
            <a:off x="411480" y="1600200"/>
            <a:ext cx="8092440" cy="4361688"/>
          </a:xfrm>
          <a:prstGeom prst="rect">
            <a:avLst/>
          </a:prstGeom>
          <a:solidFill>
            <a:srgbClr val="F2F2F2"/>
          </a:solidFill>
          <a:ln/>
        </p:spPr>
      </p:sp>
      <p:sp>
        <p:nvSpPr>
          <p:cNvPr id="5" name="Input"/>
          <p:cNvSpPr/>
          <p:nvPr/>
        </p:nvSpPr>
        <p:spPr>
          <a:xfrm>
            <a:off x="548640" y="2743200"/>
            <a:ext cx="1143000" cy="73152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300" b="1" dirty="0">
                <a:solidFill>
                  <a:srgbClr val="000000"/>
                </a:solidFill>
              </a:rPr>
              <a:t>Single</a:t>
            </a:r>
            <a:endParaRPr lang="en-US" sz="1300" dirty="0"/>
          </a:p>
          <a:p>
            <a:pPr algn="ctr" indent="0" marL="0">
              <a:buNone/>
            </a:pPr>
            <a:r>
              <a:rPr lang="en-US" sz="1300" b="1" dirty="0">
                <a:solidFill>
                  <a:srgbClr val="000000"/>
                </a:solidFill>
              </a:rPr>
              <a:t>trial x</a:t>
            </a:r>
            <a:endParaRPr lang="en-US" sz="1300" dirty="0"/>
          </a:p>
        </p:txBody>
      </p:sp>
      <p:sp>
        <p:nvSpPr>
          <p:cNvPr id="6" name="Decomposition head"/>
          <p:cNvSpPr txBox="1"/>
          <p:nvPr/>
        </p:nvSpPr>
        <p:spPr>
          <a:xfrm>
            <a:off x="1783080" y="1645920"/>
            <a:ext cx="2240280" cy="292608"/>
          </a:xfrm>
          <a:prstGeom prst="rect">
            <a:avLst/>
          </a:prstGeom>
          <a:noFill/>
          <a:ln/>
        </p:spPr>
        <p:txBody>
          <a:bodyPr wrap="square" lIns="0" tIns="0" rIns="0" bIns="0" rtlCol="0" anchor="ctr"/>
          <a:lstStyle/>
          <a:p>
            <a:pPr algn="ctr" indent="0" marL="0">
              <a:buNone/>
            </a:pPr>
            <a:r>
              <a:rPr lang="en-US" sz="1300" b="1" dirty="0">
                <a:solidFill>
                  <a:schemeClr val="tx1"/>
                </a:solidFill>
              </a:rPr>
              <a:t>Hemispheric decomposition</a:t>
            </a:r>
            <a:endParaRPr lang="en-US" sz="1300" dirty="0"/>
          </a:p>
        </p:txBody>
      </p:sp>
      <p:sp>
        <p:nvSpPr>
          <p:cNvPr id="7" name="x_a"/>
          <p:cNvSpPr/>
          <p:nvPr/>
        </p:nvSpPr>
        <p:spPr>
          <a:xfrm>
            <a:off x="1965960" y="2011680"/>
            <a:ext cx="1874520" cy="77724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300" b="1" dirty="0">
                <a:solidFill>
                  <a:srgbClr val="000000"/>
                </a:solidFill>
              </a:rPr>
              <a:t>x</a:t>
            </a:r>
            <a:pPr algn="ctr" indent="0" marL="0">
              <a:buNone/>
            </a:pPr>
            <a:r>
              <a:rPr lang="en-US" sz="1300" b="1" baseline="-40000" dirty="0">
                <a:solidFill>
                  <a:srgbClr val="000000"/>
                </a:solidFill>
              </a:rPr>
              <a:t>a</a:t>
            </a:r>
            <a:pPr algn="ctr" indent="0" marL="0">
              <a:buNone/>
            </a:pPr>
            <a:r>
              <a:rPr lang="en-US" sz="1300" b="1" dirty="0">
                <a:solidFill>
                  <a:srgbClr val="000000"/>
                </a:solidFill>
              </a:rPr>
              <a:t> = (x − Mx) / 2</a:t>
            </a:r>
            <a:endParaRPr lang="en-US" sz="1300" dirty="0"/>
          </a:p>
          <a:p>
            <a:pPr algn="ctr" indent="0" marL="0">
              <a:buNone/>
            </a:pPr>
            <a:r>
              <a:rPr lang="en-US" sz="1150" dirty="0">
                <a:solidFill>
                  <a:srgbClr val="262626"/>
                </a:solidFill>
              </a:rPr>
              <a:t>antisymmetric: lateralized</a:t>
            </a:r>
            <a:endParaRPr lang="en-US" sz="1300" dirty="0"/>
          </a:p>
        </p:txBody>
      </p:sp>
      <p:sp>
        <p:nvSpPr>
          <p:cNvPr id="8" name="x_s"/>
          <p:cNvSpPr/>
          <p:nvPr/>
        </p:nvSpPr>
        <p:spPr>
          <a:xfrm>
            <a:off x="1965960" y="3429000"/>
            <a:ext cx="1874520" cy="77724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300" b="1" dirty="0">
                <a:solidFill>
                  <a:srgbClr val="000000"/>
                </a:solidFill>
              </a:rPr>
              <a:t>x</a:t>
            </a:r>
            <a:pPr algn="ctr" indent="0" marL="0">
              <a:buNone/>
            </a:pPr>
            <a:r>
              <a:rPr lang="en-US" sz="1300" b="1" baseline="-40000" dirty="0">
                <a:solidFill>
                  <a:srgbClr val="000000"/>
                </a:solidFill>
              </a:rPr>
              <a:t>s</a:t>
            </a:r>
            <a:pPr algn="ctr" indent="0" marL="0">
              <a:buNone/>
            </a:pPr>
            <a:r>
              <a:rPr lang="en-US" sz="1300" b="1" dirty="0">
                <a:solidFill>
                  <a:srgbClr val="000000"/>
                </a:solidFill>
              </a:rPr>
              <a:t> = (x + Mx) / 2</a:t>
            </a:r>
            <a:endParaRPr lang="en-US" sz="1300" dirty="0"/>
          </a:p>
          <a:p>
            <a:pPr algn="ctr" indent="0" marL="0">
              <a:buNone/>
            </a:pPr>
            <a:r>
              <a:rPr lang="en-US" sz="1150" dirty="0">
                <a:solidFill>
                  <a:srgbClr val="262626"/>
                </a:solidFill>
              </a:rPr>
              <a:t>symmetric: shared + context</a:t>
            </a:r>
            <a:endParaRPr lang="en-US" sz="1300" dirty="0"/>
          </a:p>
        </p:txBody>
      </p:sp>
      <p:sp>
        <p:nvSpPr>
          <p:cNvPr id="9" name="Mirror note"/>
          <p:cNvSpPr txBox="1"/>
          <p:nvPr/>
        </p:nvSpPr>
        <p:spPr>
          <a:xfrm>
            <a:off x="1554480" y="4251960"/>
            <a:ext cx="2697480" cy="274320"/>
          </a:xfrm>
          <a:prstGeom prst="rect">
            <a:avLst/>
          </a:prstGeom>
          <a:noFill/>
          <a:ln/>
        </p:spPr>
        <p:txBody>
          <a:bodyPr wrap="square" lIns="0" tIns="0" rIns="0" bIns="0" rtlCol="0" anchor="t"/>
          <a:lstStyle/>
          <a:p>
            <a:pPr algn="ctr" indent="0" marL="0">
              <a:buNone/>
            </a:pPr>
            <a:r>
              <a:rPr lang="en-US" sz="1100" i="1" dirty="0">
                <a:solidFill>
                  <a:schemeClr val="accent5"/>
                </a:solidFill>
              </a:rPr>
              <a:t>M: mirror P7↔P8, PO7↔PO8, O1↔O2, …</a:t>
            </a:r>
            <a:endParaRPr lang="en-US" sz="1100" dirty="0"/>
          </a:p>
        </p:txBody>
      </p:sp>
      <p:sp>
        <p:nvSpPr>
          <p:cNvPr id="10" name="Fork in h"/>
          <p:cNvSpPr/>
          <p:nvPr/>
        </p:nvSpPr>
        <p:spPr>
          <a:xfrm>
            <a:off x="1691640" y="3108960"/>
            <a:ext cx="118872" cy="0"/>
          </a:xfrm>
          <a:prstGeom prst="line">
            <a:avLst/>
          </a:prstGeom>
          <a:noFill/>
          <a:ln w="15875">
            <a:solidFill>
              <a:srgbClr val="000000"/>
            </a:solidFill>
            <a:prstDash val="solid"/>
          </a:ln>
        </p:spPr>
      </p:sp>
      <p:sp>
        <p:nvSpPr>
          <p:cNvPr id="11" name="Fork in v"/>
          <p:cNvSpPr/>
          <p:nvPr/>
        </p:nvSpPr>
        <p:spPr>
          <a:xfrm>
            <a:off x="1810512" y="2400300"/>
            <a:ext cx="0" cy="1417320"/>
          </a:xfrm>
          <a:prstGeom prst="line">
            <a:avLst/>
          </a:prstGeom>
          <a:noFill/>
          <a:ln w="15875">
            <a:solidFill>
              <a:srgbClr val="000000"/>
            </a:solidFill>
            <a:prstDash val="solid"/>
          </a:ln>
        </p:spPr>
      </p:sp>
      <p:sp>
        <p:nvSpPr>
          <p:cNvPr id="12" name="Fork to x_a"/>
          <p:cNvSpPr/>
          <p:nvPr/>
        </p:nvSpPr>
        <p:spPr>
          <a:xfrm>
            <a:off x="1810512" y="2400300"/>
            <a:ext cx="155448" cy="0"/>
          </a:xfrm>
          <a:prstGeom prst="line">
            <a:avLst/>
          </a:prstGeom>
          <a:noFill/>
          <a:ln w="15875">
            <a:solidFill>
              <a:srgbClr val="000000"/>
            </a:solidFill>
            <a:prstDash val="solid"/>
            <a:tailEnd type="triangle"/>
          </a:ln>
        </p:spPr>
      </p:sp>
      <p:sp>
        <p:nvSpPr>
          <p:cNvPr id="13" name="Fork to x_s"/>
          <p:cNvSpPr/>
          <p:nvPr/>
        </p:nvSpPr>
        <p:spPr>
          <a:xfrm>
            <a:off x="1810512" y="3817620"/>
            <a:ext cx="155448" cy="0"/>
          </a:xfrm>
          <a:prstGeom prst="line">
            <a:avLst/>
          </a:prstGeom>
          <a:noFill/>
          <a:ln w="15875">
            <a:solidFill>
              <a:srgbClr val="000000"/>
            </a:solidFill>
            <a:prstDash val="solid"/>
            <a:tailEnd type="triangle"/>
          </a:ln>
        </p:spPr>
      </p:sp>
      <p:sp>
        <p:nvSpPr>
          <p:cNvPr id="14" name="Trunk"/>
          <p:cNvSpPr/>
          <p:nvPr/>
        </p:nvSpPr>
        <p:spPr>
          <a:xfrm>
            <a:off x="4160520" y="2011680"/>
            <a:ext cx="868680" cy="219456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300" b="1" dirty="0">
                <a:solidFill>
                  <a:srgbClr val="000000"/>
                </a:solidFill>
              </a:rPr>
              <a:t>Shared</a:t>
            </a:r>
            <a:endParaRPr lang="en-US" sz="1300" dirty="0"/>
          </a:p>
          <a:p>
            <a:pPr algn="ctr" indent="0" marL="0">
              <a:buNone/>
            </a:pPr>
            <a:r>
              <a:rPr lang="en-US" sz="1300" b="1" dirty="0">
                <a:solidFill>
                  <a:srgbClr val="000000"/>
                </a:solidFill>
              </a:rPr>
              <a:t>temporal</a:t>
            </a:r>
            <a:endParaRPr lang="en-US" sz="1300" dirty="0"/>
          </a:p>
          <a:p>
            <a:pPr algn="ctr" indent="0" marL="0">
              <a:buNone/>
            </a:pPr>
            <a:r>
              <a:rPr lang="en-US" sz="1300" b="1" dirty="0">
                <a:solidFill>
                  <a:srgbClr val="000000"/>
                </a:solidFill>
              </a:rPr>
              <a:t>conv</a:t>
            </a:r>
            <a:endParaRPr lang="en-US" sz="1300" dirty="0"/>
          </a:p>
        </p:txBody>
      </p:sp>
      <p:sp>
        <p:nvSpPr>
          <p:cNvPr id="15" name="x_a to trunk"/>
          <p:cNvSpPr/>
          <p:nvPr/>
        </p:nvSpPr>
        <p:spPr>
          <a:xfrm>
            <a:off x="3840480" y="2400300"/>
            <a:ext cx="320040" cy="0"/>
          </a:xfrm>
          <a:prstGeom prst="line">
            <a:avLst/>
          </a:prstGeom>
          <a:noFill/>
          <a:ln w="15875">
            <a:solidFill>
              <a:srgbClr val="000000"/>
            </a:solidFill>
            <a:prstDash val="solid"/>
            <a:tailEnd type="triangle"/>
          </a:ln>
        </p:spPr>
      </p:sp>
      <p:sp>
        <p:nvSpPr>
          <p:cNvPr id="16" name="x_s to trunk"/>
          <p:cNvSpPr/>
          <p:nvPr/>
        </p:nvSpPr>
        <p:spPr>
          <a:xfrm>
            <a:off x="3840480" y="3817620"/>
            <a:ext cx="320040" cy="0"/>
          </a:xfrm>
          <a:prstGeom prst="line">
            <a:avLst/>
          </a:prstGeom>
          <a:noFill/>
          <a:ln w="15875">
            <a:solidFill>
              <a:srgbClr val="000000"/>
            </a:solidFill>
            <a:prstDash val="solid"/>
            <a:tailEnd type="triangle"/>
          </a:ln>
        </p:spPr>
      </p:sp>
      <p:sp>
        <p:nvSpPr>
          <p:cNvPr id="17" name="Experts head"/>
          <p:cNvSpPr txBox="1"/>
          <p:nvPr/>
        </p:nvSpPr>
        <p:spPr>
          <a:xfrm>
            <a:off x="5349240" y="1645920"/>
            <a:ext cx="2194560" cy="292608"/>
          </a:xfrm>
          <a:prstGeom prst="rect">
            <a:avLst/>
          </a:prstGeom>
          <a:noFill/>
          <a:ln/>
        </p:spPr>
        <p:txBody>
          <a:bodyPr wrap="square" lIns="0" tIns="0" rIns="0" bIns="0" rtlCol="0" anchor="ctr"/>
          <a:lstStyle/>
          <a:p>
            <a:pPr algn="ctr" indent="0" marL="0">
              <a:buNone/>
            </a:pPr>
            <a:r>
              <a:rPr lang="en-US" sz="1300" b="1" dirty="0">
                <a:solidFill>
                  <a:schemeClr val="tx1"/>
                </a:solidFill>
              </a:rPr>
              <a:t>Expert families</a:t>
            </a:r>
            <a:endParaRPr lang="en-US" sz="1300" dirty="0"/>
          </a:p>
        </p:txBody>
      </p:sp>
      <p:sp>
        <p:nvSpPr>
          <p:cNvPr id="18" name="Expert 1"/>
          <p:cNvSpPr/>
          <p:nvPr/>
        </p:nvSpPr>
        <p:spPr>
          <a:xfrm>
            <a:off x="5349240" y="2011680"/>
            <a:ext cx="2194560" cy="68580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300" b="1" dirty="0">
                <a:solidFill>
                  <a:srgbClr val="000000"/>
                </a:solidFill>
              </a:rPr>
              <a:t>Mirror-equivariant (x</a:t>
            </a:r>
            <a:pPr algn="ctr" indent="0" marL="0">
              <a:buNone/>
            </a:pPr>
            <a:r>
              <a:rPr lang="en-US" sz="1300" b="1" baseline="-40000" dirty="0">
                <a:solidFill>
                  <a:srgbClr val="000000"/>
                </a:solidFill>
              </a:rPr>
              <a:t>a</a:t>
            </a:r>
            <a:pPr algn="ctr" indent="0" marL="0">
              <a:buNone/>
            </a:pPr>
            <a:r>
              <a:rPr lang="en-US" sz="1300" b="1" dirty="0">
                <a:solidFill>
                  <a:srgbClr val="000000"/>
                </a:solidFill>
              </a:rPr>
              <a:t>)</a:t>
            </a:r>
            <a:endParaRPr lang="en-US" sz="1300" dirty="0"/>
          </a:p>
          <a:p>
            <a:pPr algn="ctr" indent="0" marL="0">
              <a:buNone/>
            </a:pPr>
            <a:r>
              <a:rPr lang="en-US" sz="1150" dirty="0">
                <a:solidFill>
                  <a:srgbClr val="262626"/>
                </a:solidFill>
              </a:rPr>
              <a:t>logit(Mx) = −logit(x)</a:t>
            </a:r>
            <a:endParaRPr lang="en-US" sz="1300" dirty="0"/>
          </a:p>
        </p:txBody>
      </p:sp>
      <p:sp>
        <p:nvSpPr>
          <p:cNvPr id="19" name="Expert 2"/>
          <p:cNvSpPr/>
          <p:nvPr/>
        </p:nvSpPr>
        <p:spPr>
          <a:xfrm>
            <a:off x="5349240" y="2788920"/>
            <a:ext cx="2194560" cy="68580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300" b="1" dirty="0">
                <a:solidFill>
                  <a:srgbClr val="000000"/>
                </a:solidFill>
              </a:rPr>
              <a:t>Hemisphere-dominant</a:t>
            </a:r>
            <a:endParaRPr lang="en-US" sz="1300" dirty="0"/>
          </a:p>
          <a:p>
            <a:pPr algn="ctr" indent="0" marL="0">
              <a:buNone/>
            </a:pPr>
            <a:r>
              <a:rPr lang="en-US" sz="1150" dirty="0">
                <a:solidFill>
                  <a:srgbClr val="262626"/>
                </a:solidFill>
              </a:rPr>
              <a:t>L- or R-weighted, swapped by M</a:t>
            </a:r>
            <a:endParaRPr lang="en-US" sz="1300" dirty="0"/>
          </a:p>
        </p:txBody>
      </p:sp>
      <p:sp>
        <p:nvSpPr>
          <p:cNvPr id="20" name="Expert 3"/>
          <p:cNvSpPr/>
          <p:nvPr/>
        </p:nvSpPr>
        <p:spPr>
          <a:xfrm>
            <a:off x="5349240" y="3566160"/>
            <a:ext cx="2194560" cy="68580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300" b="1" dirty="0">
                <a:solidFill>
                  <a:srgbClr val="000000"/>
                </a:solidFill>
              </a:rPr>
              <a:t>Symmetric / context (x</a:t>
            </a:r>
            <a:pPr algn="ctr" indent="0" marL="0">
              <a:buNone/>
            </a:pPr>
            <a:r>
              <a:rPr lang="en-US" sz="1300" b="1" baseline="-40000" dirty="0">
                <a:solidFill>
                  <a:srgbClr val="000000"/>
                </a:solidFill>
              </a:rPr>
              <a:t>s</a:t>
            </a:r>
            <a:pPr algn="ctr" indent="0" marL="0">
              <a:buNone/>
            </a:pPr>
            <a:r>
              <a:rPr lang="en-US" sz="1300" b="1" dirty="0">
                <a:solidFill>
                  <a:srgbClr val="000000"/>
                </a:solidFill>
              </a:rPr>
              <a:t>)</a:t>
            </a:r>
            <a:endParaRPr lang="en-US" sz="1300" dirty="0"/>
          </a:p>
          <a:p>
            <a:pPr algn="ctr" indent="0" marL="0">
              <a:buNone/>
            </a:pPr>
            <a:r>
              <a:rPr lang="en-US" sz="1150" dirty="0">
                <a:solidFill>
                  <a:srgbClr val="262626"/>
                </a:solidFill>
              </a:rPr>
              <a:t>shared response and overlap</a:t>
            </a:r>
            <a:endParaRPr lang="en-US" sz="1300" dirty="0"/>
          </a:p>
        </p:txBody>
      </p:sp>
      <p:sp>
        <p:nvSpPr>
          <p:cNvPr id="21" name="Latency note"/>
          <p:cNvSpPr txBox="1"/>
          <p:nvPr/>
        </p:nvSpPr>
        <p:spPr>
          <a:xfrm>
            <a:off x="4937760" y="4297680"/>
            <a:ext cx="3017520" cy="274320"/>
          </a:xfrm>
          <a:prstGeom prst="rect">
            <a:avLst/>
          </a:prstGeom>
          <a:noFill/>
          <a:ln/>
        </p:spPr>
        <p:txBody>
          <a:bodyPr wrap="square" lIns="0" tIns="0" rIns="0" bIns="0" rtlCol="0" anchor="t"/>
          <a:lstStyle/>
          <a:p>
            <a:pPr algn="ctr" indent="0" marL="0">
              <a:buNone/>
            </a:pPr>
            <a:r>
              <a:rPr lang="en-US" sz="1100" i="1" dirty="0">
                <a:solidFill>
                  <a:schemeClr val="accent5"/>
                </a:solidFill>
              </a:rPr>
              <a:t>each × 3 latency variants (≈ 100 / 170 / 230 ms)</a:t>
            </a:r>
            <a:endParaRPr lang="en-US" sz="1100" dirty="0"/>
          </a:p>
        </p:txBody>
      </p:sp>
      <p:sp>
        <p:nvSpPr>
          <p:cNvPr id="22" name="Trunk out"/>
          <p:cNvSpPr/>
          <p:nvPr/>
        </p:nvSpPr>
        <p:spPr>
          <a:xfrm>
            <a:off x="5029200" y="3131820"/>
            <a:ext cx="164592" cy="0"/>
          </a:xfrm>
          <a:prstGeom prst="line">
            <a:avLst/>
          </a:prstGeom>
          <a:noFill/>
          <a:ln w="15875">
            <a:solidFill>
              <a:srgbClr val="000000"/>
            </a:solidFill>
            <a:prstDash val="solid"/>
          </a:ln>
        </p:spPr>
      </p:sp>
      <p:sp>
        <p:nvSpPr>
          <p:cNvPr id="23" name="Expert fork"/>
          <p:cNvSpPr/>
          <p:nvPr/>
        </p:nvSpPr>
        <p:spPr>
          <a:xfrm>
            <a:off x="5193792" y="2354580"/>
            <a:ext cx="0" cy="1554480"/>
          </a:xfrm>
          <a:prstGeom prst="line">
            <a:avLst/>
          </a:prstGeom>
          <a:noFill/>
          <a:ln w="15875">
            <a:solidFill>
              <a:srgbClr val="000000"/>
            </a:solidFill>
            <a:prstDash val="solid"/>
          </a:ln>
        </p:spPr>
      </p:sp>
      <p:sp>
        <p:nvSpPr>
          <p:cNvPr id="24" name="To expert 1"/>
          <p:cNvSpPr/>
          <p:nvPr/>
        </p:nvSpPr>
        <p:spPr>
          <a:xfrm>
            <a:off x="5193792" y="2354580"/>
            <a:ext cx="155448" cy="0"/>
          </a:xfrm>
          <a:prstGeom prst="line">
            <a:avLst/>
          </a:prstGeom>
          <a:noFill/>
          <a:ln w="15875">
            <a:solidFill>
              <a:srgbClr val="000000"/>
            </a:solidFill>
            <a:prstDash val="solid"/>
            <a:tailEnd type="triangle"/>
          </a:ln>
        </p:spPr>
      </p:sp>
      <p:sp>
        <p:nvSpPr>
          <p:cNvPr id="25" name="To expert 2"/>
          <p:cNvSpPr/>
          <p:nvPr/>
        </p:nvSpPr>
        <p:spPr>
          <a:xfrm>
            <a:off x="5193792" y="3131820"/>
            <a:ext cx="155448" cy="0"/>
          </a:xfrm>
          <a:prstGeom prst="line">
            <a:avLst/>
          </a:prstGeom>
          <a:noFill/>
          <a:ln w="15875">
            <a:solidFill>
              <a:srgbClr val="000000"/>
            </a:solidFill>
            <a:prstDash val="solid"/>
            <a:tailEnd type="triangle"/>
          </a:ln>
        </p:spPr>
      </p:sp>
      <p:sp>
        <p:nvSpPr>
          <p:cNvPr id="26" name="To expert 3"/>
          <p:cNvSpPr/>
          <p:nvPr/>
        </p:nvSpPr>
        <p:spPr>
          <a:xfrm>
            <a:off x="5193792" y="3909060"/>
            <a:ext cx="155448" cy="0"/>
          </a:xfrm>
          <a:prstGeom prst="line">
            <a:avLst/>
          </a:prstGeom>
          <a:noFill/>
          <a:ln w="15875">
            <a:solidFill>
              <a:srgbClr val="000000"/>
            </a:solidFill>
            <a:prstDash val="solid"/>
            <a:tailEnd type="triangle"/>
          </a:ln>
        </p:spPr>
      </p:sp>
      <p:sp>
        <p:nvSpPr>
          <p:cNvPr id="27" name="From expert 1"/>
          <p:cNvSpPr/>
          <p:nvPr/>
        </p:nvSpPr>
        <p:spPr>
          <a:xfrm>
            <a:off x="7543800" y="2354580"/>
            <a:ext cx="155448" cy="0"/>
          </a:xfrm>
          <a:prstGeom prst="line">
            <a:avLst/>
          </a:prstGeom>
          <a:noFill/>
          <a:ln w="15875">
            <a:solidFill>
              <a:srgbClr val="000000"/>
            </a:solidFill>
            <a:prstDash val="solid"/>
          </a:ln>
        </p:spPr>
      </p:sp>
      <p:sp>
        <p:nvSpPr>
          <p:cNvPr id="28" name="From expert 2"/>
          <p:cNvSpPr/>
          <p:nvPr/>
        </p:nvSpPr>
        <p:spPr>
          <a:xfrm>
            <a:off x="7543800" y="3131820"/>
            <a:ext cx="155448" cy="0"/>
          </a:xfrm>
          <a:prstGeom prst="line">
            <a:avLst/>
          </a:prstGeom>
          <a:noFill/>
          <a:ln w="15875">
            <a:solidFill>
              <a:srgbClr val="000000"/>
            </a:solidFill>
            <a:prstDash val="solid"/>
          </a:ln>
        </p:spPr>
      </p:sp>
      <p:sp>
        <p:nvSpPr>
          <p:cNvPr id="29" name="From expert 3"/>
          <p:cNvSpPr/>
          <p:nvPr/>
        </p:nvSpPr>
        <p:spPr>
          <a:xfrm>
            <a:off x="7543800" y="3909060"/>
            <a:ext cx="155448" cy="0"/>
          </a:xfrm>
          <a:prstGeom prst="line">
            <a:avLst/>
          </a:prstGeom>
          <a:noFill/>
          <a:ln w="15875">
            <a:solidFill>
              <a:srgbClr val="000000"/>
            </a:solidFill>
            <a:prstDash val="solid"/>
          </a:ln>
        </p:spPr>
      </p:sp>
      <p:sp>
        <p:nvSpPr>
          <p:cNvPr id="30" name="Expert join"/>
          <p:cNvSpPr/>
          <p:nvPr/>
        </p:nvSpPr>
        <p:spPr>
          <a:xfrm>
            <a:off x="7699248" y="2354580"/>
            <a:ext cx="0" cy="1554480"/>
          </a:xfrm>
          <a:prstGeom prst="line">
            <a:avLst/>
          </a:prstGeom>
          <a:noFill/>
          <a:ln w="15875">
            <a:solidFill>
              <a:srgbClr val="000000"/>
            </a:solidFill>
            <a:prstDash val="solid"/>
          </a:ln>
        </p:spPr>
      </p:sp>
      <p:sp>
        <p:nvSpPr>
          <p:cNvPr id="31" name="Join to sum"/>
          <p:cNvSpPr/>
          <p:nvPr/>
        </p:nvSpPr>
        <p:spPr>
          <a:xfrm>
            <a:off x="7699248" y="3131820"/>
            <a:ext cx="182880" cy="0"/>
          </a:xfrm>
          <a:prstGeom prst="line">
            <a:avLst/>
          </a:prstGeom>
          <a:noFill/>
          <a:ln w="15875">
            <a:solidFill>
              <a:srgbClr val="000000"/>
            </a:solidFill>
            <a:prstDash val="solid"/>
            <a:tailEnd type="triangle"/>
          </a:ln>
        </p:spPr>
      </p:sp>
      <p:sp>
        <p:nvSpPr>
          <p:cNvPr id="32" name="Weighted sum"/>
          <p:cNvSpPr/>
          <p:nvPr/>
        </p:nvSpPr>
        <p:spPr>
          <a:xfrm>
            <a:off x="7882128" y="2903220"/>
            <a:ext cx="457200" cy="457200"/>
          </a:xfrm>
          <a:prstGeom prst="ellipse">
            <a:avLst/>
          </a:prstGeom>
          <a:solidFill>
            <a:srgbClr val="FFFFFF"/>
          </a:solidFill>
          <a:ln w="12700">
            <a:solidFill>
              <a:srgbClr val="000000"/>
            </a:solidFill>
          </a:ln>
        </p:spPr>
        <p:txBody>
          <a:bodyPr wrap="square" lIns="0" tIns="0" rIns="0" bIns="0" rtlCol="0" anchor="ctr"/>
          <a:lstStyle/>
          <a:p>
            <a:pPr algn="ctr" indent="0" marL="0">
              <a:buNone/>
            </a:pPr>
            <a:r>
              <a:rPr lang="en-US" sz="1800" b="1" dirty="0">
                <a:solidFill>
                  <a:srgbClr val="000000"/>
                </a:solidFill>
              </a:rPr>
              <a:t>Σ</a:t>
            </a:r>
            <a:endParaRPr lang="en-US" sz="1800" dirty="0"/>
          </a:p>
        </p:txBody>
      </p:sp>
      <p:sp>
        <p:nvSpPr>
          <p:cNvPr id="33" name="Sum to output"/>
          <p:cNvSpPr/>
          <p:nvPr/>
        </p:nvSpPr>
        <p:spPr>
          <a:xfrm flipV="1">
            <a:off x="8110728" y="2331720"/>
            <a:ext cx="0" cy="571500"/>
          </a:xfrm>
          <a:prstGeom prst="line">
            <a:avLst/>
          </a:prstGeom>
          <a:noFill/>
          <a:ln w="15875">
            <a:solidFill>
              <a:srgbClr val="000000"/>
            </a:solidFill>
            <a:prstDash val="solid"/>
            <a:tailEnd type="triangle"/>
          </a:ln>
        </p:spPr>
      </p:sp>
      <p:sp>
        <p:nvSpPr>
          <p:cNvPr id="34" name="Output"/>
          <p:cNvSpPr txBox="1"/>
          <p:nvPr/>
        </p:nvSpPr>
        <p:spPr>
          <a:xfrm>
            <a:off x="7607808" y="1984248"/>
            <a:ext cx="1005840" cy="329184"/>
          </a:xfrm>
          <a:prstGeom prst="rect">
            <a:avLst/>
          </a:prstGeom>
          <a:noFill/>
          <a:ln/>
        </p:spPr>
        <p:txBody>
          <a:bodyPr wrap="square" lIns="0" tIns="0" rIns="0" bIns="0" rtlCol="0" anchor="ctr"/>
          <a:lstStyle/>
          <a:p>
            <a:pPr algn="ctr" indent="0" marL="0">
              <a:buNone/>
            </a:pPr>
            <a:r>
              <a:rPr lang="en-US" sz="1400" b="1" dirty="0">
                <a:solidFill>
                  <a:schemeClr val="tx1"/>
                </a:solidFill>
              </a:rPr>
              <a:t>p(y | x)</a:t>
            </a:r>
            <a:endParaRPr lang="en-US" sz="1400" dirty="0"/>
          </a:p>
        </p:txBody>
      </p:sp>
      <p:sp>
        <p:nvSpPr>
          <p:cNvPr id="35" name="Router"/>
          <p:cNvSpPr/>
          <p:nvPr/>
        </p:nvSpPr>
        <p:spPr>
          <a:xfrm>
            <a:off x="548640" y="4864608"/>
            <a:ext cx="6949440" cy="868680"/>
          </a:xfrm>
          <a:prstGeom prst="rect">
            <a:avLst/>
          </a:prstGeom>
          <a:solidFill>
            <a:srgbClr val="FFFFFF"/>
          </a:solidFill>
          <a:ln w="12700">
            <a:solidFill>
              <a:srgbClr val="A00000"/>
            </a:solidFill>
            <a:prstDash val="dash"/>
          </a:ln>
        </p:spPr>
        <p:txBody>
          <a:bodyPr wrap="square" lIns="25400" tIns="25400" rIns="25400" bIns="25400" rtlCol="0" anchor="ctr"/>
          <a:lstStyle/>
          <a:p>
            <a:pPr algn="ctr" indent="0" marL="0">
              <a:buNone/>
            </a:pPr>
            <a:r>
              <a:rPr lang="en-US" sz="1300" b="1" dirty="0">
                <a:solidFill>
                  <a:srgbClr val="A00000"/>
                </a:solidFill>
              </a:rPr>
              <a:t>Physiological router: small MLP → soft top-2 expert weights g</a:t>
            </a:r>
            <a:endParaRPr lang="en-US" sz="1300" dirty="0"/>
          </a:p>
          <a:p>
            <a:pPr algn="ctr" indent="0" marL="0">
              <a:buNone/>
            </a:pPr>
            <a:r>
              <a:rPr lang="en-US" sz="1150" dirty="0">
                <a:solidFill>
                  <a:srgbClr val="262626"/>
                </a:solidFill>
              </a:rPr>
              <a:t>lateralization index · left/right power ratio · ~10 Hz amplitude &amp; phase (O1, Oz, O2) · antisym./sym. energy ratio</a:t>
            </a:r>
            <a:endParaRPr lang="en-US" sz="1300" dirty="0"/>
          </a:p>
        </p:txBody>
      </p:sp>
      <p:sp>
        <p:nvSpPr>
          <p:cNvPr id="36" name="Input to router"/>
          <p:cNvSpPr/>
          <p:nvPr/>
        </p:nvSpPr>
        <p:spPr>
          <a:xfrm>
            <a:off x="1120140" y="3474720"/>
            <a:ext cx="0" cy="1389888"/>
          </a:xfrm>
          <a:prstGeom prst="line">
            <a:avLst/>
          </a:prstGeom>
          <a:noFill/>
          <a:ln w="15875">
            <a:solidFill>
              <a:srgbClr val="A00000"/>
            </a:solidFill>
            <a:prstDash val="solid"/>
            <a:tailEnd type="triangle"/>
          </a:ln>
        </p:spPr>
      </p:sp>
      <p:sp>
        <p:nvSpPr>
          <p:cNvPr id="37" name="Router out h"/>
          <p:cNvSpPr/>
          <p:nvPr/>
        </p:nvSpPr>
        <p:spPr>
          <a:xfrm>
            <a:off x="7498080" y="5298948"/>
            <a:ext cx="612648" cy="0"/>
          </a:xfrm>
          <a:prstGeom prst="line">
            <a:avLst/>
          </a:prstGeom>
          <a:noFill/>
          <a:ln w="15875">
            <a:solidFill>
              <a:srgbClr val="A00000"/>
            </a:solidFill>
            <a:prstDash val="solid"/>
          </a:ln>
        </p:spPr>
      </p:sp>
      <p:sp>
        <p:nvSpPr>
          <p:cNvPr id="38" name="Router to sum"/>
          <p:cNvSpPr/>
          <p:nvPr/>
        </p:nvSpPr>
        <p:spPr>
          <a:xfrm flipV="1">
            <a:off x="8110728" y="3360420"/>
            <a:ext cx="0" cy="1938528"/>
          </a:xfrm>
          <a:prstGeom prst="line">
            <a:avLst/>
          </a:prstGeom>
          <a:noFill/>
          <a:ln w="15875">
            <a:solidFill>
              <a:srgbClr val="A00000"/>
            </a:solidFill>
            <a:prstDash val="solid"/>
            <a:tailEnd type="triangle"/>
          </a:ln>
        </p:spPr>
      </p:sp>
      <p:sp>
        <p:nvSpPr>
          <p:cNvPr id="39" name="Gate label"/>
          <p:cNvSpPr txBox="1"/>
          <p:nvPr/>
        </p:nvSpPr>
        <p:spPr>
          <a:xfrm>
            <a:off x="8165592" y="3931920"/>
            <a:ext cx="274320" cy="320040"/>
          </a:xfrm>
          <a:prstGeom prst="rect">
            <a:avLst/>
          </a:prstGeom>
          <a:noFill/>
          <a:ln/>
        </p:spPr>
        <p:txBody>
          <a:bodyPr wrap="square" lIns="0" tIns="0" rIns="0" bIns="0" rtlCol="0" anchor="ctr"/>
          <a:lstStyle/>
          <a:p>
            <a:pPr indent="0" marL="0">
              <a:buNone/>
            </a:pPr>
            <a:r>
              <a:rPr lang="en-US" sz="1500" b="1" i="1" dirty="0">
                <a:solidFill>
                  <a:schemeClr val="accent1"/>
                </a:solidFill>
              </a:rPr>
              <a:t>g</a:t>
            </a:r>
            <a:endParaRPr lang="en-US" sz="1500" dirty="0"/>
          </a:p>
        </p:txBody>
      </p:sp>
      <p:sp>
        <p:nvSpPr>
          <p:cNvPr id="40" name="Key points"/>
          <p:cNvSpPr txBox="1"/>
          <p:nvPr/>
        </p:nvSpPr>
        <p:spPr>
          <a:xfrm>
            <a:off x="8778240" y="1600200"/>
            <a:ext cx="3108960" cy="4434840"/>
          </a:xfrm>
          <a:prstGeom prst="rect">
            <a:avLst/>
          </a:prstGeom>
          <a:noFill/>
          <a:ln/>
        </p:spPr>
        <p:txBody>
          <a:bodyPr wrap="square" lIns="0" tIns="0" rIns="0" bIns="0" rtlCol="0" anchor="t"/>
          <a:lstStyle/>
          <a:p>
            <a:pPr indent="0" marL="0">
              <a:buNone/>
            </a:pPr>
            <a:r>
              <a:rPr lang="en-US" sz="1400" b="1" dirty="0">
                <a:solidFill>
                  <a:schemeClr val="tx1"/>
                </a:solidFill>
              </a:rPr>
              <a:t>1. Hemispheric decomposition</a:t>
            </a:r>
            <a:endParaRPr lang="en-US" sz="1400" dirty="0"/>
          </a:p>
          <a:p>
            <a:pPr indent="0" marL="0">
              <a:buNone/>
            </a:pPr>
            <a:r>
              <a:rPr lang="en-US" sz="1400" dirty="0">
                <a:solidFill>
                  <a:srgbClr val="262626"/>
                </a:solidFill>
              </a:rPr>
              <a:t>Separates lateralized from shared activity; x</a:t>
            </a:r>
            <a:pPr indent="0" marL="0">
              <a:buNone/>
            </a:pPr>
            <a:r>
              <a:rPr lang="en-US" sz="1400" baseline="-40000" dirty="0">
                <a:solidFill>
                  <a:srgbClr val="262626"/>
                </a:solidFill>
              </a:rPr>
              <a:t>a</a:t>
            </a:r>
            <a:pPr indent="0" marL="0">
              <a:buNone/>
            </a:pPr>
            <a:r>
              <a:rPr lang="en-US" sz="1400" dirty="0">
                <a:solidFill>
                  <a:srgbClr val="262626"/>
                </a:solidFill>
              </a:rPr>
              <a:t> does not depend on the common reference</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tx1"/>
                </a:solidFill>
              </a:rPr>
              <a:t>2. Structured experts</a:t>
            </a:r>
            <a:endParaRPr lang="en-US" sz="1400" dirty="0"/>
          </a:p>
          <a:p>
            <a:pPr indent="0" marL="0">
              <a:buNone/>
            </a:pPr>
            <a:r>
              <a:rPr lang="en-US" sz="1400" dirty="0">
                <a:solidFill>
                  <a:srgbClr val="262626"/>
                </a:solidFill>
              </a:rPr>
              <a:t>Symmetry type × response latency, matching the observed subject differences</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tx1"/>
                </a:solidFill>
              </a:rPr>
              <a:t>3. Physiological router</a:t>
            </a:r>
            <a:endParaRPr lang="en-US" sz="1400" dirty="0"/>
          </a:p>
          <a:p>
            <a:pPr indent="0" marL="0">
              <a:buNone/>
            </a:pPr>
            <a:r>
              <a:rPr lang="en-US" sz="1400" dirty="0">
                <a:solidFill>
                  <a:srgbClr val="262626"/>
                </a:solidFill>
              </a:rPr>
              <a:t>Interpretable descriptors pick experts per trial; no target labels needed</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tx1"/>
                </a:solidFill>
              </a:rPr>
              <a:t>Training losses</a:t>
            </a:r>
            <a:endParaRPr lang="en-US" sz="1400" dirty="0"/>
          </a:p>
          <a:p>
            <a:pPr indent="0" marL="0">
              <a:buNone/>
            </a:pPr>
            <a:r>
              <a:rPr lang="en-US" sz="1400" dirty="0">
                <a:solidFill>
                  <a:srgbClr val="262626"/>
                </a:solidFill>
              </a:rPr>
              <a:t>CE + load balancing + mirror consistency + subject-coherent routing</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rgbClr val="A00000"/>
                </a:solidFill>
              </a:rPr>
              <a:t>Research positioning</a:t>
            </a:r>
            <a:endParaRPr lang="en-US" sz="1400" dirty="0"/>
          </a:p>
          <a:p>
            <a:pPr indent="0" marL="0">
              <a:buNone/>
            </a:pPr>
            <a:r>
              <a:rPr lang="en-US" sz="1400" b="1" dirty="0">
                <a:solidFill>
                  <a:srgbClr val="A00000"/>
                </a:solidFill>
              </a:rPr>
              <a:t>Chapter 2 · cross-subject (LOSO) decoding</a:t>
            </a:r>
            <a:endParaRPr lang="en-US" sz="14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Thesis Defense">
  <a:themeElements>
    <a:clrScheme name="Thesis Defense">
      <a:dk1>
        <a:srgbClr val="000000"/>
      </a:dk1>
      <a:lt1>
        <a:srgbClr val="FFFFFF"/>
      </a:lt1>
      <a:dk2>
        <a:srgbClr val="A00000"/>
      </a:dk2>
      <a:lt2>
        <a:srgbClr val="F2F2F2"/>
      </a:lt2>
      <a:accent1>
        <a:srgbClr val="A00000"/>
      </a:accent1>
      <a:accent2>
        <a:srgbClr val="262626"/>
      </a:accent2>
      <a:accent3>
        <a:srgbClr val="7F7F7F"/>
      </a:accent3>
      <a:accent4>
        <a:srgbClr val="BFBFBF"/>
      </a:accent4>
      <a:accent5>
        <a:srgbClr val="595959"/>
      </a:accent5>
      <a:accent6>
        <a:srgbClr val="C00000"/>
      </a:accent6>
      <a:hlink>
        <a:srgbClr val="A00000"/>
      </a:hlink>
      <a:folHlink>
        <a:srgbClr val="7F7F7F"/>
      </a:folHlink>
    </a:clrScheme>
    <a:fontScheme name="Thesis Defens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Mid-term Thesis Defense</dc:title>
  <dc:subject>PptxGenJS Presentation</dc:subject>
  <dc:creator>PptxGenJS</dc:creator>
  <cp:lastModifiedBy>PptxGenJS</cp:lastModifiedBy>
  <cp:revision>1</cp:revision>
  <dcterms:created xsi:type="dcterms:W3CDTF">2026-10-27T03:10:23Z</dcterms:created>
  <dcterms:modified xsi:type="dcterms:W3CDTF">2026-10-27T03:10:23Z</dcterms:modified>
</cp:coreProperties>
</file>