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a0bf1fbd-097f-b3f1-e97f-2f660a718ec3}">
          <p14:sldIdLst>
            <p14:sldId id="256"/>
          </p14:sldIdLst>
        </p14:section>
        <p14:section name="Research Background and Objectives" id="{edd17cb6-7d15-4a0f-4bd2-d656d9225d49}">
          <p14:sldIdLst>
            <p14:sldId id="257"/>
            <p14:sldId id="258"/>
            <p14:sldId id="259"/>
            <p14:sldId id="260"/>
          </p14:sldIdLst>
        </p14:section>
        <p14:section name="Research Progress and Stage Achievements" id="{1830fa79-925c-6463-c8cf-29917d260811}">
          <p14:sldIdLst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~10 s. Greet the committee and state the thesis title.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~5 s. Four parts: background and objectives, progress, next-stage plan, schedule.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~50 s. Traditional visual BCIs use large stimuli: SSVEP needs big flickering targets, the P300 speller a flashing symbol matrix. Both cover most of the view, so the user cannot watch the robot or the road. aVEP uses tiny stimuli beside each command: a left→right pair is code 0, right→left code 1. The scene stays visible, which is what device control needs; this is the goal of Chapter 3. The cost is a very weak signal, shown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~45 s. Left: grey lines are real single trials; red and blue are the class averages, black dashed their difference. Single trials swing by about ten microvolts, the class difference is about one, so a single trial carries very little of the signal. Responses to neighbouring pairs also overlap, since pairs come every 200 ms. Right: four real subjects. Sub18 follows the mirror rule, Sub22 peaks early, Sub17 is inverted, Sub05 barely responds. Across 28 subjects r ranges from −0.65 to 0.86 and the peak from 150 to 300 ms, so a model trained on some subjects transfers poorly to others.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~30 s. The observations give two decoding problems, and the thesis adds an application: Chapter 1 targets single-trial SNR, Chapter 2 cross-subject variability, Chapter 3 the online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~3 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~50 s. Completed so far: a verified, reproducible preprocessing pipeline and three leakage-free protocols. EEGNet is the stronger baseline: 74.4 % within subjects but 62.3 % across subjects, about 12 points lower. Chapter 1 targets single-trial accuracy, Chapter 2 the cross-subject drop.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64040" y="274320"/>
            <a:ext cx="237744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9464040" y="27432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[University logo]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A00000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600" b="1" dirty="0">
                <a:solidFill>
                  <a:schemeClr val="accent1"/>
                </a:solidFill>
              </a:defRPr>
            </a:lvl1pPr>
          </a:lstStyle>
          <a:p>
            <a:pPr algn="ctr" indent="0" marL="0">
              <a:buNone/>
            </a:pPr>
            <a:endParaRPr lang="en-US" sz="3600" dirty="0"/>
          </a:p>
        </p:txBody>
      </p:sp>
      <p:sp>
        <p:nvSpPr>
          <p:cNvPr id="6" name="Text 3"/>
          <p:cNvSpPr/>
          <p:nvPr>
            <p:ph idx="104" type="body" hasCustomPrompt="1"/>
          </p:nvPr>
        </p:nvSpPr>
        <p:spPr>
          <a:xfrm>
            <a:off x="2286000" y="4160520"/>
            <a:ext cx="758952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UTLIN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64040" y="274320"/>
            <a:ext cx="237744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9464040" y="27432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[University logo]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A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3749040" cy="6784848"/>
          </a:xfrm>
          <a:prstGeom prst="rect">
            <a:avLst/>
          </a:prstGeom>
          <a:solidFill>
            <a:srgbClr val="A00000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274320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Outline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382512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64040" y="274320"/>
            <a:ext cx="237744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9464040" y="27432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[University logo]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A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320040" y="274320"/>
            <a:ext cx="8229600" cy="749808"/>
          </a:xfrm>
          <a:prstGeom prst="rect">
            <a:avLst/>
          </a:prstGeom>
          <a:solidFill>
            <a:srgbClr val="A00000"/>
          </a:solidFill>
          <a:ln/>
          <a:effectLst>
            <a:outerShdw sx="100000" sy="100000" kx="0" ky="0" algn="bl" rotWithShape="0" blurRad="50800" dist="254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>
            <p:ph idx="104" type="title" hasCustomPrompt="1"/>
          </p:nvPr>
        </p:nvSpPr>
        <p:spPr>
          <a:xfrm>
            <a:off x="457200" y="274320"/>
            <a:ext cx="8001000" cy="7498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382512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382512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Decoding Miniature Asymmetric Visual Evoked Potentials with EEGNet-Based Methods</a:t>
            </a:r>
            <a:endParaRPr lang="en-US" sz="3600" dirty="0"/>
          </a:p>
        </p:txBody>
      </p:sp>
      <p:sp>
        <p:nvSpPr>
          <p:cNvPr id="3" name="Text 3"/>
          <p:cNvSpPr/>
          <p:nvPr>
            <p:ph idx="104" type="body" hasCustomPrompt="1"/>
          </p:nvPr>
        </p:nvSpPr>
        <p:spPr>
          <a:xfrm>
            <a:off x="2286000" y="4160520"/>
            <a:ext cx="7589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[Your Name]</a:t>
            </a:r>
            <a:endParaRPr lang="en-US" sz="20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Supervisor: [Supervisor Name]</a:t>
            </a:r>
            <a:endParaRPr lang="en-US" sz="20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[Date]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utline list"/>
          <p:cNvSpPr txBox="1"/>
          <p:nvPr/>
        </p:nvSpPr>
        <p:spPr>
          <a:xfrm>
            <a:off x="4389120" y="1920240"/>
            <a:ext cx="7132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2600" dirty="0">
                <a:solidFill>
                  <a:srgbClr val="A00000"/>
                </a:solidFill>
              </a:rPr>
              <a:t>Research Background and Objectives</a:t>
            </a:r>
            <a:endParaRPr lang="en-US" sz="26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2600" dirty="0">
                <a:solidFill>
                  <a:srgbClr val="000000"/>
                </a:solidFill>
              </a:rPr>
              <a:t>Research Progress and Stage Achievements</a:t>
            </a:r>
            <a:endParaRPr lang="en-US" sz="26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2600" dirty="0">
                <a:solidFill>
                  <a:srgbClr val="000000"/>
                </a:solidFill>
              </a:rPr>
              <a:t>Next-stage Research Plan</a:t>
            </a:r>
            <a:endParaRPr lang="en-US" sz="26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2600" dirty="0">
                <a:solidFill>
                  <a:srgbClr val="000000"/>
                </a:solidFill>
              </a:rPr>
              <a:t>Project Schedule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382512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457200" y="274320"/>
            <a:ext cx="8001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1 Research Background and Objectives</a:t>
            </a:r>
            <a:endParaRPr lang="en-US" sz="2800" dirty="0"/>
          </a:p>
        </p:txBody>
      </p:sp>
      <p:sp>
        <p:nvSpPr>
          <p:cNvPr id="3" name="Panel 0 head"/>
          <p:cNvSpPr txBox="1"/>
          <p:nvPr/>
        </p:nvSpPr>
        <p:spPr>
          <a:xfrm>
            <a:off x="502920" y="1161288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(a) SSVEP [1]</a:t>
            </a:r>
            <a:endParaRPr lang="en-US" sz="1600" dirty="0"/>
          </a:p>
        </p:txBody>
      </p:sp>
      <p:pic>
        <p:nvPicPr>
          <p:cNvPr id="4" name="Panel 0 scene" descr="Schematic workspace: robotic arm and objects on a tab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72768"/>
            <a:ext cx="3611880" cy="2258568"/>
          </a:xfrm>
          <a:prstGeom prst="rect">
            <a:avLst/>
          </a:prstGeom>
        </p:spPr>
      </p:pic>
      <p:sp>
        <p:nvSpPr>
          <p:cNvPr id="5" name="Panel 1 head"/>
          <p:cNvSpPr txBox="1"/>
          <p:nvPr/>
        </p:nvSpPr>
        <p:spPr>
          <a:xfrm>
            <a:off x="4297680" y="1161288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(b) Oddball (P300) [2]</a:t>
            </a:r>
            <a:endParaRPr lang="en-US" sz="1600" dirty="0"/>
          </a:p>
        </p:txBody>
      </p:sp>
      <p:pic>
        <p:nvPicPr>
          <p:cNvPr id="6" name="Panel 1 scene" descr="Schematic workspace: robotic arm and objects on a tab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572768"/>
            <a:ext cx="3611880" cy="2258568"/>
          </a:xfrm>
          <a:prstGeom prst="rect">
            <a:avLst/>
          </a:prstGeom>
        </p:spPr>
      </p:pic>
      <p:sp>
        <p:nvSpPr>
          <p:cNvPr id="7" name="Panel 2 head"/>
          <p:cNvSpPr txBox="1"/>
          <p:nvPr/>
        </p:nvSpPr>
        <p:spPr>
          <a:xfrm>
            <a:off x="8092440" y="1161288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(c) aVEP [3]</a:t>
            </a:r>
            <a:endParaRPr lang="en-US" sz="1600" dirty="0"/>
          </a:p>
        </p:txBody>
      </p:sp>
      <p:pic>
        <p:nvPicPr>
          <p:cNvPr id="8" name="Panel 2 scene" descr="Schematic workspace: robotic arm and objects on a tab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1572768"/>
            <a:ext cx="3611880" cy="2258568"/>
          </a:xfrm>
          <a:prstGeom prst="rect">
            <a:avLst/>
          </a:prstGeom>
        </p:spPr>
      </p:pic>
      <p:sp>
        <p:nvSpPr>
          <p:cNvPr id="9" name="SSVEP target 0"/>
          <p:cNvSpPr/>
          <p:nvPr/>
        </p:nvSpPr>
        <p:spPr>
          <a:xfrm>
            <a:off x="698602" y="1753362"/>
            <a:ext cx="658368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8.0 Hz</a:t>
            </a:r>
            <a:endParaRPr lang="en-US" sz="1100" dirty="0"/>
          </a:p>
        </p:txBody>
      </p:sp>
      <p:sp>
        <p:nvSpPr>
          <p:cNvPr id="10" name="SSVEP target 1"/>
          <p:cNvSpPr/>
          <p:nvPr/>
        </p:nvSpPr>
        <p:spPr>
          <a:xfrm>
            <a:off x="1552651" y="1753362"/>
            <a:ext cx="658368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8.5 Hz</a:t>
            </a:r>
            <a:endParaRPr lang="en-US" sz="1100" dirty="0"/>
          </a:p>
        </p:txBody>
      </p:sp>
      <p:sp>
        <p:nvSpPr>
          <p:cNvPr id="11" name="SSVEP target 2"/>
          <p:cNvSpPr/>
          <p:nvPr/>
        </p:nvSpPr>
        <p:spPr>
          <a:xfrm>
            <a:off x="2406701" y="1753362"/>
            <a:ext cx="658368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9.0 Hz</a:t>
            </a:r>
            <a:endParaRPr lang="en-US" sz="1100" dirty="0"/>
          </a:p>
        </p:txBody>
      </p:sp>
      <p:sp>
        <p:nvSpPr>
          <p:cNvPr id="12" name="SSVEP target 3"/>
          <p:cNvSpPr/>
          <p:nvPr/>
        </p:nvSpPr>
        <p:spPr>
          <a:xfrm>
            <a:off x="3260750" y="1753362"/>
            <a:ext cx="658368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9.5 Hz</a:t>
            </a:r>
            <a:endParaRPr lang="en-US" sz="1100" dirty="0"/>
          </a:p>
        </p:txBody>
      </p:sp>
      <p:sp>
        <p:nvSpPr>
          <p:cNvPr id="13" name="SSVEP target 4"/>
          <p:cNvSpPr/>
          <p:nvPr/>
        </p:nvSpPr>
        <p:spPr>
          <a:xfrm>
            <a:off x="698602" y="2446020"/>
            <a:ext cx="658368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10.0 Hz</a:t>
            </a:r>
            <a:endParaRPr lang="en-US" sz="1100" dirty="0"/>
          </a:p>
        </p:txBody>
      </p:sp>
      <p:sp>
        <p:nvSpPr>
          <p:cNvPr id="14" name="SSVEP target 5"/>
          <p:cNvSpPr/>
          <p:nvPr/>
        </p:nvSpPr>
        <p:spPr>
          <a:xfrm>
            <a:off x="1552651" y="2446020"/>
            <a:ext cx="658368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10.5 Hz</a:t>
            </a:r>
            <a:endParaRPr lang="en-US" sz="1100" dirty="0"/>
          </a:p>
        </p:txBody>
      </p:sp>
      <p:sp>
        <p:nvSpPr>
          <p:cNvPr id="15" name="SSVEP target 6"/>
          <p:cNvSpPr/>
          <p:nvPr/>
        </p:nvSpPr>
        <p:spPr>
          <a:xfrm>
            <a:off x="2406701" y="2446020"/>
            <a:ext cx="658368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11.0 Hz</a:t>
            </a:r>
            <a:endParaRPr lang="en-US" sz="1100" dirty="0"/>
          </a:p>
        </p:txBody>
      </p:sp>
      <p:sp>
        <p:nvSpPr>
          <p:cNvPr id="16" name="SSVEP target 7"/>
          <p:cNvSpPr/>
          <p:nvPr/>
        </p:nvSpPr>
        <p:spPr>
          <a:xfrm>
            <a:off x="3260750" y="2446020"/>
            <a:ext cx="658368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11.5 Hz</a:t>
            </a:r>
            <a:endParaRPr lang="en-US" sz="1100" dirty="0"/>
          </a:p>
        </p:txBody>
      </p:sp>
      <p:sp>
        <p:nvSpPr>
          <p:cNvPr id="17" name="SSVEP target 8"/>
          <p:cNvSpPr/>
          <p:nvPr/>
        </p:nvSpPr>
        <p:spPr>
          <a:xfrm>
            <a:off x="698602" y="3138678"/>
            <a:ext cx="658368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12.0 Hz</a:t>
            </a:r>
            <a:endParaRPr lang="en-US" sz="1100" dirty="0"/>
          </a:p>
        </p:txBody>
      </p:sp>
      <p:sp>
        <p:nvSpPr>
          <p:cNvPr id="18" name="SSVEP target 9"/>
          <p:cNvSpPr/>
          <p:nvPr/>
        </p:nvSpPr>
        <p:spPr>
          <a:xfrm>
            <a:off x="1552651" y="3138678"/>
            <a:ext cx="658368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12.5 Hz</a:t>
            </a:r>
            <a:endParaRPr lang="en-US" sz="1100" dirty="0"/>
          </a:p>
        </p:txBody>
      </p:sp>
      <p:sp>
        <p:nvSpPr>
          <p:cNvPr id="19" name="SSVEP target 10"/>
          <p:cNvSpPr/>
          <p:nvPr/>
        </p:nvSpPr>
        <p:spPr>
          <a:xfrm>
            <a:off x="2406701" y="3138678"/>
            <a:ext cx="658368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13.0 Hz</a:t>
            </a:r>
            <a:endParaRPr lang="en-US" sz="1100" dirty="0"/>
          </a:p>
        </p:txBody>
      </p:sp>
      <p:sp>
        <p:nvSpPr>
          <p:cNvPr id="20" name="SSVEP target 11"/>
          <p:cNvSpPr/>
          <p:nvPr/>
        </p:nvSpPr>
        <p:spPr>
          <a:xfrm>
            <a:off x="3260750" y="3138678"/>
            <a:ext cx="658368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13.5 Hz</a:t>
            </a:r>
            <a:endParaRPr lang="en-US" sz="1100" dirty="0"/>
          </a:p>
        </p:txBody>
      </p:sp>
      <p:sp>
        <p:nvSpPr>
          <p:cNvPr id="21" name="P300 matrix bg"/>
          <p:cNvSpPr/>
          <p:nvPr/>
        </p:nvSpPr>
        <p:spPr>
          <a:xfrm>
            <a:off x="4617720" y="1682496"/>
            <a:ext cx="2971800" cy="203911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2" name="P300 flashed row"/>
          <p:cNvSpPr/>
          <p:nvPr/>
        </p:nvSpPr>
        <p:spPr>
          <a:xfrm>
            <a:off x="4617720" y="2362200"/>
            <a:ext cx="2971800" cy="33985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23" name="P300 cell 0"/>
          <p:cNvSpPr txBox="1"/>
          <p:nvPr/>
        </p:nvSpPr>
        <p:spPr>
          <a:xfrm>
            <a:off x="4617720" y="1682496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A</a:t>
            </a:r>
            <a:endParaRPr lang="en-US" sz="1300" dirty="0"/>
          </a:p>
        </p:txBody>
      </p:sp>
      <p:sp>
        <p:nvSpPr>
          <p:cNvPr id="24" name="P300 cell 1"/>
          <p:cNvSpPr txBox="1"/>
          <p:nvPr/>
        </p:nvSpPr>
        <p:spPr>
          <a:xfrm>
            <a:off x="5113020" y="1682496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B</a:t>
            </a:r>
            <a:endParaRPr lang="en-US" sz="1300" dirty="0"/>
          </a:p>
        </p:txBody>
      </p:sp>
      <p:sp>
        <p:nvSpPr>
          <p:cNvPr id="25" name="P300 cell 2"/>
          <p:cNvSpPr txBox="1"/>
          <p:nvPr/>
        </p:nvSpPr>
        <p:spPr>
          <a:xfrm>
            <a:off x="5608320" y="1682496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C</a:t>
            </a:r>
            <a:endParaRPr lang="en-US" sz="1300" dirty="0"/>
          </a:p>
        </p:txBody>
      </p:sp>
      <p:sp>
        <p:nvSpPr>
          <p:cNvPr id="26" name="P300 cell 3"/>
          <p:cNvSpPr txBox="1"/>
          <p:nvPr/>
        </p:nvSpPr>
        <p:spPr>
          <a:xfrm>
            <a:off x="6103620" y="1682496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D</a:t>
            </a:r>
            <a:endParaRPr lang="en-US" sz="1300" dirty="0"/>
          </a:p>
        </p:txBody>
      </p:sp>
      <p:sp>
        <p:nvSpPr>
          <p:cNvPr id="27" name="P300 cell 4"/>
          <p:cNvSpPr txBox="1"/>
          <p:nvPr/>
        </p:nvSpPr>
        <p:spPr>
          <a:xfrm>
            <a:off x="6598920" y="1682496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E</a:t>
            </a:r>
            <a:endParaRPr lang="en-US" sz="1300" dirty="0"/>
          </a:p>
        </p:txBody>
      </p:sp>
      <p:sp>
        <p:nvSpPr>
          <p:cNvPr id="28" name="P300 cell 5"/>
          <p:cNvSpPr txBox="1"/>
          <p:nvPr/>
        </p:nvSpPr>
        <p:spPr>
          <a:xfrm>
            <a:off x="7094220" y="1682496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F</a:t>
            </a:r>
            <a:endParaRPr lang="en-US" sz="1300" dirty="0"/>
          </a:p>
        </p:txBody>
      </p:sp>
      <p:sp>
        <p:nvSpPr>
          <p:cNvPr id="29" name="P300 cell 6"/>
          <p:cNvSpPr txBox="1"/>
          <p:nvPr/>
        </p:nvSpPr>
        <p:spPr>
          <a:xfrm>
            <a:off x="4617720" y="2022348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G</a:t>
            </a:r>
            <a:endParaRPr lang="en-US" sz="1300" dirty="0"/>
          </a:p>
        </p:txBody>
      </p:sp>
      <p:sp>
        <p:nvSpPr>
          <p:cNvPr id="30" name="P300 cell 7"/>
          <p:cNvSpPr txBox="1"/>
          <p:nvPr/>
        </p:nvSpPr>
        <p:spPr>
          <a:xfrm>
            <a:off x="5113020" y="2022348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H</a:t>
            </a:r>
            <a:endParaRPr lang="en-US" sz="1300" dirty="0"/>
          </a:p>
        </p:txBody>
      </p:sp>
      <p:sp>
        <p:nvSpPr>
          <p:cNvPr id="31" name="P300 cell 8"/>
          <p:cNvSpPr txBox="1"/>
          <p:nvPr/>
        </p:nvSpPr>
        <p:spPr>
          <a:xfrm>
            <a:off x="5608320" y="2022348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I</a:t>
            </a:r>
            <a:endParaRPr lang="en-US" sz="1300" dirty="0"/>
          </a:p>
        </p:txBody>
      </p:sp>
      <p:sp>
        <p:nvSpPr>
          <p:cNvPr id="32" name="P300 cell 9"/>
          <p:cNvSpPr txBox="1"/>
          <p:nvPr/>
        </p:nvSpPr>
        <p:spPr>
          <a:xfrm>
            <a:off x="6103620" y="2022348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J</a:t>
            </a:r>
            <a:endParaRPr lang="en-US" sz="1300" dirty="0"/>
          </a:p>
        </p:txBody>
      </p:sp>
      <p:sp>
        <p:nvSpPr>
          <p:cNvPr id="33" name="P300 cell 10"/>
          <p:cNvSpPr txBox="1"/>
          <p:nvPr/>
        </p:nvSpPr>
        <p:spPr>
          <a:xfrm>
            <a:off x="6598920" y="2022348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K</a:t>
            </a:r>
            <a:endParaRPr lang="en-US" sz="1300" dirty="0"/>
          </a:p>
        </p:txBody>
      </p:sp>
      <p:sp>
        <p:nvSpPr>
          <p:cNvPr id="34" name="P300 cell 11"/>
          <p:cNvSpPr txBox="1"/>
          <p:nvPr/>
        </p:nvSpPr>
        <p:spPr>
          <a:xfrm>
            <a:off x="7094220" y="2022348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L</a:t>
            </a:r>
            <a:endParaRPr lang="en-US" sz="1300" dirty="0"/>
          </a:p>
        </p:txBody>
      </p:sp>
      <p:sp>
        <p:nvSpPr>
          <p:cNvPr id="35" name="P300 cell 12"/>
          <p:cNvSpPr txBox="1"/>
          <p:nvPr/>
        </p:nvSpPr>
        <p:spPr>
          <a:xfrm>
            <a:off x="4617720" y="2362200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</a:t>
            </a:r>
            <a:endParaRPr lang="en-US" sz="1300" dirty="0"/>
          </a:p>
        </p:txBody>
      </p:sp>
      <p:sp>
        <p:nvSpPr>
          <p:cNvPr id="36" name="P300 cell 13"/>
          <p:cNvSpPr txBox="1"/>
          <p:nvPr/>
        </p:nvSpPr>
        <p:spPr>
          <a:xfrm>
            <a:off x="5113020" y="2362200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N</a:t>
            </a:r>
            <a:endParaRPr lang="en-US" sz="1300" dirty="0"/>
          </a:p>
        </p:txBody>
      </p:sp>
      <p:sp>
        <p:nvSpPr>
          <p:cNvPr id="37" name="P300 cell 14"/>
          <p:cNvSpPr txBox="1"/>
          <p:nvPr/>
        </p:nvSpPr>
        <p:spPr>
          <a:xfrm>
            <a:off x="5608320" y="2362200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</a:t>
            </a:r>
            <a:endParaRPr lang="en-US" sz="1300" dirty="0"/>
          </a:p>
        </p:txBody>
      </p:sp>
      <p:sp>
        <p:nvSpPr>
          <p:cNvPr id="38" name="P300 cell 15"/>
          <p:cNvSpPr txBox="1"/>
          <p:nvPr/>
        </p:nvSpPr>
        <p:spPr>
          <a:xfrm>
            <a:off x="6103620" y="2362200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</a:t>
            </a:r>
            <a:endParaRPr lang="en-US" sz="1300" dirty="0"/>
          </a:p>
        </p:txBody>
      </p:sp>
      <p:sp>
        <p:nvSpPr>
          <p:cNvPr id="39" name="P300 cell 16"/>
          <p:cNvSpPr txBox="1"/>
          <p:nvPr/>
        </p:nvSpPr>
        <p:spPr>
          <a:xfrm>
            <a:off x="6598920" y="2362200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Q</a:t>
            </a:r>
            <a:endParaRPr lang="en-US" sz="1300" dirty="0"/>
          </a:p>
        </p:txBody>
      </p:sp>
      <p:sp>
        <p:nvSpPr>
          <p:cNvPr id="40" name="P300 cell 17"/>
          <p:cNvSpPr txBox="1"/>
          <p:nvPr/>
        </p:nvSpPr>
        <p:spPr>
          <a:xfrm>
            <a:off x="7094220" y="2362200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</a:t>
            </a:r>
            <a:endParaRPr lang="en-US" sz="1300" dirty="0"/>
          </a:p>
        </p:txBody>
      </p:sp>
      <p:sp>
        <p:nvSpPr>
          <p:cNvPr id="41" name="P300 cell 18"/>
          <p:cNvSpPr txBox="1"/>
          <p:nvPr/>
        </p:nvSpPr>
        <p:spPr>
          <a:xfrm>
            <a:off x="4617720" y="2702052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S</a:t>
            </a:r>
            <a:endParaRPr lang="en-US" sz="1300" dirty="0"/>
          </a:p>
        </p:txBody>
      </p:sp>
      <p:sp>
        <p:nvSpPr>
          <p:cNvPr id="42" name="P300 cell 19"/>
          <p:cNvSpPr txBox="1"/>
          <p:nvPr/>
        </p:nvSpPr>
        <p:spPr>
          <a:xfrm>
            <a:off x="5113020" y="2702052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T</a:t>
            </a:r>
            <a:endParaRPr lang="en-US" sz="1300" dirty="0"/>
          </a:p>
        </p:txBody>
      </p:sp>
      <p:sp>
        <p:nvSpPr>
          <p:cNvPr id="43" name="P300 cell 20"/>
          <p:cNvSpPr txBox="1"/>
          <p:nvPr/>
        </p:nvSpPr>
        <p:spPr>
          <a:xfrm>
            <a:off x="5608320" y="2702052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U</a:t>
            </a:r>
            <a:endParaRPr lang="en-US" sz="1300" dirty="0"/>
          </a:p>
        </p:txBody>
      </p:sp>
      <p:sp>
        <p:nvSpPr>
          <p:cNvPr id="44" name="P300 cell 21"/>
          <p:cNvSpPr txBox="1"/>
          <p:nvPr/>
        </p:nvSpPr>
        <p:spPr>
          <a:xfrm>
            <a:off x="6103620" y="2702052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V</a:t>
            </a:r>
            <a:endParaRPr lang="en-US" sz="1300" dirty="0"/>
          </a:p>
        </p:txBody>
      </p:sp>
      <p:sp>
        <p:nvSpPr>
          <p:cNvPr id="45" name="P300 cell 22"/>
          <p:cNvSpPr txBox="1"/>
          <p:nvPr/>
        </p:nvSpPr>
        <p:spPr>
          <a:xfrm>
            <a:off x="6598920" y="2702052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W</a:t>
            </a:r>
            <a:endParaRPr lang="en-US" sz="1300" dirty="0"/>
          </a:p>
        </p:txBody>
      </p:sp>
      <p:sp>
        <p:nvSpPr>
          <p:cNvPr id="46" name="P300 cell 23"/>
          <p:cNvSpPr txBox="1"/>
          <p:nvPr/>
        </p:nvSpPr>
        <p:spPr>
          <a:xfrm>
            <a:off x="7094220" y="2702052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X</a:t>
            </a:r>
            <a:endParaRPr lang="en-US" sz="1300" dirty="0"/>
          </a:p>
        </p:txBody>
      </p:sp>
      <p:sp>
        <p:nvSpPr>
          <p:cNvPr id="47" name="P300 cell 24"/>
          <p:cNvSpPr txBox="1"/>
          <p:nvPr/>
        </p:nvSpPr>
        <p:spPr>
          <a:xfrm>
            <a:off x="4617720" y="3041904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Y</a:t>
            </a:r>
            <a:endParaRPr lang="en-US" sz="1300" dirty="0"/>
          </a:p>
        </p:txBody>
      </p:sp>
      <p:sp>
        <p:nvSpPr>
          <p:cNvPr id="48" name="P300 cell 25"/>
          <p:cNvSpPr txBox="1"/>
          <p:nvPr/>
        </p:nvSpPr>
        <p:spPr>
          <a:xfrm>
            <a:off x="5113020" y="3041904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Z</a:t>
            </a:r>
            <a:endParaRPr lang="en-US" sz="1300" dirty="0"/>
          </a:p>
        </p:txBody>
      </p:sp>
      <p:sp>
        <p:nvSpPr>
          <p:cNvPr id="49" name="P300 cell 26"/>
          <p:cNvSpPr txBox="1"/>
          <p:nvPr/>
        </p:nvSpPr>
        <p:spPr>
          <a:xfrm>
            <a:off x="5608320" y="3041904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1</a:t>
            </a:r>
            <a:endParaRPr lang="en-US" sz="1300" dirty="0"/>
          </a:p>
        </p:txBody>
      </p:sp>
      <p:sp>
        <p:nvSpPr>
          <p:cNvPr id="50" name="P300 cell 27"/>
          <p:cNvSpPr txBox="1"/>
          <p:nvPr/>
        </p:nvSpPr>
        <p:spPr>
          <a:xfrm>
            <a:off x="6103620" y="3041904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2</a:t>
            </a:r>
            <a:endParaRPr lang="en-US" sz="1300" dirty="0"/>
          </a:p>
        </p:txBody>
      </p:sp>
      <p:sp>
        <p:nvSpPr>
          <p:cNvPr id="51" name="P300 cell 28"/>
          <p:cNvSpPr txBox="1"/>
          <p:nvPr/>
        </p:nvSpPr>
        <p:spPr>
          <a:xfrm>
            <a:off x="6598920" y="3041904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3</a:t>
            </a:r>
            <a:endParaRPr lang="en-US" sz="1300" dirty="0"/>
          </a:p>
        </p:txBody>
      </p:sp>
      <p:sp>
        <p:nvSpPr>
          <p:cNvPr id="52" name="P300 cell 29"/>
          <p:cNvSpPr txBox="1"/>
          <p:nvPr/>
        </p:nvSpPr>
        <p:spPr>
          <a:xfrm>
            <a:off x="7094220" y="3041904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4</a:t>
            </a:r>
            <a:endParaRPr lang="en-US" sz="1300" dirty="0"/>
          </a:p>
        </p:txBody>
      </p:sp>
      <p:sp>
        <p:nvSpPr>
          <p:cNvPr id="53" name="P300 cell 30"/>
          <p:cNvSpPr txBox="1"/>
          <p:nvPr/>
        </p:nvSpPr>
        <p:spPr>
          <a:xfrm>
            <a:off x="4617720" y="3381756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5</a:t>
            </a:r>
            <a:endParaRPr lang="en-US" sz="1300" dirty="0"/>
          </a:p>
        </p:txBody>
      </p:sp>
      <p:sp>
        <p:nvSpPr>
          <p:cNvPr id="54" name="P300 cell 31"/>
          <p:cNvSpPr txBox="1"/>
          <p:nvPr/>
        </p:nvSpPr>
        <p:spPr>
          <a:xfrm>
            <a:off x="5113020" y="3381756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6</a:t>
            </a:r>
            <a:endParaRPr lang="en-US" sz="1300" dirty="0"/>
          </a:p>
        </p:txBody>
      </p:sp>
      <p:sp>
        <p:nvSpPr>
          <p:cNvPr id="55" name="P300 cell 32"/>
          <p:cNvSpPr txBox="1"/>
          <p:nvPr/>
        </p:nvSpPr>
        <p:spPr>
          <a:xfrm>
            <a:off x="5608320" y="3381756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7</a:t>
            </a:r>
            <a:endParaRPr lang="en-US" sz="1300" dirty="0"/>
          </a:p>
        </p:txBody>
      </p:sp>
      <p:sp>
        <p:nvSpPr>
          <p:cNvPr id="56" name="P300 cell 33"/>
          <p:cNvSpPr txBox="1"/>
          <p:nvPr/>
        </p:nvSpPr>
        <p:spPr>
          <a:xfrm>
            <a:off x="6103620" y="3381756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8</a:t>
            </a:r>
            <a:endParaRPr lang="en-US" sz="1300" dirty="0"/>
          </a:p>
        </p:txBody>
      </p:sp>
      <p:sp>
        <p:nvSpPr>
          <p:cNvPr id="57" name="P300 cell 34"/>
          <p:cNvSpPr txBox="1"/>
          <p:nvPr/>
        </p:nvSpPr>
        <p:spPr>
          <a:xfrm>
            <a:off x="6598920" y="3381756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9</a:t>
            </a:r>
            <a:endParaRPr lang="en-US" sz="1300" dirty="0"/>
          </a:p>
        </p:txBody>
      </p:sp>
      <p:sp>
        <p:nvSpPr>
          <p:cNvPr id="58" name="P300 cell 35"/>
          <p:cNvSpPr txBox="1"/>
          <p:nvPr/>
        </p:nvSpPr>
        <p:spPr>
          <a:xfrm>
            <a:off x="7094220" y="3381756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_</a:t>
            </a:r>
            <a:endParaRPr lang="en-US" sz="1300" dirty="0"/>
          </a:p>
        </p:txBody>
      </p:sp>
      <p:sp>
        <p:nvSpPr>
          <p:cNvPr id="59" name="aVEP command 0"/>
          <p:cNvSpPr txBox="1"/>
          <p:nvPr/>
        </p:nvSpPr>
        <p:spPr>
          <a:xfrm>
            <a:off x="8229600" y="3538728"/>
            <a:ext cx="667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↑</a:t>
            </a:r>
            <a:endParaRPr lang="en-US" sz="1100" dirty="0"/>
          </a:p>
        </p:txBody>
      </p:sp>
      <p:sp>
        <p:nvSpPr>
          <p:cNvPr id="60" name="aVEP stimulus 0L"/>
          <p:cNvSpPr/>
          <p:nvPr/>
        </p:nvSpPr>
        <p:spPr>
          <a:xfrm>
            <a:off x="8417052" y="3625596"/>
            <a:ext cx="45720" cy="45720"/>
          </a:xfrm>
          <a:prstGeom prst="rect">
            <a:avLst/>
          </a:prstGeom>
          <a:solidFill>
            <a:srgbClr val="A00000"/>
          </a:solidFill>
          <a:ln/>
        </p:spPr>
      </p:sp>
      <p:sp>
        <p:nvSpPr>
          <p:cNvPr id="61" name="aVEP stimulus 0R"/>
          <p:cNvSpPr/>
          <p:nvPr/>
        </p:nvSpPr>
        <p:spPr>
          <a:xfrm>
            <a:off x="8663940" y="3625596"/>
            <a:ext cx="45720" cy="45720"/>
          </a:xfrm>
          <a:prstGeom prst="rect">
            <a:avLst/>
          </a:prstGeom>
          <a:solidFill>
            <a:srgbClr val="A00000"/>
          </a:solidFill>
          <a:ln/>
        </p:spPr>
      </p:sp>
      <p:sp>
        <p:nvSpPr>
          <p:cNvPr id="62" name="aVEP command 1"/>
          <p:cNvSpPr txBox="1"/>
          <p:nvPr/>
        </p:nvSpPr>
        <p:spPr>
          <a:xfrm>
            <a:off x="8897112" y="3538728"/>
            <a:ext cx="667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↓</a:t>
            </a:r>
            <a:endParaRPr lang="en-US" sz="1100" dirty="0"/>
          </a:p>
        </p:txBody>
      </p:sp>
      <p:sp>
        <p:nvSpPr>
          <p:cNvPr id="63" name="aVEP stimulus 1L"/>
          <p:cNvSpPr/>
          <p:nvPr/>
        </p:nvSpPr>
        <p:spPr>
          <a:xfrm>
            <a:off x="9084564" y="3625596"/>
            <a:ext cx="45720" cy="45720"/>
          </a:xfrm>
          <a:prstGeom prst="rect">
            <a:avLst/>
          </a:prstGeom>
          <a:solidFill>
            <a:srgbClr val="A00000"/>
          </a:solidFill>
          <a:ln/>
        </p:spPr>
      </p:sp>
      <p:sp>
        <p:nvSpPr>
          <p:cNvPr id="64" name="aVEP stimulus 1R"/>
          <p:cNvSpPr/>
          <p:nvPr/>
        </p:nvSpPr>
        <p:spPr>
          <a:xfrm>
            <a:off x="9331452" y="3625596"/>
            <a:ext cx="45720" cy="45720"/>
          </a:xfrm>
          <a:prstGeom prst="rect">
            <a:avLst/>
          </a:prstGeom>
          <a:solidFill>
            <a:srgbClr val="A00000"/>
          </a:solidFill>
          <a:ln/>
        </p:spPr>
      </p:sp>
      <p:sp>
        <p:nvSpPr>
          <p:cNvPr id="65" name="aVEP command 2"/>
          <p:cNvSpPr txBox="1"/>
          <p:nvPr/>
        </p:nvSpPr>
        <p:spPr>
          <a:xfrm>
            <a:off x="9564624" y="3538728"/>
            <a:ext cx="667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←</a:t>
            </a:r>
            <a:endParaRPr lang="en-US" sz="1100" dirty="0"/>
          </a:p>
        </p:txBody>
      </p:sp>
      <p:sp>
        <p:nvSpPr>
          <p:cNvPr id="66" name="aVEP stimulus 2L"/>
          <p:cNvSpPr/>
          <p:nvPr/>
        </p:nvSpPr>
        <p:spPr>
          <a:xfrm>
            <a:off x="9752076" y="3625596"/>
            <a:ext cx="45720" cy="45720"/>
          </a:xfrm>
          <a:prstGeom prst="rect">
            <a:avLst/>
          </a:prstGeom>
          <a:solidFill>
            <a:srgbClr val="A00000"/>
          </a:solidFill>
          <a:ln/>
        </p:spPr>
      </p:sp>
      <p:sp>
        <p:nvSpPr>
          <p:cNvPr id="67" name="aVEP stimulus 2R"/>
          <p:cNvSpPr/>
          <p:nvPr/>
        </p:nvSpPr>
        <p:spPr>
          <a:xfrm>
            <a:off x="9998964" y="3625596"/>
            <a:ext cx="45720" cy="45720"/>
          </a:xfrm>
          <a:prstGeom prst="rect">
            <a:avLst/>
          </a:prstGeom>
          <a:solidFill>
            <a:srgbClr val="A00000"/>
          </a:solidFill>
          <a:ln/>
        </p:spPr>
      </p:sp>
      <p:sp>
        <p:nvSpPr>
          <p:cNvPr id="68" name="aVEP command 3"/>
          <p:cNvSpPr txBox="1"/>
          <p:nvPr/>
        </p:nvSpPr>
        <p:spPr>
          <a:xfrm>
            <a:off x="10232136" y="3538728"/>
            <a:ext cx="667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→</a:t>
            </a:r>
            <a:endParaRPr lang="en-US" sz="1100" dirty="0"/>
          </a:p>
        </p:txBody>
      </p:sp>
      <p:sp>
        <p:nvSpPr>
          <p:cNvPr id="69" name="aVEP stimulus 3L"/>
          <p:cNvSpPr/>
          <p:nvPr/>
        </p:nvSpPr>
        <p:spPr>
          <a:xfrm>
            <a:off x="10419588" y="3625596"/>
            <a:ext cx="45720" cy="45720"/>
          </a:xfrm>
          <a:prstGeom prst="rect">
            <a:avLst/>
          </a:prstGeom>
          <a:solidFill>
            <a:srgbClr val="A00000"/>
          </a:solidFill>
          <a:ln/>
        </p:spPr>
      </p:sp>
      <p:sp>
        <p:nvSpPr>
          <p:cNvPr id="70" name="aVEP stimulus 3R"/>
          <p:cNvSpPr/>
          <p:nvPr/>
        </p:nvSpPr>
        <p:spPr>
          <a:xfrm>
            <a:off x="10666476" y="3625596"/>
            <a:ext cx="45720" cy="45720"/>
          </a:xfrm>
          <a:prstGeom prst="rect">
            <a:avLst/>
          </a:prstGeom>
          <a:solidFill>
            <a:srgbClr val="A00000"/>
          </a:solidFill>
          <a:ln/>
        </p:spPr>
      </p:sp>
      <p:sp>
        <p:nvSpPr>
          <p:cNvPr id="71" name="aVEP command 4"/>
          <p:cNvSpPr txBox="1"/>
          <p:nvPr/>
        </p:nvSpPr>
        <p:spPr>
          <a:xfrm>
            <a:off x="10899648" y="3538728"/>
            <a:ext cx="667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Grasp</a:t>
            </a:r>
            <a:endParaRPr lang="en-US" sz="1100" dirty="0"/>
          </a:p>
        </p:txBody>
      </p:sp>
      <p:sp>
        <p:nvSpPr>
          <p:cNvPr id="72" name="aVEP stimulus 4L"/>
          <p:cNvSpPr/>
          <p:nvPr/>
        </p:nvSpPr>
        <p:spPr>
          <a:xfrm>
            <a:off x="10968228" y="3625596"/>
            <a:ext cx="45720" cy="45720"/>
          </a:xfrm>
          <a:prstGeom prst="rect">
            <a:avLst/>
          </a:prstGeom>
          <a:solidFill>
            <a:srgbClr val="A00000"/>
          </a:solidFill>
          <a:ln/>
        </p:spPr>
      </p:sp>
      <p:sp>
        <p:nvSpPr>
          <p:cNvPr id="73" name="aVEP stimulus 4R"/>
          <p:cNvSpPr/>
          <p:nvPr/>
        </p:nvSpPr>
        <p:spPr>
          <a:xfrm>
            <a:off x="11452860" y="3625596"/>
            <a:ext cx="45720" cy="45720"/>
          </a:xfrm>
          <a:prstGeom prst="rect">
            <a:avLst/>
          </a:prstGeom>
          <a:solidFill>
            <a:srgbClr val="A00000"/>
          </a:solidFill>
          <a:ln/>
        </p:spPr>
      </p:sp>
      <p:sp>
        <p:nvSpPr>
          <p:cNvPr id="74" name="Panel 0 caption"/>
          <p:cNvSpPr txBox="1"/>
          <p:nvPr/>
        </p:nvSpPr>
        <p:spPr>
          <a:xfrm>
            <a:off x="502920" y="3886200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Large flickering targets, one frequency each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A00000"/>
                </a:solidFill>
              </a:rPr>
              <a:t>High visual burden: view largely occluded</a:t>
            </a:r>
            <a:endParaRPr lang="en-US" sz="1400" dirty="0"/>
          </a:p>
        </p:txBody>
      </p:sp>
      <p:sp>
        <p:nvSpPr>
          <p:cNvPr id="75" name="Panel 1 caption"/>
          <p:cNvSpPr txBox="1"/>
          <p:nvPr/>
        </p:nvSpPr>
        <p:spPr>
          <a:xfrm>
            <a:off x="4297680" y="3886200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Flashing rows / columns of a symbol matrix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A00000"/>
                </a:solidFill>
              </a:rPr>
              <a:t>High visual burden: view largely occluded</a:t>
            </a:r>
            <a:endParaRPr lang="en-US" sz="1400" dirty="0"/>
          </a:p>
        </p:txBody>
      </p:sp>
      <p:sp>
        <p:nvSpPr>
          <p:cNvPr id="76" name="Panel 2 caption"/>
          <p:cNvSpPr txBox="1"/>
          <p:nvPr/>
        </p:nvSpPr>
        <p:spPr>
          <a:xfrm>
            <a:off x="8092440" y="3886200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Miniature stimuli beside each command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E7B34"/>
                </a:solidFill>
              </a:rPr>
              <a:t>Low visual burden: environment stays visible</a:t>
            </a:r>
            <a:endParaRPr lang="en-US" sz="1400" dirty="0"/>
          </a:p>
        </p:txBody>
      </p:sp>
      <p:sp>
        <p:nvSpPr>
          <p:cNvPr id="77" name="Coding panel"/>
          <p:cNvSpPr/>
          <p:nvPr/>
        </p:nvSpPr>
        <p:spPr>
          <a:xfrm>
            <a:off x="502920" y="4553712"/>
            <a:ext cx="5486400" cy="134416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78" name="Coding head"/>
          <p:cNvSpPr txBox="1"/>
          <p:nvPr/>
        </p:nvSpPr>
        <p:spPr>
          <a:xfrm>
            <a:off x="685800" y="4645152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aVEP coding [3]: stimulus order = code</a:t>
            </a:r>
            <a:endParaRPr lang="en-US" sz="1600" dirty="0"/>
          </a:p>
        </p:txBody>
      </p:sp>
      <p:sp>
        <p:nvSpPr>
          <p:cNvPr id="79" name="Code 0 first"/>
          <p:cNvSpPr/>
          <p:nvPr/>
        </p:nvSpPr>
        <p:spPr>
          <a:xfrm>
            <a:off x="685800" y="4965192"/>
            <a:ext cx="548640" cy="365760"/>
          </a:xfrm>
          <a:prstGeom prst="rect">
            <a:avLst/>
          </a:prstGeom>
          <a:solidFill>
            <a:srgbClr val="262626"/>
          </a:solidFill>
          <a:ln/>
        </p:spPr>
      </p:sp>
      <p:sp>
        <p:nvSpPr>
          <p:cNvPr id="80" name="Code 0 first fixation"/>
          <p:cNvSpPr txBox="1"/>
          <p:nvPr/>
        </p:nvSpPr>
        <p:spPr>
          <a:xfrm>
            <a:off x="777240" y="4965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+</a:t>
            </a:r>
            <a:endParaRPr lang="en-US" sz="1000" dirty="0"/>
          </a:p>
        </p:txBody>
      </p:sp>
      <p:sp>
        <p:nvSpPr>
          <p:cNvPr id="81" name="Code 0 first L stimulus"/>
          <p:cNvSpPr/>
          <p:nvPr/>
        </p:nvSpPr>
        <p:spPr>
          <a:xfrm>
            <a:off x="811987" y="5120640"/>
            <a:ext cx="54864" cy="548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Code 0 arrow"/>
          <p:cNvSpPr/>
          <p:nvPr/>
        </p:nvSpPr>
        <p:spPr>
          <a:xfrm>
            <a:off x="1280160" y="5148072"/>
            <a:ext cx="274320" cy="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83" name="Code 0 second"/>
          <p:cNvSpPr/>
          <p:nvPr/>
        </p:nvSpPr>
        <p:spPr>
          <a:xfrm>
            <a:off x="1600200" y="4965192"/>
            <a:ext cx="548640" cy="365760"/>
          </a:xfrm>
          <a:prstGeom prst="rect">
            <a:avLst/>
          </a:prstGeom>
          <a:solidFill>
            <a:srgbClr val="262626"/>
          </a:solidFill>
          <a:ln/>
        </p:spPr>
      </p:sp>
      <p:sp>
        <p:nvSpPr>
          <p:cNvPr id="84" name="Code 0 second fixation"/>
          <p:cNvSpPr txBox="1"/>
          <p:nvPr/>
        </p:nvSpPr>
        <p:spPr>
          <a:xfrm>
            <a:off x="1691640" y="4965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+</a:t>
            </a:r>
            <a:endParaRPr lang="en-US" sz="1000" dirty="0"/>
          </a:p>
        </p:txBody>
      </p:sp>
      <p:sp>
        <p:nvSpPr>
          <p:cNvPr id="85" name="Code 0 second R stimulus"/>
          <p:cNvSpPr/>
          <p:nvPr/>
        </p:nvSpPr>
        <p:spPr>
          <a:xfrm>
            <a:off x="1967789" y="5120640"/>
            <a:ext cx="54864" cy="548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6" name="Code 0 label"/>
          <p:cNvSpPr txBox="1"/>
          <p:nvPr/>
        </p:nvSpPr>
        <p:spPr>
          <a:xfrm>
            <a:off x="2240280" y="496519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= code 0</a:t>
            </a:r>
            <a:endParaRPr lang="en-US" sz="1400" dirty="0"/>
          </a:p>
        </p:txBody>
      </p:sp>
      <p:sp>
        <p:nvSpPr>
          <p:cNvPr id="87" name="Code 1 first"/>
          <p:cNvSpPr/>
          <p:nvPr/>
        </p:nvSpPr>
        <p:spPr>
          <a:xfrm>
            <a:off x="3383280" y="4965192"/>
            <a:ext cx="548640" cy="365760"/>
          </a:xfrm>
          <a:prstGeom prst="rect">
            <a:avLst/>
          </a:prstGeom>
          <a:solidFill>
            <a:srgbClr val="262626"/>
          </a:solidFill>
          <a:ln/>
        </p:spPr>
      </p:sp>
      <p:sp>
        <p:nvSpPr>
          <p:cNvPr id="88" name="Code 1 first fixation"/>
          <p:cNvSpPr txBox="1"/>
          <p:nvPr/>
        </p:nvSpPr>
        <p:spPr>
          <a:xfrm>
            <a:off x="3474720" y="4965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+</a:t>
            </a:r>
            <a:endParaRPr lang="en-US" sz="1000" dirty="0"/>
          </a:p>
        </p:txBody>
      </p:sp>
      <p:sp>
        <p:nvSpPr>
          <p:cNvPr id="89" name="Code 1 first R stimulus"/>
          <p:cNvSpPr/>
          <p:nvPr/>
        </p:nvSpPr>
        <p:spPr>
          <a:xfrm>
            <a:off x="3750869" y="5120640"/>
            <a:ext cx="54864" cy="548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0" name="Code 1 arrow"/>
          <p:cNvSpPr/>
          <p:nvPr/>
        </p:nvSpPr>
        <p:spPr>
          <a:xfrm>
            <a:off x="3977640" y="5148072"/>
            <a:ext cx="274320" cy="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91" name="Code 1 second"/>
          <p:cNvSpPr/>
          <p:nvPr/>
        </p:nvSpPr>
        <p:spPr>
          <a:xfrm>
            <a:off x="4297680" y="4965192"/>
            <a:ext cx="548640" cy="365760"/>
          </a:xfrm>
          <a:prstGeom prst="rect">
            <a:avLst/>
          </a:prstGeom>
          <a:solidFill>
            <a:srgbClr val="262626"/>
          </a:solidFill>
          <a:ln/>
        </p:spPr>
      </p:sp>
      <p:sp>
        <p:nvSpPr>
          <p:cNvPr id="92" name="Code 1 second fixation"/>
          <p:cNvSpPr txBox="1"/>
          <p:nvPr/>
        </p:nvSpPr>
        <p:spPr>
          <a:xfrm>
            <a:off x="4389120" y="4965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+</a:t>
            </a:r>
            <a:endParaRPr lang="en-US" sz="1000" dirty="0"/>
          </a:p>
        </p:txBody>
      </p:sp>
      <p:sp>
        <p:nvSpPr>
          <p:cNvPr id="93" name="Code 1 second L stimulus"/>
          <p:cNvSpPr/>
          <p:nvPr/>
        </p:nvSpPr>
        <p:spPr>
          <a:xfrm>
            <a:off x="4423867" y="5120640"/>
            <a:ext cx="54864" cy="548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4" name="Code 1 label"/>
          <p:cNvSpPr txBox="1"/>
          <p:nvPr/>
        </p:nvSpPr>
        <p:spPr>
          <a:xfrm>
            <a:off x="4937760" y="496519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= code 1</a:t>
            </a:r>
            <a:endParaRPr lang="en-US" sz="1400" dirty="0"/>
          </a:p>
        </p:txBody>
      </p:sp>
      <p:sp>
        <p:nvSpPr>
          <p:cNvPr id="95" name="Coding task"/>
          <p:cNvSpPr txBox="1"/>
          <p:nvPr/>
        </p:nvSpPr>
        <p:spPr>
          <a:xfrm>
            <a:off x="685800" y="55595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Task: decode each pair (one every 200 ms) from single-trial EEG</a:t>
            </a:r>
            <a:endParaRPr lang="en-US" sz="1400" dirty="0"/>
          </a:p>
        </p:txBody>
      </p:sp>
      <p:sp>
        <p:nvSpPr>
          <p:cNvPr id="96" name="Application panel"/>
          <p:cNvSpPr/>
          <p:nvPr/>
        </p:nvSpPr>
        <p:spPr>
          <a:xfrm>
            <a:off x="6172200" y="4553712"/>
            <a:ext cx="5486400" cy="134416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97" name="Application"/>
          <p:cNvSpPr txBox="1"/>
          <p:nvPr/>
        </p:nvSpPr>
        <p:spPr>
          <a:xfrm>
            <a:off x="6355080" y="4645152"/>
            <a:ext cx="512064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Application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Robotic arms, unmanned vehicles: the user must keep watching the environment while issuing commands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→ Chapter 3: online aVEP-based robotic arm</a:t>
            </a:r>
            <a:endParaRPr lang="en-US" sz="1600" dirty="0"/>
          </a:p>
        </p:txBody>
      </p:sp>
      <p:sp>
        <p:nvSpPr>
          <p:cNvPr id="98" name="Reference"/>
          <p:cNvSpPr txBox="1"/>
          <p:nvPr/>
        </p:nvSpPr>
        <p:spPr>
          <a:xfrm>
            <a:off x="320040" y="59893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[1] X. Chen et al., PNAS, 2015.   [2] L. A. Farwell, E. Donchin, Electroencephalogr. Clin. Neurophysiol., 1988.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[3] M. Xu et al., IEEE Trans. Biomed. Eng., 2018.   Panels (a)–(c) are schematic illustrations.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382512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457200" y="274320"/>
            <a:ext cx="8001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1 Research Background and Objectives</a:t>
            </a:r>
            <a:endParaRPr lang="en-US" sz="2800" dirty="0"/>
          </a:p>
        </p:txBody>
      </p:sp>
      <p:sp>
        <p:nvSpPr>
          <p:cNvPr id="3" name="Challenge 1 head"/>
          <p:cNvSpPr txBox="1"/>
          <p:nvPr/>
        </p:nvSpPr>
        <p:spPr>
          <a:xfrm>
            <a:off x="411480" y="1161288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Challenge 1: Low single-trial SNR</a:t>
            </a:r>
            <a:endParaRPr lang="en-US" sz="1800" dirty="0"/>
          </a:p>
        </p:txBody>
      </p:sp>
      <p:pic>
        <p:nvPicPr>
          <p:cNvPr id="4" name="Challenge 1 figure" descr="Measured single trials (grey) vs. class averages, all 28 subjec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600200"/>
            <a:ext cx="5577840" cy="3429000"/>
          </a:xfrm>
          <a:prstGeom prst="rect">
            <a:avLst/>
          </a:prstGeom>
        </p:spPr>
      </p:pic>
      <p:sp>
        <p:nvSpPr>
          <p:cNvPr id="5" name="Challenge 2 head"/>
          <p:cNvSpPr txBox="1"/>
          <p:nvPr/>
        </p:nvSpPr>
        <p:spPr>
          <a:xfrm>
            <a:off x="6217920" y="1161288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Challenge 2: High inter-subject variability</a:t>
            </a:r>
            <a:endParaRPr lang="en-US" sz="1800" dirty="0"/>
          </a:p>
        </p:txBody>
      </p:sp>
      <p:pic>
        <p:nvPicPr>
          <p:cNvPr id="6" name="Challenge 2 figure" descr="Measured class averages of four example subjects and per-subject statistic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00200"/>
            <a:ext cx="5577840" cy="3429000"/>
          </a:xfrm>
          <a:prstGeom prst="rect">
            <a:avLst/>
          </a:prstGeom>
        </p:spPr>
      </p:pic>
      <p:sp>
        <p:nvSpPr>
          <p:cNvPr id="7" name="Challenge 1 text"/>
          <p:cNvSpPr txBox="1"/>
          <p:nvPr/>
        </p:nvSpPr>
        <p:spPr>
          <a:xfrm>
            <a:off x="548640" y="512064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Single trials fluctuate by about ±10 µV (SD 3.3 µV), while the class difference peaks at only ≈ 1 µV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→ The task-related ERP is buried in background EEG</a:t>
            </a:r>
            <a:endParaRPr lang="en-US" sz="1500" dirty="0"/>
          </a:p>
        </p:txBody>
      </p:sp>
      <p:sp>
        <p:nvSpPr>
          <p:cNvPr id="8" name="Challenge 2 text"/>
          <p:cNvSpPr txBox="1"/>
          <p:nvPr/>
        </p:nvSpPr>
        <p:spPr>
          <a:xfrm>
            <a:off x="6355080" y="512064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Mirror-symmetry r: −0.65 to 0.86;  peak latency: 150–300 ms;  peak amplitude: 0.3–3.9 µV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→ Waveform, timing and lateralization differ across subjects</a:t>
            </a:r>
            <a:endParaRPr lang="en-US" sz="1500" dirty="0"/>
          </a:p>
        </p:txBody>
      </p:sp>
      <p:sp>
        <p:nvSpPr>
          <p:cNvPr id="9" name="Reference"/>
          <p:cNvSpPr txBox="1"/>
          <p:nvPr/>
        </p:nvSpPr>
        <p:spPr>
          <a:xfrm>
            <a:off x="320040" y="59436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All waveforms are measured data (28 subjects; 1–30 Hz, common average reference). Signal: left − right hemisphere, mean of 9 mirror channel pairs. r: correlation of the class-0 pattern with the sign-flipped class-1 pattern (9 pairs × time; mirror rule gives r = 1). Peak latency: largest class difference within 80–300 ms.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382512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457200" y="274320"/>
            <a:ext cx="8001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1 Research Background and Objectives</a:t>
            </a:r>
            <a:endParaRPr lang="en-US" sz="2800" dirty="0"/>
          </a:p>
        </p:txBody>
      </p:sp>
      <p:graphicFrame>
        <p:nvGraphicFramePr>
          <p:cNvPr id="6" name="Objective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3840480"/>
                <a:gridCol w="365760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Current limitation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Research focus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① Chapter 1: Low single-trial SNR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Weak (≈ 1 µV), overlapping responses; single trials are unreliable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Distil the recoverable ERP from multi-trial averages (RED)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② Chapter 2: Inter-subject variability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Symmetry and latency differ by subject; cross-subject accuracy drops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Physiology-routed mixture of experts (LR-MoE)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③ Chapter 3: Offline-only validation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Decoders are evaluated offline only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Online EEG-based brain-controlled robotic arm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Research line"/>
          <p:cNvSpPr txBox="1"/>
          <p:nvPr/>
        </p:nvSpPr>
        <p:spPr>
          <a:xfrm>
            <a:off x="548640" y="55321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Single-trial decoding  →  Cross-subject generalization  →  Online application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382512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utline list"/>
          <p:cNvSpPr txBox="1"/>
          <p:nvPr/>
        </p:nvSpPr>
        <p:spPr>
          <a:xfrm>
            <a:off x="4389120" y="1920240"/>
            <a:ext cx="7132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2600" dirty="0">
                <a:solidFill>
                  <a:srgbClr val="000000"/>
                </a:solidFill>
              </a:rPr>
              <a:t>Research Background and Objectives</a:t>
            </a:r>
            <a:endParaRPr lang="en-US" sz="26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2600" dirty="0">
                <a:solidFill>
                  <a:srgbClr val="A00000"/>
                </a:solidFill>
              </a:rPr>
              <a:t>Research Progress and Stage Achievements</a:t>
            </a:r>
            <a:endParaRPr lang="en-US" sz="26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2600" dirty="0">
                <a:solidFill>
                  <a:srgbClr val="000000"/>
                </a:solidFill>
              </a:rPr>
              <a:t>Next-stage Research Plan</a:t>
            </a:r>
            <a:endParaRPr lang="en-US" sz="26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2600" dirty="0">
                <a:solidFill>
                  <a:srgbClr val="000000"/>
                </a:solidFill>
              </a:rPr>
              <a:t>Project Schedule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382512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457200" y="274320"/>
            <a:ext cx="8001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2 Research Progress and Stage Achievements</a:t>
            </a:r>
            <a:endParaRPr lang="en-US" sz="2800" dirty="0"/>
          </a:p>
        </p:txBody>
      </p:sp>
      <p:sp>
        <p:nvSpPr>
          <p:cNvPr id="3" name="Lead"/>
          <p:cNvSpPr txBox="1"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Completed: a verified preprocessing pipeline, leakage-free evaluation and two baselines.</a:t>
            </a:r>
            <a:endParaRPr lang="en-US" sz="1800" dirty="0"/>
          </a:p>
        </p:txBody>
      </p:sp>
      <p:sp>
        <p:nvSpPr>
          <p:cNvPr id="4" name="Pipeline head"/>
          <p:cNvSpPr txBox="1"/>
          <p:nvPr/>
        </p:nvSpPr>
        <p:spPr>
          <a:xfrm>
            <a:off x="548640" y="17830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Preprocessing pipeline</a:t>
            </a:r>
            <a:endParaRPr lang="en-US" sz="1800" dirty="0"/>
          </a:p>
        </p:txBody>
      </p:sp>
      <p:sp>
        <p:nvSpPr>
          <p:cNvPr id="5" name="Pipeline panel"/>
          <p:cNvSpPr/>
          <p:nvPr/>
        </p:nvSpPr>
        <p:spPr>
          <a:xfrm>
            <a:off x="548640" y="2194560"/>
            <a:ext cx="3931920" cy="37490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6" name="Pipeline step 0"/>
          <p:cNvSpPr txBox="1"/>
          <p:nvPr/>
        </p:nvSpPr>
        <p:spPr>
          <a:xfrm>
            <a:off x="640080" y="23317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Raw EEG: 21 channels, 200 Hz</a:t>
            </a:r>
            <a:endParaRPr lang="en-US" sz="1600" dirty="0"/>
          </a:p>
        </p:txBody>
      </p:sp>
      <p:sp>
        <p:nvSpPr>
          <p:cNvPr id="7" name="Pipeline arrow 0"/>
          <p:cNvSpPr/>
          <p:nvPr/>
        </p:nvSpPr>
        <p:spPr>
          <a:xfrm>
            <a:off x="2514600" y="2715768"/>
            <a:ext cx="0" cy="310896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8" name="Pipeline step 1"/>
          <p:cNvSpPr txBox="1"/>
          <p:nvPr/>
        </p:nvSpPr>
        <p:spPr>
          <a:xfrm>
            <a:off x="640080" y="30632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Band-pass 1–30 Hz (zero-phase FIR)</a:t>
            </a:r>
            <a:endParaRPr lang="en-US" sz="1600" dirty="0"/>
          </a:p>
        </p:txBody>
      </p:sp>
      <p:sp>
        <p:nvSpPr>
          <p:cNvPr id="9" name="Pipeline arrow 1"/>
          <p:cNvSpPr/>
          <p:nvPr/>
        </p:nvSpPr>
        <p:spPr>
          <a:xfrm>
            <a:off x="2514600" y="3447288"/>
            <a:ext cx="0" cy="310896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0" name="Pipeline step 2"/>
          <p:cNvSpPr txBox="1"/>
          <p:nvPr/>
        </p:nvSpPr>
        <p:spPr>
          <a:xfrm>
            <a:off x="640080" y="37947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Bad-channel interpolation + CAR</a:t>
            </a:r>
            <a:endParaRPr lang="en-US" sz="1600" dirty="0"/>
          </a:p>
        </p:txBody>
      </p:sp>
      <p:sp>
        <p:nvSpPr>
          <p:cNvPr id="11" name="Pipeline arrow 2"/>
          <p:cNvSpPr/>
          <p:nvPr/>
        </p:nvSpPr>
        <p:spPr>
          <a:xfrm>
            <a:off x="2514600" y="4178808"/>
            <a:ext cx="0" cy="310896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2" name="Pipeline step 3"/>
          <p:cNvSpPr txBox="1"/>
          <p:nvPr/>
        </p:nvSpPr>
        <p:spPr>
          <a:xfrm>
            <a:off x="640080" y="45262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Epoch 0.05–0.34 s after pair onset</a:t>
            </a:r>
            <a:endParaRPr lang="en-US" sz="1600" dirty="0"/>
          </a:p>
        </p:txBody>
      </p:sp>
      <p:sp>
        <p:nvSpPr>
          <p:cNvPr id="13" name="Pipeline arrow 3"/>
          <p:cNvSpPr/>
          <p:nvPr/>
        </p:nvSpPr>
        <p:spPr>
          <a:xfrm>
            <a:off x="2514600" y="4910328"/>
            <a:ext cx="0" cy="310896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4" name="Pipeline step 4"/>
          <p:cNvSpPr txBox="1"/>
          <p:nvPr/>
        </p:nvSpPr>
        <p:spPr>
          <a:xfrm>
            <a:off x="640080" y="52578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Session- / subject-wise splits (no leakage)</a:t>
            </a:r>
            <a:endParaRPr lang="en-US" sz="1600" dirty="0"/>
          </a:p>
        </p:txBody>
      </p:sp>
      <p:sp>
        <p:nvSpPr>
          <p:cNvPr id="15" name="Table caption"/>
          <p:cNvSpPr txBox="1"/>
          <p:nvPr/>
        </p:nvSpPr>
        <p:spPr>
          <a:xfrm>
            <a:off x="4937760" y="1783080"/>
            <a:ext cx="6720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Table 1.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Single-trial accuracy (%), mean ± std over 28 subjects (chance 50%)</a:t>
            </a:r>
            <a:endParaRPr lang="en-US" sz="1400" dirty="0"/>
          </a:p>
        </p:txBody>
      </p:sp>
      <p:graphicFrame>
        <p:nvGraphicFramePr>
          <p:cNvPr id="8" name="Baseline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2423160"/>
          <a:ext cx="67208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74520"/>
                <a:gridCol w="1691640"/>
                <a:gridCol w="16916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Method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Within-subject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Pooled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LOSO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DCPM [1]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72.57 ± 9.34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63.21 ± 6.76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60.34 ± 7.31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EEGNet [2]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A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74.40 ± 8.46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A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66.73 ± 8.59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A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62.26 ± 7.88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Protocols"/>
          <p:cNvSpPr txBox="1"/>
          <p:nvPr/>
        </p:nvSpPr>
        <p:spPr>
          <a:xfrm>
            <a:off x="4937760" y="3977640"/>
            <a:ext cx="6720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Within-subject: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leave-one-session-out, per subject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Pooled: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all subjects, leave-one-session-out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LOSO: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leave-one-subject-out (cross-subject)</a:t>
            </a:r>
            <a:endParaRPr lang="en-US" sz="1600" dirty="0"/>
          </a:p>
        </p:txBody>
      </p:sp>
      <p:sp>
        <p:nvSpPr>
          <p:cNvPr id="18" name="Finding"/>
          <p:cNvSpPr txBox="1"/>
          <p:nvPr/>
        </p:nvSpPr>
        <p:spPr>
          <a:xfrm>
            <a:off x="4937760" y="5166360"/>
            <a:ext cx="6720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Finding: accuracy drops by ≈ 12 points from within-subject to cross-subject, which motivates Chapters 1 and 2.</a:t>
            </a:r>
            <a:endParaRPr lang="en-US" sz="1800" dirty="0"/>
          </a:p>
        </p:txBody>
      </p:sp>
      <p:sp>
        <p:nvSpPr>
          <p:cNvPr id="19" name="Reference"/>
          <p:cNvSpPr txBox="1"/>
          <p:nvPr/>
        </p:nvSpPr>
        <p:spPr>
          <a:xfrm>
            <a:off x="320040" y="63550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[1] Xu et al., IEEE TBME, 2018.   [2] V. J. Lawhern et al. EEGNet: a compact convolutional neural network for EEG-based brain–computer interfaces. J. Neural Eng., 2018.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382512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esis Defense">
  <a:themeElements>
    <a:clrScheme name="Thesis Defense">
      <a:dk1>
        <a:srgbClr val="000000"/>
      </a:dk1>
      <a:lt1>
        <a:srgbClr val="FFFFFF"/>
      </a:lt1>
      <a:dk2>
        <a:srgbClr val="A00000"/>
      </a:dk2>
      <a:lt2>
        <a:srgbClr val="F2F2F2"/>
      </a:lt2>
      <a:accent1>
        <a:srgbClr val="A00000"/>
      </a:accent1>
      <a:accent2>
        <a:srgbClr val="262626"/>
      </a:accent2>
      <a:accent3>
        <a:srgbClr val="7F7F7F"/>
      </a:accent3>
      <a:accent4>
        <a:srgbClr val="BFBFBF"/>
      </a:accent4>
      <a:accent5>
        <a:srgbClr val="595959"/>
      </a:accent5>
      <a:accent6>
        <a:srgbClr val="C00000"/>
      </a:accent6>
      <a:hlink>
        <a:srgbClr val="A00000"/>
      </a:hlink>
      <a:folHlink>
        <a:srgbClr val="7F7F7F"/>
      </a:folHlink>
    </a:clrScheme>
    <a:fontScheme name="Thesis Defense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imes New Roma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Mid-term Thesis Defense</dc:title>
  <dc:subject>PptxGenJS Presentation</dc:subject>
  <dc:creator>PptxGenJS</dc:creator>
  <cp:lastModifiedBy>PptxGenJS</cp:lastModifiedBy>
  <cp:revision>1</cp:revision>
  <dcterms:created xsi:type="dcterms:W3CDTF">2026-10-27T03:02:19Z</dcterms:created>
  <dcterms:modified xsi:type="dcterms:W3CDTF">2026-10-27T03:02:19Z</dcterms:modified>
</cp:coreProperties>
</file>