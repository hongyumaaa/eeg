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ebf33c1-5792-1569-c610-3761caa616e9}">
          <p14:sldIdLst>
            <p14:sldId id="256"/>
          </p14:sldIdLst>
        </p14:section>
        <p14:section name="Research Background and Objectives" id="{7e5569b8-7e01-3228-cc78-8573f60adc8e}">
          <p14:sldIdLst>
            <p14:sldId id="257"/>
            <p14:sldId id="258"/>
            <p14:sldId id="259"/>
            <p14:sldId id="260"/>
          </p14:sldIdLst>
        </p14:section>
        <p14:section name="Research Progress and Stage Achievements" id="{5d3b28fb-b2b4-1b03-b8c3-baeecd1bd461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00000"/>
                </a:solidFill>
                <a:latin typeface="+mn-lt"/>
              </a:rPr>
              <a:t>Grand-average lateralization (n = 28)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Lateralization</c:v>
                </c:pt>
              </c:strCache>
            </c:strRef>
          </c:tx>
          <c:spPr>
            <a:solidFill>
              <a:srgbClr val="A00000"/>
            </a:solidFill>
            <a:ln w="31750" cap="flat">
              <a:solidFill>
                <a:srgbClr val="A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00000"/>
              </a:solidFill>
              <a:ln w="9525" cap="flat">
                <a:solidFill>
                  <a:srgbClr val="A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50</c:v>
                  </c:pt>
                  <c:pt idx="1">
                    <c:v>70</c:v>
                  </c:pt>
                  <c:pt idx="2">
                    <c:v>90</c:v>
                  </c:pt>
                  <c:pt idx="3">
                    <c:v>110</c:v>
                  </c:pt>
                  <c:pt idx="4">
                    <c:v>130</c:v>
                  </c:pt>
                  <c:pt idx="5">
                    <c:v>150</c:v>
                  </c:pt>
                  <c:pt idx="6">
                    <c:v>170</c:v>
                  </c:pt>
                  <c:pt idx="7">
                    <c:v>190</c:v>
                  </c:pt>
                  <c:pt idx="8">
                    <c:v>210</c:v>
                  </c:pt>
                  <c:pt idx="9">
                    <c:v>230</c:v>
                  </c:pt>
                  <c:pt idx="10">
                    <c:v>250</c:v>
                  </c:pt>
                  <c:pt idx="11">
                    <c:v>270</c:v>
                  </c:pt>
                  <c:pt idx="12">
                    <c:v>290</c:v>
                  </c:pt>
                  <c:pt idx="13">
                    <c:v>310</c:v>
                  </c:pt>
                  <c:pt idx="14">
                    <c:v>330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-0.01</c:v>
                </c:pt>
                <c:pt idx="1">
                  <c:v>-0.03</c:v>
                </c:pt>
                <c:pt idx="2">
                  <c:v>-0.44</c:v>
                </c:pt>
                <c:pt idx="3">
                  <c:v>-0.76</c:v>
                </c:pt>
                <c:pt idx="4">
                  <c:v>-0.38</c:v>
                </c:pt>
                <c:pt idx="5">
                  <c:v>0.04</c:v>
                </c:pt>
                <c:pt idx="6">
                  <c:v>0.12</c:v>
                </c:pt>
                <c:pt idx="7">
                  <c:v>0.65</c:v>
                </c:pt>
                <c:pt idx="8">
                  <c:v>1.01</c:v>
                </c:pt>
                <c:pt idx="9">
                  <c:v>0.32</c:v>
                </c:pt>
                <c:pt idx="10">
                  <c:v>-0.3</c:v>
                </c:pt>
                <c:pt idx="11">
                  <c:v>-0.42</c:v>
                </c:pt>
                <c:pt idx="12">
                  <c:v>-0.39</c:v>
                </c:pt>
                <c:pt idx="13">
                  <c:v>-0.18</c:v>
                </c:pt>
                <c:pt idx="14">
                  <c:v>0.02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1400" b="0" i="0" u="none" strike="noStrike">
                    <a:solidFill>
                      <a:srgbClr val="000000"/>
                    </a:solidFill>
                    <a:latin typeface="+mn-lt"/>
                  </a:rPr>
                  <a:t>Time after pair onset (ms)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-1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1400" b="0" i="0" u="none" strike="noStrike">
                    <a:solidFill>
                      <a:srgbClr val="000000"/>
                    </a:solidFill>
                    <a:latin typeface="+mn-lt"/>
                  </a:rPr>
                  <a:t>Amplitude (µV)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s. Greet the committee and state the thesis title.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 s. Four parts: background and objectives, progress, next-stage plan, schedule.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s. Visual BCIs are fast, but large flashing stimuli are tiring. Miniature lateral stimuli are comfortable, but the response is tiny. Each trial is a pair of stimuli; the task is to decode whether it went left→right or right→left from a single trial. (One sentence on the topic change, if needed.)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s. Exploratory analysis of the class-averaged ERPs: the effect is about 1 µV and changes sign between ~110 and ~210 ms, matching the stimulus order. Responses to neighbouring trials overlap, and subjects differ strongly in symmetry and latency.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~30 s. The observations give two decoding problems, and the thesis adds an application: Chapter 1 targets single-trial SNR, Chapter 2 cross-subject variability, Chapter 3 the online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s. Completed so far: a verified, reproducible preprocessing pipeline and three leakage-free protocols. EEGNet is the stronger baseline: 74.4 % within subjects but 62.3 % across subjects, about 12 points lower. Chapter 1 targets single-trial accuracy, Chapter 2 the cross-subject drop.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[University logo]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1"/>
                </a:solidFill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2286000" y="4160520"/>
            <a:ext cx="75895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UT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[University logo]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3749040" cy="6784848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2743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Outline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9464040" y="27432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[University logo]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274320"/>
            <a:ext cx="8229600" cy="749808"/>
          </a:xfrm>
          <a:prstGeom prst="rect">
            <a:avLst/>
          </a:prstGeom>
          <a:solidFill>
            <a:srgbClr val="A00000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Decoding Miniature Asymmetric Visual Evoked Potentials with EEGNet-Based Methods</a:t>
            </a:r>
            <a:endParaRPr lang="en-US" sz="3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2286000" y="416052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[Your Name]</a:t>
            </a:r>
            <a:endParaRPr lang="en-US" sz="20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Supervisor: [Supervisor Name]</a:t>
            </a:r>
            <a:endParaRPr lang="en-US" sz="20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[Date]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line list"/>
          <p:cNvSpPr txBox="1"/>
          <p:nvPr/>
        </p:nvSpPr>
        <p:spPr>
          <a:xfrm>
            <a:off x="4389120" y="1920240"/>
            <a:ext cx="7132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A00000"/>
                </a:solidFill>
              </a:rPr>
              <a:t>Research Background and Objectives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Research Progress and Stage Achievements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Next-stage Research Plan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Project Schedule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 Research Background and Objectives</a:t>
            </a:r>
            <a:endParaRPr lang="en-US" sz="2800" dirty="0"/>
          </a:p>
        </p:txBody>
      </p:sp>
      <p:sp>
        <p:nvSpPr>
          <p:cNvPr id="3" name="Screen"/>
          <p:cNvSpPr/>
          <p:nvPr/>
        </p:nvSpPr>
        <p:spPr>
          <a:xfrm>
            <a:off x="548640" y="1508760"/>
            <a:ext cx="3291840" cy="219456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4" name="Screen fixation"/>
          <p:cNvSpPr txBox="1"/>
          <p:nvPr/>
        </p:nvSpPr>
        <p:spPr>
          <a:xfrm>
            <a:off x="201168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300" b="1" dirty="0">
                <a:solidFill>
                  <a:schemeClr val="bg1"/>
                </a:solidFill>
              </a:rPr>
              <a:t>+</a:t>
            </a:r>
            <a:endParaRPr lang="en-US" sz="5300" dirty="0"/>
          </a:p>
        </p:txBody>
      </p:sp>
      <p:sp>
        <p:nvSpPr>
          <p:cNvPr id="5" name="Screen L stimulus"/>
          <p:cNvSpPr/>
          <p:nvPr/>
        </p:nvSpPr>
        <p:spPr>
          <a:xfrm>
            <a:off x="1481328" y="2529230"/>
            <a:ext cx="153619" cy="1536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creen R stimulus"/>
          <p:cNvSpPr/>
          <p:nvPr/>
        </p:nvSpPr>
        <p:spPr>
          <a:xfrm>
            <a:off x="2754173" y="2529230"/>
            <a:ext cx="153619" cy="1536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Caption a"/>
          <p:cNvSpPr txBox="1"/>
          <p:nvPr/>
        </p:nvSpPr>
        <p:spPr>
          <a:xfrm>
            <a:off x="548640" y="3794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(a) Miniature stimuli flank the fixation point</a:t>
            </a:r>
            <a:endParaRPr lang="en-US" sz="1400" dirty="0"/>
          </a:p>
        </p:txBody>
      </p:sp>
      <p:sp>
        <p:nvSpPr>
          <p:cNvPr id="8" name="Caption b head"/>
          <p:cNvSpPr txBox="1"/>
          <p:nvPr/>
        </p:nvSpPr>
        <p:spPr>
          <a:xfrm>
            <a:off x="4160520" y="1463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(b) One trial = one stimulus pair</a:t>
            </a:r>
            <a:endParaRPr lang="en-US" sz="1400" dirty="0"/>
          </a:p>
        </p:txBody>
      </p:sp>
      <p:sp>
        <p:nvSpPr>
          <p:cNvPr id="9" name="Class 0 first"/>
          <p:cNvSpPr/>
          <p:nvPr/>
        </p:nvSpPr>
        <p:spPr>
          <a:xfrm>
            <a:off x="4297680" y="1874520"/>
            <a:ext cx="1097280" cy="73152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10" name="Class 0 first fixation"/>
          <p:cNvSpPr txBox="1"/>
          <p:nvPr/>
        </p:nvSpPr>
        <p:spPr>
          <a:xfrm>
            <a:off x="466344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+</a:t>
            </a:r>
            <a:endParaRPr lang="en-US" sz="1800" dirty="0"/>
          </a:p>
        </p:txBody>
      </p:sp>
      <p:sp>
        <p:nvSpPr>
          <p:cNvPr id="11" name="Class 0 first L stimulus"/>
          <p:cNvSpPr/>
          <p:nvPr/>
        </p:nvSpPr>
        <p:spPr>
          <a:xfrm>
            <a:off x="4604918" y="2212848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Class 0 arrow"/>
          <p:cNvSpPr/>
          <p:nvPr/>
        </p:nvSpPr>
        <p:spPr>
          <a:xfrm>
            <a:off x="5486400" y="2240280"/>
            <a:ext cx="50292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3" name="Class 0 second"/>
          <p:cNvSpPr/>
          <p:nvPr/>
        </p:nvSpPr>
        <p:spPr>
          <a:xfrm>
            <a:off x="6080760" y="1874520"/>
            <a:ext cx="1097280" cy="73152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14" name="Class 0 second fixation"/>
          <p:cNvSpPr txBox="1"/>
          <p:nvPr/>
        </p:nvSpPr>
        <p:spPr>
          <a:xfrm>
            <a:off x="644652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+</a:t>
            </a:r>
            <a:endParaRPr lang="en-US" sz="1800" dirty="0"/>
          </a:p>
        </p:txBody>
      </p:sp>
      <p:sp>
        <p:nvSpPr>
          <p:cNvPr id="15" name="Class 0 second R stimulus"/>
          <p:cNvSpPr/>
          <p:nvPr/>
        </p:nvSpPr>
        <p:spPr>
          <a:xfrm>
            <a:off x="6815938" y="2212848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Class 0 label"/>
          <p:cNvSpPr txBox="1"/>
          <p:nvPr/>
        </p:nvSpPr>
        <p:spPr>
          <a:xfrm>
            <a:off x="4297680" y="26517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Class 0:  left → right</a:t>
            </a:r>
            <a:endParaRPr lang="en-US" sz="1400" dirty="0"/>
          </a:p>
        </p:txBody>
      </p:sp>
      <p:sp>
        <p:nvSpPr>
          <p:cNvPr id="17" name="Class 1 first"/>
          <p:cNvSpPr/>
          <p:nvPr/>
        </p:nvSpPr>
        <p:spPr>
          <a:xfrm>
            <a:off x="4297680" y="3017520"/>
            <a:ext cx="1097280" cy="73152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18" name="Class 1 first fixation"/>
          <p:cNvSpPr txBox="1"/>
          <p:nvPr/>
        </p:nvSpPr>
        <p:spPr>
          <a:xfrm>
            <a:off x="466344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+</a:t>
            </a:r>
            <a:endParaRPr lang="en-US" sz="1800" dirty="0"/>
          </a:p>
        </p:txBody>
      </p:sp>
      <p:sp>
        <p:nvSpPr>
          <p:cNvPr id="19" name="Class 1 first R stimulus"/>
          <p:cNvSpPr/>
          <p:nvPr/>
        </p:nvSpPr>
        <p:spPr>
          <a:xfrm>
            <a:off x="5032858" y="3355848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Class 1 arrow"/>
          <p:cNvSpPr/>
          <p:nvPr/>
        </p:nvSpPr>
        <p:spPr>
          <a:xfrm>
            <a:off x="5486400" y="3383280"/>
            <a:ext cx="502920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1" name="Class 1 second"/>
          <p:cNvSpPr/>
          <p:nvPr/>
        </p:nvSpPr>
        <p:spPr>
          <a:xfrm>
            <a:off x="6080760" y="3017520"/>
            <a:ext cx="1097280" cy="731520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22" name="Class 1 second fixation"/>
          <p:cNvSpPr txBox="1"/>
          <p:nvPr/>
        </p:nvSpPr>
        <p:spPr>
          <a:xfrm>
            <a:off x="644652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+</a:t>
            </a:r>
            <a:endParaRPr lang="en-US" sz="1800" dirty="0"/>
          </a:p>
        </p:txBody>
      </p:sp>
      <p:sp>
        <p:nvSpPr>
          <p:cNvPr id="23" name="Class 1 second L stimulus"/>
          <p:cNvSpPr/>
          <p:nvPr/>
        </p:nvSpPr>
        <p:spPr>
          <a:xfrm>
            <a:off x="6387998" y="3355848"/>
            <a:ext cx="54864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Class 1 label"/>
          <p:cNvSpPr txBox="1"/>
          <p:nvPr/>
        </p:nvSpPr>
        <p:spPr>
          <a:xfrm>
            <a:off x="4297680" y="37947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Class 1:  right → left</a:t>
            </a:r>
            <a:endParaRPr lang="en-US" sz="1400" dirty="0"/>
          </a:p>
        </p:txBody>
      </p:sp>
      <p:sp>
        <p:nvSpPr>
          <p:cNvPr id="25" name="Dataset"/>
          <p:cNvSpPr txBox="1"/>
          <p:nvPr/>
        </p:nvSpPr>
        <p:spPr>
          <a:xfrm>
            <a:off x="548640" y="44348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Dataset: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28 subjects × 6 sessions × 480 trials; 21 parieto-occipital channels, 200 Hz; stimulus pairs presented every 200 ms</a:t>
            </a:r>
            <a:endParaRPr lang="en-US" sz="1600" dirty="0"/>
          </a:p>
        </p:txBody>
      </p:sp>
      <p:sp>
        <p:nvSpPr>
          <p:cNvPr id="26" name="Background points"/>
          <p:cNvSpPr txBox="1"/>
          <p:nvPr/>
        </p:nvSpPr>
        <p:spPr>
          <a:xfrm>
            <a:off x="7726680" y="1508760"/>
            <a:ext cx="4114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Visual BCIs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High speed, but large flashing stimuli cause visual fatigue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Miniature lateral stimuli [1]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Small and unobtrusive, so more comfortable to use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Cost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Very weak response: class difference ≈ 1 µV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Task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Decode the stimulus order (left→right vs right→left) from a single trial</a:t>
            </a:r>
            <a:endParaRPr lang="en-US" sz="1800" dirty="0"/>
          </a:p>
        </p:txBody>
      </p:sp>
      <p:sp>
        <p:nvSpPr>
          <p:cNvPr id="27" name="Reference"/>
          <p:cNvSpPr txBox="1"/>
          <p:nvPr/>
        </p:nvSpPr>
        <p:spPr>
          <a:xfrm>
            <a:off x="32004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[1] M. Xu et al. A Brain–Computer Interface Based on Miniature-Event-Related Potentials Induced by Very Small Lateral Visual Stimuli. IEEE Trans. Biomed. Eng., 2018.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 Research Background and Objectives</a:t>
            </a:r>
            <a:endParaRPr lang="en-US" sz="2800" dirty="0"/>
          </a:p>
        </p:txBody>
      </p:sp>
      <p:graphicFrame>
        <p:nvGraphicFramePr>
          <p:cNvPr id="3" name="Lateralization chart" descr=""/>
          <p:cNvGraphicFramePr/>
          <p:nvPr/>
        </p:nvGraphicFramePr>
        <p:xfrm>
          <a:off x="411480" y="132588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hart note"/>
          <p:cNvSpPr txBox="1"/>
          <p:nvPr/>
        </p:nvSpPr>
        <p:spPr>
          <a:xfrm>
            <a:off x="548640" y="55778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Class difference (left→right − right→left) of the hemispheric difference, averaged over 9 mirror channel pairs</a:t>
            </a:r>
            <a:endParaRPr lang="en-US" sz="1200" dirty="0"/>
          </a:p>
        </p:txBody>
      </p:sp>
      <p:sp>
        <p:nvSpPr>
          <p:cNvPr id="5" name="Observations"/>
          <p:cNvSpPr txBox="1"/>
          <p:nvPr/>
        </p:nvSpPr>
        <p:spPr>
          <a:xfrm>
            <a:off x="7726680" y="1508760"/>
            <a:ext cx="4114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1. Very weak effect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Class difference ≈ 1 µV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2. Time-varying lateralization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Sign reverses: −0.76 µV at 110 ms, +1.01 µV at 210 ms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3. Overlapping responses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Pairs every 200 ms, so each epoch also contains the next trials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4. Inter-subject heterogeneity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Mirror-symmetry correlation −0.64 to 0.75; peak latency 105–245 ms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 Research Background and Objectives</a:t>
            </a:r>
            <a:endParaRPr lang="en-US" sz="2800" dirty="0"/>
          </a:p>
        </p:txBody>
      </p:sp>
      <p:graphicFrame>
        <p:nvGraphicFramePr>
          <p:cNvPr id="6" name="Objectiv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840480"/>
                <a:gridCol w="36576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Current limitation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Research focus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① Chapter 1: Low single-trial SNR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Weak (≈ 1 µV), overlapping responses; single trials are unreliable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Distil the recoverable ERP from multi-trial averages (RED)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② Chapter 2: Inter-subject variability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Symmetry and latency differ by subject; cross-subject accuracy drops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Physiology-routed mixture of experts (LR-MoE)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③ Chapter 3: Offline-only validation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Decoders are evaluated offline only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Online EEG-based brain-controlled robotic arm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Research line"/>
          <p:cNvSpPr txBox="1"/>
          <p:nvPr/>
        </p:nvSpPr>
        <p:spPr>
          <a:xfrm>
            <a:off x="548640" y="5532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Single-trial decoding  →  Cross-subject generalization  →  Online application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line list"/>
          <p:cNvSpPr txBox="1"/>
          <p:nvPr/>
        </p:nvSpPr>
        <p:spPr>
          <a:xfrm>
            <a:off x="4389120" y="1920240"/>
            <a:ext cx="7132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Research Background and Objectives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A00000"/>
                </a:solidFill>
              </a:rPr>
              <a:t>Research Progress and Stage Achievements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Next-stage Research Plan</a:t>
            </a:r>
            <a:endParaRPr lang="en-US" sz="26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600" dirty="0">
                <a:solidFill>
                  <a:srgbClr val="000000"/>
                </a:solidFill>
              </a:rPr>
              <a:t>Project Schedule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457200" y="274320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 Research Progress and Stage Achievements</a:t>
            </a:r>
            <a:endParaRPr lang="en-US" sz="28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Completed: a verified preprocessing pipeline, leakage-free evaluation and two baselines.</a:t>
            </a:r>
            <a:endParaRPr lang="en-US" sz="1800" dirty="0"/>
          </a:p>
        </p:txBody>
      </p:sp>
      <p:sp>
        <p:nvSpPr>
          <p:cNvPr id="4" name="Pipeline head"/>
          <p:cNvSpPr txBox="1"/>
          <p:nvPr/>
        </p:nvSpPr>
        <p:spPr>
          <a:xfrm>
            <a:off x="548640" y="1783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Preprocessing pipeline</a:t>
            </a:r>
            <a:endParaRPr lang="en-US" sz="1800" dirty="0"/>
          </a:p>
        </p:txBody>
      </p:sp>
      <p:sp>
        <p:nvSpPr>
          <p:cNvPr id="5" name="Pipeline panel"/>
          <p:cNvSpPr/>
          <p:nvPr/>
        </p:nvSpPr>
        <p:spPr>
          <a:xfrm>
            <a:off x="548640" y="2194560"/>
            <a:ext cx="3931920" cy="37490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Pipeline step 0"/>
          <p:cNvSpPr txBox="1"/>
          <p:nvPr/>
        </p:nvSpPr>
        <p:spPr>
          <a:xfrm>
            <a:off x="640080" y="2331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Raw EEG: 21 channels, 200 Hz</a:t>
            </a:r>
            <a:endParaRPr lang="en-US" sz="1600" dirty="0"/>
          </a:p>
        </p:txBody>
      </p:sp>
      <p:sp>
        <p:nvSpPr>
          <p:cNvPr id="7" name="Pipeline arrow 0"/>
          <p:cNvSpPr/>
          <p:nvPr/>
        </p:nvSpPr>
        <p:spPr>
          <a:xfrm>
            <a:off x="2514600" y="271576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" name="Pipeline step 1"/>
          <p:cNvSpPr txBox="1"/>
          <p:nvPr/>
        </p:nvSpPr>
        <p:spPr>
          <a:xfrm>
            <a:off x="640080" y="3063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Band-pass 1–30 Hz (zero-phase FIR)</a:t>
            </a:r>
            <a:endParaRPr lang="en-US" sz="1600" dirty="0"/>
          </a:p>
        </p:txBody>
      </p:sp>
      <p:sp>
        <p:nvSpPr>
          <p:cNvPr id="9" name="Pipeline arrow 1"/>
          <p:cNvSpPr/>
          <p:nvPr/>
        </p:nvSpPr>
        <p:spPr>
          <a:xfrm>
            <a:off x="2514600" y="344728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0" name="Pipeline step 2"/>
          <p:cNvSpPr txBox="1"/>
          <p:nvPr/>
        </p:nvSpPr>
        <p:spPr>
          <a:xfrm>
            <a:off x="640080" y="3794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Bad-channel interpolation + CAR</a:t>
            </a:r>
            <a:endParaRPr lang="en-US" sz="1600" dirty="0"/>
          </a:p>
        </p:txBody>
      </p:sp>
      <p:sp>
        <p:nvSpPr>
          <p:cNvPr id="11" name="Pipeline arrow 2"/>
          <p:cNvSpPr/>
          <p:nvPr/>
        </p:nvSpPr>
        <p:spPr>
          <a:xfrm>
            <a:off x="2514600" y="417880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2" name="Pipeline step 3"/>
          <p:cNvSpPr txBox="1"/>
          <p:nvPr/>
        </p:nvSpPr>
        <p:spPr>
          <a:xfrm>
            <a:off x="640080" y="4526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Epoch 0.05–0.34 s after pair onset</a:t>
            </a:r>
            <a:endParaRPr lang="en-US" sz="1600" dirty="0"/>
          </a:p>
        </p:txBody>
      </p:sp>
      <p:sp>
        <p:nvSpPr>
          <p:cNvPr id="13" name="Pipeline arrow 3"/>
          <p:cNvSpPr/>
          <p:nvPr/>
        </p:nvSpPr>
        <p:spPr>
          <a:xfrm>
            <a:off x="2514600" y="4910328"/>
            <a:ext cx="0" cy="31089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Pipeline step 4"/>
          <p:cNvSpPr txBox="1"/>
          <p:nvPr/>
        </p:nvSpPr>
        <p:spPr>
          <a:xfrm>
            <a:off x="640080" y="5257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Session- / subject-wise splits (no leakage)</a:t>
            </a:r>
            <a:endParaRPr lang="en-US" sz="1600" dirty="0"/>
          </a:p>
        </p:txBody>
      </p:sp>
      <p:sp>
        <p:nvSpPr>
          <p:cNvPr id="15" name="Table caption"/>
          <p:cNvSpPr txBox="1"/>
          <p:nvPr/>
        </p:nvSpPr>
        <p:spPr>
          <a:xfrm>
            <a:off x="4937760" y="1783080"/>
            <a:ext cx="6720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Table 1.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Single-trial accuracy (%), mean ± std over 28 subjects (chance 50%)</a:t>
            </a:r>
            <a:endParaRPr lang="en-US" sz="1400" dirty="0"/>
          </a:p>
        </p:txBody>
      </p:sp>
      <p:graphicFrame>
        <p:nvGraphicFramePr>
          <p:cNvPr id="8" name="Baselin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2423160"/>
          <a:ext cx="6720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74520"/>
                <a:gridCol w="1691640"/>
                <a:gridCol w="16916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Method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Within-subject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Pooled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LOSO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DCPM [1]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72.57 ± 9.34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63.21 ± 6.76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60.34 ± 7.31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EEGNet [2]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74.40 ± 8.46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66.73 ± 8.59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A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62.26 ± 7.88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Protocols"/>
          <p:cNvSpPr txBox="1"/>
          <p:nvPr/>
        </p:nvSpPr>
        <p:spPr>
          <a:xfrm>
            <a:off x="4937760" y="3977640"/>
            <a:ext cx="6720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Within-subject: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leave-one-session-out, per subject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Pooled: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all subjects, leave-one-session-out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LOSO: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leave-one-subject-out (cross-subject)</a:t>
            </a:r>
            <a:endParaRPr lang="en-US" sz="1600" dirty="0"/>
          </a:p>
        </p:txBody>
      </p:sp>
      <p:sp>
        <p:nvSpPr>
          <p:cNvPr id="18" name="Finding"/>
          <p:cNvSpPr txBox="1"/>
          <p:nvPr/>
        </p:nvSpPr>
        <p:spPr>
          <a:xfrm>
            <a:off x="4937760" y="5166360"/>
            <a:ext cx="6720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Finding: accuracy drops by ≈ 12 points from within-subject to cross-subject, which motivates Chapters 1 and 2.</a:t>
            </a:r>
            <a:endParaRPr lang="en-US" sz="1800" dirty="0"/>
          </a:p>
        </p:txBody>
      </p:sp>
      <p:sp>
        <p:nvSpPr>
          <p:cNvPr id="19" name="Reference"/>
          <p:cNvSpPr txBox="1"/>
          <p:nvPr/>
        </p:nvSpPr>
        <p:spPr>
          <a:xfrm>
            <a:off x="32004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[1] Xu et al., IEEE TBME, 2018.   [2] V. J. Lawhern et al. EEGNet: a compact convolutional neural network for EEG-based brain–computer interfaces. J. Neural Eng., 2018.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382512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sis Defense">
  <a:themeElements>
    <a:clrScheme name="Thesis Defense">
      <a:dk1>
        <a:srgbClr val="000000"/>
      </a:dk1>
      <a:lt1>
        <a:srgbClr val="FFFFFF"/>
      </a:lt1>
      <a:dk2>
        <a:srgbClr val="A00000"/>
      </a:dk2>
      <a:lt2>
        <a:srgbClr val="F2F2F2"/>
      </a:lt2>
      <a:accent1>
        <a:srgbClr val="A00000"/>
      </a:accent1>
      <a:accent2>
        <a:srgbClr val="262626"/>
      </a:accent2>
      <a:accent3>
        <a:srgbClr val="7F7F7F"/>
      </a:accent3>
      <a:accent4>
        <a:srgbClr val="BFBFBF"/>
      </a:accent4>
      <a:accent5>
        <a:srgbClr val="595959"/>
      </a:accent5>
      <a:accent6>
        <a:srgbClr val="C00000"/>
      </a:accent6>
      <a:hlink>
        <a:srgbClr val="A00000"/>
      </a:hlink>
      <a:folHlink>
        <a:srgbClr val="7F7F7F"/>
      </a:folHlink>
    </a:clrScheme>
    <a:fontScheme name="Thesis Defens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Mid-term Thesis Defense</dc:title>
  <dc:subject>PptxGenJS Presentation</dc:subject>
  <dc:creator>PptxGenJS</dc:creator>
  <cp:lastModifiedBy>PptxGenJS</cp:lastModifiedBy>
  <cp:revision>1</cp:revision>
  <dcterms:created xsi:type="dcterms:W3CDTF">2026-10-27T02:24:06Z</dcterms:created>
  <dcterms:modified xsi:type="dcterms:W3CDTF">2026-10-27T02:24:06Z</dcterms:modified>
</cp:coreProperties>
</file>