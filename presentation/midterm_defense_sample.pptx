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3aefa53-0be2-ed51-945c-ae2439e62908}">
          <p14:sldIdLst>
            <p14:sldId id="256"/>
          </p14:sldIdLst>
        </p14:section>
        <p14:section name="Research Background and Objectives" id="{24114870-df3c-cc28-875b-220ea79cf4c1}">
          <p14:sldIdLst>
            <p14:sldId id="257"/>
            <p14:sldId id="258"/>
            <p14:sldId id="259"/>
            <p14:sldId id="260"/>
          </p14:sldIdLst>
        </p14:section>
        <p14:section name="Research Progress and Stage Achievements" id="{76c28261-a12e-2d75-06ae-91c7474f93a6}">
          <p14:sldIdLst>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Greet the committee and state the thesis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 Four parts: background and objectives, progress, next-stage plan,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Traditional visual BCIs use large stimuli: SSVEP needs big flickering targets, the P300 speller a flashing symbol matrix. Both cover most of the view, so the user cannot watch the robot or the road. aVEP uses tiny stimuli beside each command: a left→right pair is code 0, right→left code 1. The scene stays visible, which is what device control needs; this is the goal of Chapter 3. The cost is a very weak signal, shown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Left: grey lines are real single trials; red and blue are the class averages, black dashed their difference. Single trials swing by about ten microvolts, the class difference is about one, so a single trial carries very little of the signal. Responses to neighbouring pairs also overlap, since pairs come every 200 ms. Right: four real subjects. Sub18 follows the mirror rule, Sub22 peaks early, Sub17 is inverted, Sub05 barely responds. Across 28 subjects r ranges from −0.65 to 0.86 and the peak from 150 to 300 ms, so a model trained on some subjects transfers poorly to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The observations give two decoding problems, and the thesis adds an application: Chapter 1 targets single-trial SNR, Chapter 2 cross-subject variability, Chapter 3 the online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Completed so far: a verified, reproducible preprocessing pipeline and three leakage-free protocols. EEGNet is the stronger baseline: 74.4 % within subjects but 62.3 % across subjects, about 12 points lower. Chapter 1 targets single-trial accuracy, Chapter 2 the cross-subject drop.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s. Stage 1, training only: a teacher EEGNet learns from k-trial averages, which have much higher SNR, then is frozen. Stage 2: the student sees single trials. Besides the label loss, a linear decoder reconstructs the ERP from the student's features and is trained against the average of the other trials in the same group; because that target never contains x, the best possible output is the expected ERP given x, i.e. only what is recoverable. The frozen teacher classifies this reconstruction and its verdict is distilled into the student. At test time only the EEGNet remains.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How Chapter 1 will be evaluated. (a) Within-subject accuracy against the measured baselines; the red bars are placeholders. (b) Ablation: each loss term on its own, the full method, and naive distillation, which we expect not to help. (c) Gain per subject. (d) is real: a simple linear Noise2Noise estimator, trained to predict the average of the other trials in the group, already recovers about 30 % of that held-out ERP from one trial, while the raw trial is a worse predictor than zero. This is the recoverable part RED is built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s. Subjects differ in how symmetric and how fast their response is, so one model does not fit all. The mirror operator splits each trial into an antisymmetric, lateralized stream and a symmetric, shared stream. After a shared temporal convolution, three expert families process them: mirror-equivariant experts for strong lateralizers, hemisphere-dominant experts for asymmetric responders, and symmetric experts for the shared response, each with early, middle and late latency variants. A small router reads interpretable descriptors of the trial and gives soft top-2 weights to the experts. Test: leave-one-subject-out without target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How Chapter 2 will be evaluated. (a) Leave-one-subject-out accuracy against the measured baselines and a generic mixture of experts. (b) With a few labelled trials, tuning only the router should approach the within-subject level faster than fine-tuning EEGNet. (c) Routing weights per subject, sorted by the measured mirror correlation: strong lateralizers should use the mirror-equivariant experts. (d) Per-subject accuracy; points above the diagonal are improvements. All LR-MoE values here are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64040" y="274320"/>
            <a:ext cx="2377440" cy="731520"/>
          </a:xfrm>
          <a:prstGeom prst="rect">
            <a:avLst/>
          </a:prstGeom>
          <a:solidFill>
            <a:srgbClr val="FFFFFF"/>
          </a:solidFill>
          <a:ln w="9525">
            <a:solidFill>
              <a:srgbClr val="BFBFBF"/>
            </a:solidFill>
            <a:prstDash val="dash"/>
          </a:ln>
        </p:spPr>
      </p:sp>
      <p:sp>
        <p:nvSpPr>
          <p:cNvPr id="3" name="Text 1"/>
          <p:cNvSpPr/>
          <p:nvPr/>
        </p:nvSpPr>
        <p:spPr>
          <a:xfrm>
            <a:off x="9464040" y="274320"/>
            <a:ext cx="2377440" cy="731520"/>
          </a:xfrm>
          <a:prstGeom prst="rect">
            <a:avLst/>
          </a:prstGeom>
          <a:noFill/>
          <a:ln/>
        </p:spPr>
        <p:txBody>
          <a:bodyPr wrap="square" rtlCol="0" anchor="ctr"/>
          <a:lstStyle/>
          <a:p>
            <a:pPr algn="ctr" indent="0" marL="0">
              <a:buNone/>
            </a:pPr>
            <a:r>
              <a:rPr lang="en-US" sz="1200" dirty="0">
                <a:solidFill>
                  <a:schemeClr val="accent3"/>
                </a:solidFill>
              </a:rPr>
              <a:t>[University logo]</a:t>
            </a:r>
            <a:endParaRPr lang="en-US" sz="1200" dirty="0"/>
          </a:p>
        </p:txBody>
      </p:sp>
      <p:sp>
        <p:nvSpPr>
          <p:cNvPr id="4" name="Shape 2"/>
          <p:cNvSpPr/>
          <p:nvPr/>
        </p:nvSpPr>
        <p:spPr>
          <a:xfrm>
            <a:off x="0" y="6784848"/>
            <a:ext cx="12191695" cy="73152"/>
          </a:xfrm>
          <a:prstGeom prst="rect">
            <a:avLst/>
          </a:prstGeom>
          <a:solidFill>
            <a:srgbClr val="A00000"/>
          </a:solidFill>
          <a:ln/>
        </p:spPr>
      </p:sp>
      <p:sp>
        <p:nvSpPr>
          <p:cNvPr id="5" name="Text 3"/>
          <p:cNvSpPr/>
          <p:nvPr>
            <p:ph idx="103" type="title" hasCustomPrompt="1"/>
          </p:nvPr>
        </p:nvSpPr>
        <p:spPr>
          <a:xfrm>
            <a:off x="822960" y="1645920"/>
            <a:ext cx="10515600" cy="1828800"/>
          </a:xfrm>
          <a:prstGeom prst="rect">
            <a:avLst/>
          </a:prstGeom>
          <a:noFill/>
          <a:ln/>
        </p:spPr>
        <p:txBody>
          <a:bodyPr wrap="square" rtlCol="0"/>
          <a:lstStyle>
            <a:lvl1pPr algn="ctr" indent="0" marL="0">
              <a:buNone/>
              <a:defRPr lang="en-US" sz="3600" b="1" dirty="0">
                <a:solidFill>
                  <a:schemeClr val="accent1"/>
                </a:solidFill>
              </a:defRPr>
            </a:lvl1pPr>
          </a:lstStyle>
          <a:p>
            <a:pPr algn="ctr" indent="0" marL="0">
              <a:buNone/>
            </a:pPr>
            <a:endParaRPr lang="en-US" sz="3600" dirty="0"/>
          </a:p>
        </p:txBody>
      </p:sp>
      <p:sp>
        <p:nvSpPr>
          <p:cNvPr id="6" name="Text 3"/>
          <p:cNvSpPr/>
          <p:nvPr>
            <p:ph idx="104" type="body" hasCustomPrompt="1"/>
          </p:nvPr>
        </p:nvSpPr>
        <p:spPr>
          <a:xfrm>
            <a:off x="2286000" y="4160520"/>
            <a:ext cx="7589520" cy="1463040"/>
          </a:xfrm>
          <a:prstGeom prst="rect">
            <a:avLst/>
          </a:prstGeom>
          <a:noFill/>
          <a:ln/>
        </p:spPr>
        <p:txBody>
          <a:bodyPr wrap="square" rtlCol="0"/>
          <a:lstStyle>
            <a:lvl1pPr algn="ctr" indent="0" marL="0">
              <a:buNone/>
              <a:defRPr lang="en-US" sz="2000" dirty="0">
                <a:solidFill>
                  <a:schemeClr val="tx1"/>
                </a:solidFill>
              </a:defRPr>
            </a:lvl1pPr>
          </a:lstStyle>
          <a:p>
            <a:pPr algn="ct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UTLIN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64040" y="274320"/>
            <a:ext cx="2377440" cy="731520"/>
          </a:xfrm>
          <a:prstGeom prst="rect">
            <a:avLst/>
          </a:prstGeom>
          <a:solidFill>
            <a:srgbClr val="FFFFFF"/>
          </a:solidFill>
          <a:ln w="9525">
            <a:solidFill>
              <a:srgbClr val="BFBFBF"/>
            </a:solidFill>
            <a:prstDash val="dash"/>
          </a:ln>
        </p:spPr>
      </p:sp>
      <p:sp>
        <p:nvSpPr>
          <p:cNvPr id="3" name="Text 1"/>
          <p:cNvSpPr/>
          <p:nvPr/>
        </p:nvSpPr>
        <p:spPr>
          <a:xfrm>
            <a:off x="9464040" y="274320"/>
            <a:ext cx="2377440" cy="731520"/>
          </a:xfrm>
          <a:prstGeom prst="rect">
            <a:avLst/>
          </a:prstGeom>
          <a:noFill/>
          <a:ln/>
        </p:spPr>
        <p:txBody>
          <a:bodyPr wrap="square" rtlCol="0" anchor="ctr"/>
          <a:lstStyle/>
          <a:p>
            <a:pPr algn="ctr" indent="0" marL="0">
              <a:buNone/>
            </a:pPr>
            <a:r>
              <a:rPr lang="en-US" sz="1200" dirty="0">
                <a:solidFill>
                  <a:schemeClr val="accent3"/>
                </a:solidFill>
              </a:rPr>
              <a:t>[University logo]</a:t>
            </a:r>
            <a:endParaRPr lang="en-US" sz="1200" dirty="0"/>
          </a:p>
        </p:txBody>
      </p:sp>
      <p:sp>
        <p:nvSpPr>
          <p:cNvPr id="4" name="Shape 2"/>
          <p:cNvSpPr/>
          <p:nvPr/>
        </p:nvSpPr>
        <p:spPr>
          <a:xfrm>
            <a:off x="0" y="6784848"/>
            <a:ext cx="12191695" cy="73152"/>
          </a:xfrm>
          <a:prstGeom prst="rect">
            <a:avLst/>
          </a:prstGeom>
          <a:solidFill>
            <a:srgbClr val="A00000"/>
          </a:solidFill>
          <a:ln/>
        </p:spPr>
      </p:sp>
      <p:sp>
        <p:nvSpPr>
          <p:cNvPr id="5" name="Shape 3"/>
          <p:cNvSpPr/>
          <p:nvPr/>
        </p:nvSpPr>
        <p:spPr>
          <a:xfrm>
            <a:off x="0" y="0"/>
            <a:ext cx="3749040" cy="6784848"/>
          </a:xfrm>
          <a:prstGeom prst="rect">
            <a:avLst/>
          </a:prstGeom>
          <a:solidFill>
            <a:srgbClr val="A00000"/>
          </a:solidFill>
          <a:ln/>
        </p:spPr>
      </p:sp>
      <p:sp>
        <p:nvSpPr>
          <p:cNvPr id="6" name="Text 4"/>
          <p:cNvSpPr/>
          <p:nvPr/>
        </p:nvSpPr>
        <p:spPr>
          <a:xfrm>
            <a:off x="274320" y="2743200"/>
            <a:ext cx="3200400" cy="914400"/>
          </a:xfrm>
          <a:prstGeom prst="rect">
            <a:avLst/>
          </a:prstGeom>
          <a:noFill/>
          <a:ln/>
        </p:spPr>
        <p:txBody>
          <a:bodyPr wrap="square" rtlCol="0" anchor="ctr"/>
          <a:lstStyle/>
          <a:p>
            <a:pPr algn="ctr" indent="0" marL="0">
              <a:buNone/>
            </a:pPr>
            <a:r>
              <a:rPr lang="en-US" sz="4000" b="1" dirty="0">
                <a:solidFill>
                  <a:schemeClr val="bg1"/>
                </a:solidFill>
              </a:rPr>
              <a:t>Outline</a:t>
            </a:r>
            <a:endParaRPr lang="en-US" sz="4000" dirty="0"/>
          </a:p>
        </p:txBody>
      </p:sp>
      <p:sp>
        <p:nvSpPr>
          <p:cNvPr id="25" name="Slide Number Placeholder 0"/>
          <p:cNvSpPr>
            <a:spLocks noGrp="1"/>
          </p:cNvSpPr>
          <p:nvPr>
            <p:ph type="sldNum" sz="quarter" idx="4294967295"/>
          </p:nvPr>
        </p:nvSpPr>
        <p:spPr>
          <a:xfrm>
            <a:off x="11292840" y="6382512"/>
            <a:ext cx="59436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64040" y="274320"/>
            <a:ext cx="2377440" cy="731520"/>
          </a:xfrm>
          <a:prstGeom prst="rect">
            <a:avLst/>
          </a:prstGeom>
          <a:solidFill>
            <a:srgbClr val="FFFFFF"/>
          </a:solidFill>
          <a:ln w="9525">
            <a:solidFill>
              <a:srgbClr val="BFBFBF"/>
            </a:solidFill>
            <a:prstDash val="dash"/>
          </a:ln>
        </p:spPr>
      </p:sp>
      <p:sp>
        <p:nvSpPr>
          <p:cNvPr id="3" name="Text 1"/>
          <p:cNvSpPr/>
          <p:nvPr/>
        </p:nvSpPr>
        <p:spPr>
          <a:xfrm>
            <a:off x="9464040" y="274320"/>
            <a:ext cx="2377440" cy="731520"/>
          </a:xfrm>
          <a:prstGeom prst="rect">
            <a:avLst/>
          </a:prstGeom>
          <a:noFill/>
          <a:ln/>
        </p:spPr>
        <p:txBody>
          <a:bodyPr wrap="square" rtlCol="0" anchor="ctr"/>
          <a:lstStyle/>
          <a:p>
            <a:pPr algn="ctr" indent="0" marL="0">
              <a:buNone/>
            </a:pPr>
            <a:r>
              <a:rPr lang="en-US" sz="1200" dirty="0">
                <a:solidFill>
                  <a:schemeClr val="accent3"/>
                </a:solidFill>
              </a:rPr>
              <a:t>[University logo]</a:t>
            </a:r>
            <a:endParaRPr lang="en-US" sz="1200" dirty="0"/>
          </a:p>
        </p:txBody>
      </p:sp>
      <p:sp>
        <p:nvSpPr>
          <p:cNvPr id="4" name="Shape 2"/>
          <p:cNvSpPr/>
          <p:nvPr/>
        </p:nvSpPr>
        <p:spPr>
          <a:xfrm>
            <a:off x="0" y="6784848"/>
            <a:ext cx="12191695" cy="73152"/>
          </a:xfrm>
          <a:prstGeom prst="rect">
            <a:avLst/>
          </a:prstGeom>
          <a:solidFill>
            <a:srgbClr val="A00000"/>
          </a:solidFill>
          <a:ln/>
        </p:spPr>
      </p:sp>
      <p:sp>
        <p:nvSpPr>
          <p:cNvPr id="5" name="Shape 3"/>
          <p:cNvSpPr/>
          <p:nvPr/>
        </p:nvSpPr>
        <p:spPr>
          <a:xfrm>
            <a:off x="320040" y="274320"/>
            <a:ext cx="8229600" cy="749808"/>
          </a:xfrm>
          <a:prstGeom prst="rect">
            <a:avLst/>
          </a:prstGeom>
          <a:solidFill>
            <a:srgbClr val="A00000"/>
          </a:solidFill>
          <a:ln/>
          <a:effectLst>
            <a:outerShdw sx="100000" sy="100000" kx="0" ky="0" algn="bl" rotWithShape="0" blurRad="50800" dist="25400" dir="5400000">
              <a:srgbClr val="000000">
                <a:alpha val="35000"/>
              </a:srgbClr>
            </a:outerShdw>
          </a:effectLst>
        </p:spPr>
      </p:sp>
      <p:sp>
        <p:nvSpPr>
          <p:cNvPr id="6" name="Text 4"/>
          <p:cNvSpPr/>
          <p:nvPr>
            <p:ph idx="104" type="title" hasCustomPrompt="1"/>
          </p:nvPr>
        </p:nvSpPr>
        <p:spPr>
          <a:xfrm>
            <a:off x="457200" y="274320"/>
            <a:ext cx="8001000" cy="749808"/>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292840" y="6382512"/>
            <a:ext cx="59436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382512"/>
            <a:ext cx="59436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4.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4.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3"/>
          <p:cNvSpPr/>
          <p:nvPr>
            <p:ph idx="103" type="title" hasCustomPrompt="1"/>
          </p:nvPr>
        </p:nvSpPr>
        <p:spPr>
          <a:xfrm>
            <a:off x="822960" y="1645920"/>
            <a:ext cx="10515600" cy="1828800"/>
          </a:xfrm>
          <a:prstGeom prst="rect">
            <a:avLst/>
          </a:prstGeom>
          <a:noFill/>
          <a:ln/>
        </p:spPr>
        <p:txBody>
          <a:bodyPr wrap="square" lIns="0" tIns="0" rIns="0" bIns="0" rtlCol="0" anchor="ctr"/>
          <a:lstStyle/>
          <a:p>
            <a:pPr algn="ctr" indent="0" marL="0">
              <a:buNone/>
            </a:pPr>
            <a:r>
              <a:rPr lang="en-US" sz="3600" b="1" dirty="0">
                <a:solidFill>
                  <a:schemeClr val="accent1"/>
                </a:solidFill>
              </a:rPr>
              <a:t>Decoding Miniature Asymmetric Visual Evoked Potentials with EEGNet-Based Methods</a:t>
            </a:r>
            <a:endParaRPr lang="en-US" sz="3600" dirty="0"/>
          </a:p>
        </p:txBody>
      </p:sp>
      <p:sp>
        <p:nvSpPr>
          <p:cNvPr id="3" name="Text 3"/>
          <p:cNvSpPr/>
          <p:nvPr>
            <p:ph idx="104" type="body" hasCustomPrompt="1"/>
          </p:nvPr>
        </p:nvSpPr>
        <p:spPr>
          <a:xfrm>
            <a:off x="2286000" y="4160520"/>
            <a:ext cx="7589520" cy="1463040"/>
          </a:xfrm>
          <a:prstGeom prst="rect">
            <a:avLst/>
          </a:prstGeom>
          <a:noFill/>
          <a:ln/>
        </p:spPr>
        <p:txBody>
          <a:bodyPr wrap="square" lIns="0" tIns="0" rIns="0" bIns="0" rtlCol="0" anchor="t"/>
          <a:lstStyle/>
          <a:p>
            <a:pPr algn="ctr" indent="0" marL="0">
              <a:spcAft>
                <a:spcPts val="800"/>
              </a:spcAft>
              <a:buNone/>
            </a:pPr>
            <a:r>
              <a:rPr lang="en-US" sz="2000" dirty="0">
                <a:solidFill>
                  <a:schemeClr val="tx1"/>
                </a:solidFill>
              </a:rPr>
              <a:t>[Your Name]</a:t>
            </a:r>
            <a:endParaRPr lang="en-US" sz="2000" dirty="0"/>
          </a:p>
          <a:p>
            <a:pPr algn="ctr" indent="0" marL="0">
              <a:spcAft>
                <a:spcPts val="800"/>
              </a:spcAft>
              <a:buNone/>
            </a:pPr>
            <a:r>
              <a:rPr lang="en-US" sz="2000" dirty="0">
                <a:solidFill>
                  <a:schemeClr val="tx1"/>
                </a:solidFill>
              </a:rPr>
              <a:t>Supervisor: [Supervisor Name]</a:t>
            </a:r>
            <a:endParaRPr lang="en-US" sz="2000" dirty="0"/>
          </a:p>
          <a:p>
            <a:pPr algn="ctr" indent="0" marL="0">
              <a:spcAft>
                <a:spcPts val="800"/>
              </a:spcAft>
              <a:buNone/>
            </a:pPr>
            <a:r>
              <a:rPr lang="en-US" sz="2000" dirty="0">
                <a:solidFill>
                  <a:schemeClr val="tx1"/>
                </a:solidFill>
              </a:rPr>
              <a:t>[Date]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Outline list"/>
          <p:cNvSpPr txBox="1"/>
          <p:nvPr/>
        </p:nvSpPr>
        <p:spPr>
          <a:xfrm>
            <a:off x="4389120" y="1920240"/>
            <a:ext cx="7132320" cy="2926080"/>
          </a:xfrm>
          <a:prstGeom prst="rect">
            <a:avLst/>
          </a:prstGeom>
          <a:noFill/>
          <a:ln/>
        </p:spPr>
        <p:txBody>
          <a:bodyPr wrap="square" lIns="0" tIns="0" rIns="0" bIns="0" rtlCol="0" anchor="ctr"/>
          <a:lstStyle/>
          <a:p>
            <a:pPr marL="342900" indent="-342900">
              <a:spcAft>
                <a:spcPts val="1800"/>
              </a:spcAft>
              <a:buSzPct val="100000"/>
              <a:buChar char="•"/>
            </a:pPr>
            <a:r>
              <a:rPr lang="en-US" sz="2600" dirty="0">
                <a:solidFill>
                  <a:srgbClr val="A00000"/>
                </a:solidFill>
              </a:rPr>
              <a:t>Research Background and Objectives</a:t>
            </a:r>
            <a:endParaRPr lang="en-US" sz="2600" dirty="0"/>
          </a:p>
          <a:p>
            <a:pPr marL="342900" indent="-342900">
              <a:spcAft>
                <a:spcPts val="1800"/>
              </a:spcAft>
              <a:buSzPct val="100000"/>
              <a:buChar char="•"/>
            </a:pPr>
            <a:r>
              <a:rPr lang="en-US" sz="2600" dirty="0">
                <a:solidFill>
                  <a:srgbClr val="000000"/>
                </a:solidFill>
              </a:rPr>
              <a:t>Research Progress and Stage Achievements</a:t>
            </a:r>
            <a:endParaRPr lang="en-US" sz="2600" dirty="0"/>
          </a:p>
          <a:p>
            <a:pPr marL="342900" indent="-342900">
              <a:spcAft>
                <a:spcPts val="1800"/>
              </a:spcAft>
              <a:buSzPct val="100000"/>
              <a:buChar char="•"/>
            </a:pPr>
            <a:r>
              <a:rPr lang="en-US" sz="2600" dirty="0">
                <a:solidFill>
                  <a:srgbClr val="000000"/>
                </a:solidFill>
              </a:rPr>
              <a:t>Next-stage Research Plan</a:t>
            </a:r>
            <a:endParaRPr lang="en-US" sz="2600" dirty="0"/>
          </a:p>
          <a:p>
            <a:pPr marL="342900" indent="-342900">
              <a:spcAft>
                <a:spcPts val="1800"/>
              </a:spcAft>
              <a:buSzPct val="100000"/>
              <a:buChar char="•"/>
            </a:pPr>
            <a:r>
              <a:rPr lang="en-US" sz="2600" dirty="0">
                <a:solidFill>
                  <a:srgbClr val="000000"/>
                </a:solidFill>
              </a:rPr>
              <a:t>Project Schedule</a:t>
            </a:r>
            <a:endParaRPr lang="en-US" sz="2600" dirty="0"/>
          </a:p>
        </p:txBody>
      </p:sp>
      <p:sp>
        <p:nvSpPr>
          <p:cNvPr id="25" name="Slide Number Placeholder 0"/>
          <p:cNvSpPr>
            <a:spLocks noGrp="1"/>
          </p:cNvSpPr>
          <p:nvPr>
            <p:ph type="sldNum" sz="quarter" idx="4294967295"/>
          </p:nvPr>
        </p:nvSpPr>
        <p:spPr>
          <a:xfrm>
            <a:off x="11292840" y="6382512"/>
            <a:ext cx="59436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8001000" cy="749808"/>
          </a:xfrm>
          <a:prstGeom prst="rect">
            <a:avLst/>
          </a:prstGeom>
          <a:noFill/>
          <a:ln/>
        </p:spPr>
        <p:txBody>
          <a:bodyPr wrap="square" lIns="0" tIns="0" rIns="0" bIns="0" rtlCol="0" anchor="ctr"/>
          <a:lstStyle/>
          <a:p>
            <a:pPr algn="l" indent="0" marL="0">
              <a:buNone/>
            </a:pPr>
            <a:r>
              <a:rPr lang="en-US" sz="2800" b="1" dirty="0">
                <a:solidFill>
                  <a:schemeClr val="bg1"/>
                </a:solidFill>
              </a:rPr>
              <a:t>1 Research Background and Objectives</a:t>
            </a:r>
            <a:endParaRPr lang="en-US" sz="2800" dirty="0"/>
          </a:p>
        </p:txBody>
      </p:sp>
      <p:sp>
        <p:nvSpPr>
          <p:cNvPr id="3" name="Panel 0 head"/>
          <p:cNvSpPr txBox="1"/>
          <p:nvPr/>
        </p:nvSpPr>
        <p:spPr>
          <a:xfrm>
            <a:off x="502920" y="1161288"/>
            <a:ext cx="3611880" cy="365760"/>
          </a:xfrm>
          <a:prstGeom prst="rect">
            <a:avLst/>
          </a:prstGeom>
          <a:noFill/>
          <a:ln/>
        </p:spPr>
        <p:txBody>
          <a:bodyPr wrap="square" lIns="0" tIns="0" rIns="0" bIns="0" rtlCol="0" anchor="ctr"/>
          <a:lstStyle/>
          <a:p>
            <a:pPr algn="ctr" indent="0" marL="0">
              <a:buNone/>
            </a:pPr>
            <a:r>
              <a:rPr lang="en-US" sz="1600" b="1" dirty="0">
                <a:solidFill>
                  <a:schemeClr val="tx1"/>
                </a:solidFill>
              </a:rPr>
              <a:t>(a) SSVEP [1]</a:t>
            </a:r>
            <a:endParaRPr lang="en-US" sz="1600" dirty="0"/>
          </a:p>
        </p:txBody>
      </p:sp>
      <p:pic>
        <p:nvPicPr>
          <p:cNvPr id="4" name="Panel 0 scene" descr="Schematic workspace: robotic arm and objects on a table">    </p:cNvPr>
          <p:cNvPicPr>
            <a:picLocks noChangeAspect="1"/>
          </p:cNvPicPr>
          <p:nvPr/>
        </p:nvPicPr>
        <p:blipFill>
          <a:blip r:embed="rId1"/>
          <a:stretch>
            <a:fillRect/>
          </a:stretch>
        </p:blipFill>
        <p:spPr>
          <a:xfrm>
            <a:off x="502920" y="1572768"/>
            <a:ext cx="3611880" cy="2258568"/>
          </a:xfrm>
          <a:prstGeom prst="rect">
            <a:avLst/>
          </a:prstGeom>
        </p:spPr>
      </p:pic>
      <p:sp>
        <p:nvSpPr>
          <p:cNvPr id="5" name="Panel 1 head"/>
          <p:cNvSpPr txBox="1"/>
          <p:nvPr/>
        </p:nvSpPr>
        <p:spPr>
          <a:xfrm>
            <a:off x="4297680" y="1161288"/>
            <a:ext cx="3611880" cy="365760"/>
          </a:xfrm>
          <a:prstGeom prst="rect">
            <a:avLst/>
          </a:prstGeom>
          <a:noFill/>
          <a:ln/>
        </p:spPr>
        <p:txBody>
          <a:bodyPr wrap="square" lIns="0" tIns="0" rIns="0" bIns="0" rtlCol="0" anchor="ctr"/>
          <a:lstStyle/>
          <a:p>
            <a:pPr algn="ctr" indent="0" marL="0">
              <a:buNone/>
            </a:pPr>
            <a:r>
              <a:rPr lang="en-US" sz="1600" b="1" dirty="0">
                <a:solidFill>
                  <a:schemeClr val="tx1"/>
                </a:solidFill>
              </a:rPr>
              <a:t>(b) Oddball (P300) [2]</a:t>
            </a:r>
            <a:endParaRPr lang="en-US" sz="1600" dirty="0"/>
          </a:p>
        </p:txBody>
      </p:sp>
      <p:pic>
        <p:nvPicPr>
          <p:cNvPr id="6" name="Panel 1 scene" descr="Schematic workspace: robotic arm and objects on a table">    </p:cNvPr>
          <p:cNvPicPr>
            <a:picLocks noChangeAspect="1"/>
          </p:cNvPicPr>
          <p:nvPr/>
        </p:nvPicPr>
        <p:blipFill>
          <a:blip r:embed="rId2"/>
          <a:stretch>
            <a:fillRect/>
          </a:stretch>
        </p:blipFill>
        <p:spPr>
          <a:xfrm>
            <a:off x="4297680" y="1572768"/>
            <a:ext cx="3611880" cy="2258568"/>
          </a:xfrm>
          <a:prstGeom prst="rect">
            <a:avLst/>
          </a:prstGeom>
        </p:spPr>
      </p:pic>
      <p:sp>
        <p:nvSpPr>
          <p:cNvPr id="7" name="Panel 2 head"/>
          <p:cNvSpPr txBox="1"/>
          <p:nvPr/>
        </p:nvSpPr>
        <p:spPr>
          <a:xfrm>
            <a:off x="8092440" y="1161288"/>
            <a:ext cx="3611880" cy="365760"/>
          </a:xfrm>
          <a:prstGeom prst="rect">
            <a:avLst/>
          </a:prstGeom>
          <a:noFill/>
          <a:ln/>
        </p:spPr>
        <p:txBody>
          <a:bodyPr wrap="square" lIns="0" tIns="0" rIns="0" bIns="0" rtlCol="0" anchor="ctr"/>
          <a:lstStyle/>
          <a:p>
            <a:pPr algn="ctr" indent="0" marL="0">
              <a:buNone/>
            </a:pPr>
            <a:r>
              <a:rPr lang="en-US" sz="1600" b="1" dirty="0">
                <a:solidFill>
                  <a:schemeClr val="tx1"/>
                </a:solidFill>
              </a:rPr>
              <a:t>(c) aVEP [3]</a:t>
            </a:r>
            <a:endParaRPr lang="en-US" sz="1600" dirty="0"/>
          </a:p>
        </p:txBody>
      </p:sp>
      <p:pic>
        <p:nvPicPr>
          <p:cNvPr id="8" name="Panel 2 scene" descr="Schematic workspace: robotic arm and objects on a table">    </p:cNvPr>
          <p:cNvPicPr>
            <a:picLocks noChangeAspect="1"/>
          </p:cNvPicPr>
          <p:nvPr/>
        </p:nvPicPr>
        <p:blipFill>
          <a:blip r:embed="rId3"/>
          <a:stretch>
            <a:fillRect/>
          </a:stretch>
        </p:blipFill>
        <p:spPr>
          <a:xfrm>
            <a:off x="8092440" y="1572768"/>
            <a:ext cx="3611880" cy="2258568"/>
          </a:xfrm>
          <a:prstGeom prst="rect">
            <a:avLst/>
          </a:prstGeom>
        </p:spPr>
      </p:pic>
      <p:sp>
        <p:nvSpPr>
          <p:cNvPr id="9" name="SSVEP target 0"/>
          <p:cNvSpPr/>
          <p:nvPr/>
        </p:nvSpPr>
        <p:spPr>
          <a:xfrm>
            <a:off x="698602" y="1753362"/>
            <a:ext cx="658368" cy="512064"/>
          </a:xfrm>
          <a:prstGeom prst="rect">
            <a:avLst/>
          </a:prstGeom>
          <a:solidFill>
            <a:srgbClr val="FFFFFF"/>
          </a:solidFill>
          <a:ln w="9525">
            <a:solidFill>
              <a:srgbClr val="A6A6A6"/>
            </a:solidFill>
          </a:ln>
        </p:spPr>
        <p:txBody>
          <a:bodyPr wrap="square" lIns="0" tIns="0" rIns="0" bIns="0" rtlCol="0" anchor="ctr"/>
          <a:lstStyle/>
          <a:p>
            <a:pPr algn="ctr" indent="0" marL="0">
              <a:buNone/>
            </a:pPr>
            <a:r>
              <a:rPr lang="en-US" sz="1100" dirty="0">
                <a:solidFill>
                  <a:schemeClr val="tx1"/>
                </a:solidFill>
              </a:rPr>
              <a:t>8.0 Hz</a:t>
            </a:r>
            <a:endParaRPr lang="en-US" sz="1100" dirty="0"/>
          </a:p>
        </p:txBody>
      </p:sp>
      <p:sp>
        <p:nvSpPr>
          <p:cNvPr id="10" name="SSVEP target 1"/>
          <p:cNvSpPr/>
          <p:nvPr/>
        </p:nvSpPr>
        <p:spPr>
          <a:xfrm>
            <a:off x="1552651" y="1753362"/>
            <a:ext cx="658368" cy="512064"/>
          </a:xfrm>
          <a:prstGeom prst="rect">
            <a:avLst/>
          </a:prstGeom>
          <a:solidFill>
            <a:srgbClr val="FFFFFF"/>
          </a:solidFill>
          <a:ln w="9525">
            <a:solidFill>
              <a:srgbClr val="A6A6A6"/>
            </a:solidFill>
          </a:ln>
        </p:spPr>
        <p:txBody>
          <a:bodyPr wrap="square" lIns="0" tIns="0" rIns="0" bIns="0" rtlCol="0" anchor="ctr"/>
          <a:lstStyle/>
          <a:p>
            <a:pPr algn="ctr" indent="0" marL="0">
              <a:buNone/>
            </a:pPr>
            <a:r>
              <a:rPr lang="en-US" sz="1100" dirty="0">
                <a:solidFill>
                  <a:schemeClr val="tx1"/>
                </a:solidFill>
              </a:rPr>
              <a:t>8.5 Hz</a:t>
            </a:r>
            <a:endParaRPr lang="en-US" sz="1100" dirty="0"/>
          </a:p>
        </p:txBody>
      </p:sp>
      <p:sp>
        <p:nvSpPr>
          <p:cNvPr id="11" name="SSVEP target 2"/>
          <p:cNvSpPr/>
          <p:nvPr/>
        </p:nvSpPr>
        <p:spPr>
          <a:xfrm>
            <a:off x="2406701" y="1753362"/>
            <a:ext cx="658368" cy="512064"/>
          </a:xfrm>
          <a:prstGeom prst="rect">
            <a:avLst/>
          </a:prstGeom>
          <a:solidFill>
            <a:srgbClr val="FFFFFF"/>
          </a:solidFill>
          <a:ln w="9525">
            <a:solidFill>
              <a:srgbClr val="A6A6A6"/>
            </a:solidFill>
          </a:ln>
        </p:spPr>
        <p:txBody>
          <a:bodyPr wrap="square" lIns="0" tIns="0" rIns="0" bIns="0" rtlCol="0" anchor="ctr"/>
          <a:lstStyle/>
          <a:p>
            <a:pPr algn="ctr" indent="0" marL="0">
              <a:buNone/>
            </a:pPr>
            <a:r>
              <a:rPr lang="en-US" sz="1100" dirty="0">
                <a:solidFill>
                  <a:schemeClr val="tx1"/>
                </a:solidFill>
              </a:rPr>
              <a:t>9.0 Hz</a:t>
            </a:r>
            <a:endParaRPr lang="en-US" sz="1100" dirty="0"/>
          </a:p>
        </p:txBody>
      </p:sp>
      <p:sp>
        <p:nvSpPr>
          <p:cNvPr id="12" name="SSVEP target 3"/>
          <p:cNvSpPr/>
          <p:nvPr/>
        </p:nvSpPr>
        <p:spPr>
          <a:xfrm>
            <a:off x="3260750" y="1753362"/>
            <a:ext cx="658368" cy="512064"/>
          </a:xfrm>
          <a:prstGeom prst="rect">
            <a:avLst/>
          </a:prstGeom>
          <a:solidFill>
            <a:srgbClr val="FFFFFF"/>
          </a:solidFill>
          <a:ln w="9525">
            <a:solidFill>
              <a:srgbClr val="A6A6A6"/>
            </a:solidFill>
          </a:ln>
        </p:spPr>
        <p:txBody>
          <a:bodyPr wrap="square" lIns="0" tIns="0" rIns="0" bIns="0" rtlCol="0" anchor="ctr"/>
          <a:lstStyle/>
          <a:p>
            <a:pPr algn="ctr" indent="0" marL="0">
              <a:buNone/>
            </a:pPr>
            <a:r>
              <a:rPr lang="en-US" sz="1100" dirty="0">
                <a:solidFill>
                  <a:schemeClr val="tx1"/>
                </a:solidFill>
              </a:rPr>
              <a:t>9.5 Hz</a:t>
            </a:r>
            <a:endParaRPr lang="en-US" sz="1100" dirty="0"/>
          </a:p>
        </p:txBody>
      </p:sp>
      <p:sp>
        <p:nvSpPr>
          <p:cNvPr id="13" name="SSVEP target 4"/>
          <p:cNvSpPr/>
          <p:nvPr/>
        </p:nvSpPr>
        <p:spPr>
          <a:xfrm>
            <a:off x="698602" y="2446020"/>
            <a:ext cx="658368" cy="512064"/>
          </a:xfrm>
          <a:prstGeom prst="rect">
            <a:avLst/>
          </a:prstGeom>
          <a:solidFill>
            <a:srgbClr val="FFFFFF"/>
          </a:solidFill>
          <a:ln w="9525">
            <a:solidFill>
              <a:srgbClr val="A6A6A6"/>
            </a:solidFill>
          </a:ln>
        </p:spPr>
        <p:txBody>
          <a:bodyPr wrap="square" lIns="0" tIns="0" rIns="0" bIns="0" rtlCol="0" anchor="ctr"/>
          <a:lstStyle/>
          <a:p>
            <a:pPr algn="ctr" indent="0" marL="0">
              <a:buNone/>
            </a:pPr>
            <a:r>
              <a:rPr lang="en-US" sz="1100" dirty="0">
                <a:solidFill>
                  <a:schemeClr val="tx1"/>
                </a:solidFill>
              </a:rPr>
              <a:t>10.0 Hz</a:t>
            </a:r>
            <a:endParaRPr lang="en-US" sz="1100" dirty="0"/>
          </a:p>
        </p:txBody>
      </p:sp>
      <p:sp>
        <p:nvSpPr>
          <p:cNvPr id="14" name="SSVEP target 5"/>
          <p:cNvSpPr/>
          <p:nvPr/>
        </p:nvSpPr>
        <p:spPr>
          <a:xfrm>
            <a:off x="1552651" y="2446020"/>
            <a:ext cx="658368" cy="512064"/>
          </a:xfrm>
          <a:prstGeom prst="rect">
            <a:avLst/>
          </a:prstGeom>
          <a:solidFill>
            <a:srgbClr val="FFFFFF"/>
          </a:solidFill>
          <a:ln w="9525">
            <a:solidFill>
              <a:srgbClr val="A6A6A6"/>
            </a:solidFill>
          </a:ln>
        </p:spPr>
        <p:txBody>
          <a:bodyPr wrap="square" lIns="0" tIns="0" rIns="0" bIns="0" rtlCol="0" anchor="ctr"/>
          <a:lstStyle/>
          <a:p>
            <a:pPr algn="ctr" indent="0" marL="0">
              <a:buNone/>
            </a:pPr>
            <a:r>
              <a:rPr lang="en-US" sz="1100" dirty="0">
                <a:solidFill>
                  <a:schemeClr val="tx1"/>
                </a:solidFill>
              </a:rPr>
              <a:t>10.5 Hz</a:t>
            </a:r>
            <a:endParaRPr lang="en-US" sz="1100" dirty="0"/>
          </a:p>
        </p:txBody>
      </p:sp>
      <p:sp>
        <p:nvSpPr>
          <p:cNvPr id="15" name="SSVEP target 6"/>
          <p:cNvSpPr/>
          <p:nvPr/>
        </p:nvSpPr>
        <p:spPr>
          <a:xfrm>
            <a:off x="2406701" y="2446020"/>
            <a:ext cx="658368" cy="512064"/>
          </a:xfrm>
          <a:prstGeom prst="rect">
            <a:avLst/>
          </a:prstGeom>
          <a:solidFill>
            <a:srgbClr val="FFFFFF"/>
          </a:solidFill>
          <a:ln w="9525">
            <a:solidFill>
              <a:srgbClr val="A6A6A6"/>
            </a:solidFill>
          </a:ln>
        </p:spPr>
        <p:txBody>
          <a:bodyPr wrap="square" lIns="0" tIns="0" rIns="0" bIns="0" rtlCol="0" anchor="ctr"/>
          <a:lstStyle/>
          <a:p>
            <a:pPr algn="ctr" indent="0" marL="0">
              <a:buNone/>
            </a:pPr>
            <a:r>
              <a:rPr lang="en-US" sz="1100" dirty="0">
                <a:solidFill>
                  <a:schemeClr val="tx1"/>
                </a:solidFill>
              </a:rPr>
              <a:t>11.0 Hz</a:t>
            </a:r>
            <a:endParaRPr lang="en-US" sz="1100" dirty="0"/>
          </a:p>
        </p:txBody>
      </p:sp>
      <p:sp>
        <p:nvSpPr>
          <p:cNvPr id="16" name="SSVEP target 7"/>
          <p:cNvSpPr/>
          <p:nvPr/>
        </p:nvSpPr>
        <p:spPr>
          <a:xfrm>
            <a:off x="3260750" y="2446020"/>
            <a:ext cx="658368" cy="512064"/>
          </a:xfrm>
          <a:prstGeom prst="rect">
            <a:avLst/>
          </a:prstGeom>
          <a:solidFill>
            <a:srgbClr val="FFFFFF"/>
          </a:solidFill>
          <a:ln w="9525">
            <a:solidFill>
              <a:srgbClr val="A6A6A6"/>
            </a:solidFill>
          </a:ln>
        </p:spPr>
        <p:txBody>
          <a:bodyPr wrap="square" lIns="0" tIns="0" rIns="0" bIns="0" rtlCol="0" anchor="ctr"/>
          <a:lstStyle/>
          <a:p>
            <a:pPr algn="ctr" indent="0" marL="0">
              <a:buNone/>
            </a:pPr>
            <a:r>
              <a:rPr lang="en-US" sz="1100" dirty="0">
                <a:solidFill>
                  <a:schemeClr val="tx1"/>
                </a:solidFill>
              </a:rPr>
              <a:t>11.5 Hz</a:t>
            </a:r>
            <a:endParaRPr lang="en-US" sz="1100" dirty="0"/>
          </a:p>
        </p:txBody>
      </p:sp>
      <p:sp>
        <p:nvSpPr>
          <p:cNvPr id="17" name="SSVEP target 8"/>
          <p:cNvSpPr/>
          <p:nvPr/>
        </p:nvSpPr>
        <p:spPr>
          <a:xfrm>
            <a:off x="698602" y="3138678"/>
            <a:ext cx="658368" cy="512064"/>
          </a:xfrm>
          <a:prstGeom prst="rect">
            <a:avLst/>
          </a:prstGeom>
          <a:solidFill>
            <a:srgbClr val="FFFFFF"/>
          </a:solidFill>
          <a:ln w="9525">
            <a:solidFill>
              <a:srgbClr val="A6A6A6"/>
            </a:solidFill>
          </a:ln>
        </p:spPr>
        <p:txBody>
          <a:bodyPr wrap="square" lIns="0" tIns="0" rIns="0" bIns="0" rtlCol="0" anchor="ctr"/>
          <a:lstStyle/>
          <a:p>
            <a:pPr algn="ctr" indent="0" marL="0">
              <a:buNone/>
            </a:pPr>
            <a:r>
              <a:rPr lang="en-US" sz="1100" dirty="0">
                <a:solidFill>
                  <a:schemeClr val="tx1"/>
                </a:solidFill>
              </a:rPr>
              <a:t>12.0 Hz</a:t>
            </a:r>
            <a:endParaRPr lang="en-US" sz="1100" dirty="0"/>
          </a:p>
        </p:txBody>
      </p:sp>
      <p:sp>
        <p:nvSpPr>
          <p:cNvPr id="18" name="SSVEP target 9"/>
          <p:cNvSpPr/>
          <p:nvPr/>
        </p:nvSpPr>
        <p:spPr>
          <a:xfrm>
            <a:off x="1552651" y="3138678"/>
            <a:ext cx="658368" cy="512064"/>
          </a:xfrm>
          <a:prstGeom prst="rect">
            <a:avLst/>
          </a:prstGeom>
          <a:solidFill>
            <a:srgbClr val="FFFFFF"/>
          </a:solidFill>
          <a:ln w="9525">
            <a:solidFill>
              <a:srgbClr val="A6A6A6"/>
            </a:solidFill>
          </a:ln>
        </p:spPr>
        <p:txBody>
          <a:bodyPr wrap="square" lIns="0" tIns="0" rIns="0" bIns="0" rtlCol="0" anchor="ctr"/>
          <a:lstStyle/>
          <a:p>
            <a:pPr algn="ctr" indent="0" marL="0">
              <a:buNone/>
            </a:pPr>
            <a:r>
              <a:rPr lang="en-US" sz="1100" dirty="0">
                <a:solidFill>
                  <a:schemeClr val="tx1"/>
                </a:solidFill>
              </a:rPr>
              <a:t>12.5 Hz</a:t>
            </a:r>
            <a:endParaRPr lang="en-US" sz="1100" dirty="0"/>
          </a:p>
        </p:txBody>
      </p:sp>
      <p:sp>
        <p:nvSpPr>
          <p:cNvPr id="19" name="SSVEP target 10"/>
          <p:cNvSpPr/>
          <p:nvPr/>
        </p:nvSpPr>
        <p:spPr>
          <a:xfrm>
            <a:off x="2406701" y="3138678"/>
            <a:ext cx="658368" cy="512064"/>
          </a:xfrm>
          <a:prstGeom prst="rect">
            <a:avLst/>
          </a:prstGeom>
          <a:solidFill>
            <a:srgbClr val="FFFFFF"/>
          </a:solidFill>
          <a:ln w="9525">
            <a:solidFill>
              <a:srgbClr val="A6A6A6"/>
            </a:solidFill>
          </a:ln>
        </p:spPr>
        <p:txBody>
          <a:bodyPr wrap="square" lIns="0" tIns="0" rIns="0" bIns="0" rtlCol="0" anchor="ctr"/>
          <a:lstStyle/>
          <a:p>
            <a:pPr algn="ctr" indent="0" marL="0">
              <a:buNone/>
            </a:pPr>
            <a:r>
              <a:rPr lang="en-US" sz="1100" dirty="0">
                <a:solidFill>
                  <a:schemeClr val="tx1"/>
                </a:solidFill>
              </a:rPr>
              <a:t>13.0 Hz</a:t>
            </a:r>
            <a:endParaRPr lang="en-US" sz="1100" dirty="0"/>
          </a:p>
        </p:txBody>
      </p:sp>
      <p:sp>
        <p:nvSpPr>
          <p:cNvPr id="20" name="SSVEP target 11"/>
          <p:cNvSpPr/>
          <p:nvPr/>
        </p:nvSpPr>
        <p:spPr>
          <a:xfrm>
            <a:off x="3260750" y="3138678"/>
            <a:ext cx="658368" cy="512064"/>
          </a:xfrm>
          <a:prstGeom prst="rect">
            <a:avLst/>
          </a:prstGeom>
          <a:solidFill>
            <a:srgbClr val="FFFFFF"/>
          </a:solidFill>
          <a:ln w="9525">
            <a:solidFill>
              <a:srgbClr val="A6A6A6"/>
            </a:solidFill>
          </a:ln>
        </p:spPr>
        <p:txBody>
          <a:bodyPr wrap="square" lIns="0" tIns="0" rIns="0" bIns="0" rtlCol="0" anchor="ctr"/>
          <a:lstStyle/>
          <a:p>
            <a:pPr algn="ctr" indent="0" marL="0">
              <a:buNone/>
            </a:pPr>
            <a:r>
              <a:rPr lang="en-US" sz="1100" dirty="0">
                <a:solidFill>
                  <a:schemeClr val="tx1"/>
                </a:solidFill>
              </a:rPr>
              <a:t>13.5 Hz</a:t>
            </a:r>
            <a:endParaRPr lang="en-US" sz="1100" dirty="0"/>
          </a:p>
        </p:txBody>
      </p:sp>
      <p:sp>
        <p:nvSpPr>
          <p:cNvPr id="21" name="P300 matrix bg"/>
          <p:cNvSpPr/>
          <p:nvPr/>
        </p:nvSpPr>
        <p:spPr>
          <a:xfrm>
            <a:off x="4617720" y="1682496"/>
            <a:ext cx="2971800" cy="2039112"/>
          </a:xfrm>
          <a:prstGeom prst="rect">
            <a:avLst/>
          </a:prstGeom>
          <a:solidFill>
            <a:srgbClr val="1A1A1A"/>
          </a:solidFill>
          <a:ln/>
        </p:spPr>
      </p:sp>
      <p:sp>
        <p:nvSpPr>
          <p:cNvPr id="22" name="P300 flashed row"/>
          <p:cNvSpPr/>
          <p:nvPr/>
        </p:nvSpPr>
        <p:spPr>
          <a:xfrm>
            <a:off x="4617720" y="2362200"/>
            <a:ext cx="2971800" cy="339852"/>
          </a:xfrm>
          <a:prstGeom prst="rect">
            <a:avLst/>
          </a:prstGeom>
          <a:solidFill>
            <a:srgbClr val="595959"/>
          </a:solidFill>
          <a:ln/>
        </p:spPr>
      </p:sp>
      <p:sp>
        <p:nvSpPr>
          <p:cNvPr id="23" name="P300 cell 0"/>
          <p:cNvSpPr txBox="1"/>
          <p:nvPr/>
        </p:nvSpPr>
        <p:spPr>
          <a:xfrm>
            <a:off x="4617720" y="1682496"/>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A</a:t>
            </a:r>
            <a:endParaRPr lang="en-US" sz="1300" dirty="0"/>
          </a:p>
        </p:txBody>
      </p:sp>
      <p:sp>
        <p:nvSpPr>
          <p:cNvPr id="24" name="P300 cell 1"/>
          <p:cNvSpPr txBox="1"/>
          <p:nvPr/>
        </p:nvSpPr>
        <p:spPr>
          <a:xfrm>
            <a:off x="5113020" y="1682496"/>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B</a:t>
            </a:r>
            <a:endParaRPr lang="en-US" sz="1300" dirty="0"/>
          </a:p>
        </p:txBody>
      </p:sp>
      <p:sp>
        <p:nvSpPr>
          <p:cNvPr id="25" name="P300 cell 2"/>
          <p:cNvSpPr txBox="1"/>
          <p:nvPr/>
        </p:nvSpPr>
        <p:spPr>
          <a:xfrm>
            <a:off x="5608320" y="1682496"/>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C</a:t>
            </a:r>
            <a:endParaRPr lang="en-US" sz="1300" dirty="0"/>
          </a:p>
        </p:txBody>
      </p:sp>
      <p:sp>
        <p:nvSpPr>
          <p:cNvPr id="26" name="P300 cell 3"/>
          <p:cNvSpPr txBox="1"/>
          <p:nvPr/>
        </p:nvSpPr>
        <p:spPr>
          <a:xfrm>
            <a:off x="6103620" y="1682496"/>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D</a:t>
            </a:r>
            <a:endParaRPr lang="en-US" sz="1300" dirty="0"/>
          </a:p>
        </p:txBody>
      </p:sp>
      <p:sp>
        <p:nvSpPr>
          <p:cNvPr id="27" name="P300 cell 4"/>
          <p:cNvSpPr txBox="1"/>
          <p:nvPr/>
        </p:nvSpPr>
        <p:spPr>
          <a:xfrm>
            <a:off x="6598920" y="1682496"/>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E</a:t>
            </a:r>
            <a:endParaRPr lang="en-US" sz="1300" dirty="0"/>
          </a:p>
        </p:txBody>
      </p:sp>
      <p:sp>
        <p:nvSpPr>
          <p:cNvPr id="28" name="P300 cell 5"/>
          <p:cNvSpPr txBox="1"/>
          <p:nvPr/>
        </p:nvSpPr>
        <p:spPr>
          <a:xfrm>
            <a:off x="7094220" y="1682496"/>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F</a:t>
            </a:r>
            <a:endParaRPr lang="en-US" sz="1300" dirty="0"/>
          </a:p>
        </p:txBody>
      </p:sp>
      <p:sp>
        <p:nvSpPr>
          <p:cNvPr id="29" name="P300 cell 6"/>
          <p:cNvSpPr txBox="1"/>
          <p:nvPr/>
        </p:nvSpPr>
        <p:spPr>
          <a:xfrm>
            <a:off x="4617720" y="2022348"/>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G</a:t>
            </a:r>
            <a:endParaRPr lang="en-US" sz="1300" dirty="0"/>
          </a:p>
        </p:txBody>
      </p:sp>
      <p:sp>
        <p:nvSpPr>
          <p:cNvPr id="30" name="P300 cell 7"/>
          <p:cNvSpPr txBox="1"/>
          <p:nvPr/>
        </p:nvSpPr>
        <p:spPr>
          <a:xfrm>
            <a:off x="5113020" y="2022348"/>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H</a:t>
            </a:r>
            <a:endParaRPr lang="en-US" sz="1300" dirty="0"/>
          </a:p>
        </p:txBody>
      </p:sp>
      <p:sp>
        <p:nvSpPr>
          <p:cNvPr id="31" name="P300 cell 8"/>
          <p:cNvSpPr txBox="1"/>
          <p:nvPr/>
        </p:nvSpPr>
        <p:spPr>
          <a:xfrm>
            <a:off x="5608320" y="2022348"/>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I</a:t>
            </a:r>
            <a:endParaRPr lang="en-US" sz="1300" dirty="0"/>
          </a:p>
        </p:txBody>
      </p:sp>
      <p:sp>
        <p:nvSpPr>
          <p:cNvPr id="32" name="P300 cell 9"/>
          <p:cNvSpPr txBox="1"/>
          <p:nvPr/>
        </p:nvSpPr>
        <p:spPr>
          <a:xfrm>
            <a:off x="6103620" y="2022348"/>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J</a:t>
            </a:r>
            <a:endParaRPr lang="en-US" sz="1300" dirty="0"/>
          </a:p>
        </p:txBody>
      </p:sp>
      <p:sp>
        <p:nvSpPr>
          <p:cNvPr id="33" name="P300 cell 10"/>
          <p:cNvSpPr txBox="1"/>
          <p:nvPr/>
        </p:nvSpPr>
        <p:spPr>
          <a:xfrm>
            <a:off x="6598920" y="2022348"/>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K</a:t>
            </a:r>
            <a:endParaRPr lang="en-US" sz="1300" dirty="0"/>
          </a:p>
        </p:txBody>
      </p:sp>
      <p:sp>
        <p:nvSpPr>
          <p:cNvPr id="34" name="P300 cell 11"/>
          <p:cNvSpPr txBox="1"/>
          <p:nvPr/>
        </p:nvSpPr>
        <p:spPr>
          <a:xfrm>
            <a:off x="7094220" y="2022348"/>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L</a:t>
            </a:r>
            <a:endParaRPr lang="en-US" sz="1300" dirty="0"/>
          </a:p>
        </p:txBody>
      </p:sp>
      <p:sp>
        <p:nvSpPr>
          <p:cNvPr id="35" name="P300 cell 12"/>
          <p:cNvSpPr txBox="1"/>
          <p:nvPr/>
        </p:nvSpPr>
        <p:spPr>
          <a:xfrm>
            <a:off x="4617720" y="2362200"/>
            <a:ext cx="495300" cy="339852"/>
          </a:xfrm>
          <a:prstGeom prst="rect">
            <a:avLst/>
          </a:prstGeom>
          <a:noFill/>
          <a:ln/>
        </p:spPr>
        <p:txBody>
          <a:bodyPr wrap="square" lIns="0" tIns="0" rIns="0" bIns="0" rtlCol="0" anchor="ctr"/>
          <a:lstStyle/>
          <a:p>
            <a:pPr algn="ctr" indent="0" marL="0">
              <a:buNone/>
            </a:pPr>
            <a:r>
              <a:rPr lang="en-US" sz="1300" b="1" dirty="0">
                <a:solidFill>
                  <a:srgbClr val="FFFFFF"/>
                </a:solidFill>
              </a:rPr>
              <a:t>M</a:t>
            </a:r>
            <a:endParaRPr lang="en-US" sz="1300" dirty="0"/>
          </a:p>
        </p:txBody>
      </p:sp>
      <p:sp>
        <p:nvSpPr>
          <p:cNvPr id="36" name="P300 cell 13"/>
          <p:cNvSpPr txBox="1"/>
          <p:nvPr/>
        </p:nvSpPr>
        <p:spPr>
          <a:xfrm>
            <a:off x="5113020" y="2362200"/>
            <a:ext cx="495300" cy="339852"/>
          </a:xfrm>
          <a:prstGeom prst="rect">
            <a:avLst/>
          </a:prstGeom>
          <a:noFill/>
          <a:ln/>
        </p:spPr>
        <p:txBody>
          <a:bodyPr wrap="square" lIns="0" tIns="0" rIns="0" bIns="0" rtlCol="0" anchor="ctr"/>
          <a:lstStyle/>
          <a:p>
            <a:pPr algn="ctr" indent="0" marL="0">
              <a:buNone/>
            </a:pPr>
            <a:r>
              <a:rPr lang="en-US" sz="1300" b="1" dirty="0">
                <a:solidFill>
                  <a:srgbClr val="FFFFFF"/>
                </a:solidFill>
              </a:rPr>
              <a:t>N</a:t>
            </a:r>
            <a:endParaRPr lang="en-US" sz="1300" dirty="0"/>
          </a:p>
        </p:txBody>
      </p:sp>
      <p:sp>
        <p:nvSpPr>
          <p:cNvPr id="37" name="P300 cell 14"/>
          <p:cNvSpPr txBox="1"/>
          <p:nvPr/>
        </p:nvSpPr>
        <p:spPr>
          <a:xfrm>
            <a:off x="5608320" y="2362200"/>
            <a:ext cx="495300" cy="339852"/>
          </a:xfrm>
          <a:prstGeom prst="rect">
            <a:avLst/>
          </a:prstGeom>
          <a:noFill/>
          <a:ln/>
        </p:spPr>
        <p:txBody>
          <a:bodyPr wrap="square" lIns="0" tIns="0" rIns="0" bIns="0" rtlCol="0" anchor="ctr"/>
          <a:lstStyle/>
          <a:p>
            <a:pPr algn="ctr" indent="0" marL="0">
              <a:buNone/>
            </a:pPr>
            <a:r>
              <a:rPr lang="en-US" sz="1300" b="1" dirty="0">
                <a:solidFill>
                  <a:srgbClr val="FFFFFF"/>
                </a:solidFill>
              </a:rPr>
              <a:t>O</a:t>
            </a:r>
            <a:endParaRPr lang="en-US" sz="1300" dirty="0"/>
          </a:p>
        </p:txBody>
      </p:sp>
      <p:sp>
        <p:nvSpPr>
          <p:cNvPr id="38" name="P300 cell 15"/>
          <p:cNvSpPr txBox="1"/>
          <p:nvPr/>
        </p:nvSpPr>
        <p:spPr>
          <a:xfrm>
            <a:off x="6103620" y="2362200"/>
            <a:ext cx="495300" cy="339852"/>
          </a:xfrm>
          <a:prstGeom prst="rect">
            <a:avLst/>
          </a:prstGeom>
          <a:noFill/>
          <a:ln/>
        </p:spPr>
        <p:txBody>
          <a:bodyPr wrap="square" lIns="0" tIns="0" rIns="0" bIns="0" rtlCol="0" anchor="ctr"/>
          <a:lstStyle/>
          <a:p>
            <a:pPr algn="ctr" indent="0" marL="0">
              <a:buNone/>
            </a:pPr>
            <a:r>
              <a:rPr lang="en-US" sz="1300" b="1" dirty="0">
                <a:solidFill>
                  <a:srgbClr val="FFFFFF"/>
                </a:solidFill>
              </a:rPr>
              <a:t>P</a:t>
            </a:r>
            <a:endParaRPr lang="en-US" sz="1300" dirty="0"/>
          </a:p>
        </p:txBody>
      </p:sp>
      <p:sp>
        <p:nvSpPr>
          <p:cNvPr id="39" name="P300 cell 16"/>
          <p:cNvSpPr txBox="1"/>
          <p:nvPr/>
        </p:nvSpPr>
        <p:spPr>
          <a:xfrm>
            <a:off x="6598920" y="2362200"/>
            <a:ext cx="495300" cy="339852"/>
          </a:xfrm>
          <a:prstGeom prst="rect">
            <a:avLst/>
          </a:prstGeom>
          <a:noFill/>
          <a:ln/>
        </p:spPr>
        <p:txBody>
          <a:bodyPr wrap="square" lIns="0" tIns="0" rIns="0" bIns="0" rtlCol="0" anchor="ctr"/>
          <a:lstStyle/>
          <a:p>
            <a:pPr algn="ctr" indent="0" marL="0">
              <a:buNone/>
            </a:pPr>
            <a:r>
              <a:rPr lang="en-US" sz="1300" b="1" dirty="0">
                <a:solidFill>
                  <a:srgbClr val="FFFFFF"/>
                </a:solidFill>
              </a:rPr>
              <a:t>Q</a:t>
            </a:r>
            <a:endParaRPr lang="en-US" sz="1300" dirty="0"/>
          </a:p>
        </p:txBody>
      </p:sp>
      <p:sp>
        <p:nvSpPr>
          <p:cNvPr id="40" name="P300 cell 17"/>
          <p:cNvSpPr txBox="1"/>
          <p:nvPr/>
        </p:nvSpPr>
        <p:spPr>
          <a:xfrm>
            <a:off x="7094220" y="2362200"/>
            <a:ext cx="495300" cy="339852"/>
          </a:xfrm>
          <a:prstGeom prst="rect">
            <a:avLst/>
          </a:prstGeom>
          <a:noFill/>
          <a:ln/>
        </p:spPr>
        <p:txBody>
          <a:bodyPr wrap="square" lIns="0" tIns="0" rIns="0" bIns="0" rtlCol="0" anchor="ctr"/>
          <a:lstStyle/>
          <a:p>
            <a:pPr algn="ctr" indent="0" marL="0">
              <a:buNone/>
            </a:pPr>
            <a:r>
              <a:rPr lang="en-US" sz="1300" b="1" dirty="0">
                <a:solidFill>
                  <a:srgbClr val="FFFFFF"/>
                </a:solidFill>
              </a:rPr>
              <a:t>R</a:t>
            </a:r>
            <a:endParaRPr lang="en-US" sz="1300" dirty="0"/>
          </a:p>
        </p:txBody>
      </p:sp>
      <p:sp>
        <p:nvSpPr>
          <p:cNvPr id="41" name="P300 cell 18"/>
          <p:cNvSpPr txBox="1"/>
          <p:nvPr/>
        </p:nvSpPr>
        <p:spPr>
          <a:xfrm>
            <a:off x="4617720" y="2702052"/>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S</a:t>
            </a:r>
            <a:endParaRPr lang="en-US" sz="1300" dirty="0"/>
          </a:p>
        </p:txBody>
      </p:sp>
      <p:sp>
        <p:nvSpPr>
          <p:cNvPr id="42" name="P300 cell 19"/>
          <p:cNvSpPr txBox="1"/>
          <p:nvPr/>
        </p:nvSpPr>
        <p:spPr>
          <a:xfrm>
            <a:off x="5113020" y="2702052"/>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T</a:t>
            </a:r>
            <a:endParaRPr lang="en-US" sz="1300" dirty="0"/>
          </a:p>
        </p:txBody>
      </p:sp>
      <p:sp>
        <p:nvSpPr>
          <p:cNvPr id="43" name="P300 cell 20"/>
          <p:cNvSpPr txBox="1"/>
          <p:nvPr/>
        </p:nvSpPr>
        <p:spPr>
          <a:xfrm>
            <a:off x="5608320" y="2702052"/>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U</a:t>
            </a:r>
            <a:endParaRPr lang="en-US" sz="1300" dirty="0"/>
          </a:p>
        </p:txBody>
      </p:sp>
      <p:sp>
        <p:nvSpPr>
          <p:cNvPr id="44" name="P300 cell 21"/>
          <p:cNvSpPr txBox="1"/>
          <p:nvPr/>
        </p:nvSpPr>
        <p:spPr>
          <a:xfrm>
            <a:off x="6103620" y="2702052"/>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V</a:t>
            </a:r>
            <a:endParaRPr lang="en-US" sz="1300" dirty="0"/>
          </a:p>
        </p:txBody>
      </p:sp>
      <p:sp>
        <p:nvSpPr>
          <p:cNvPr id="45" name="P300 cell 22"/>
          <p:cNvSpPr txBox="1"/>
          <p:nvPr/>
        </p:nvSpPr>
        <p:spPr>
          <a:xfrm>
            <a:off x="6598920" y="2702052"/>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W</a:t>
            </a:r>
            <a:endParaRPr lang="en-US" sz="1300" dirty="0"/>
          </a:p>
        </p:txBody>
      </p:sp>
      <p:sp>
        <p:nvSpPr>
          <p:cNvPr id="46" name="P300 cell 23"/>
          <p:cNvSpPr txBox="1"/>
          <p:nvPr/>
        </p:nvSpPr>
        <p:spPr>
          <a:xfrm>
            <a:off x="7094220" y="2702052"/>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X</a:t>
            </a:r>
            <a:endParaRPr lang="en-US" sz="1300" dirty="0"/>
          </a:p>
        </p:txBody>
      </p:sp>
      <p:sp>
        <p:nvSpPr>
          <p:cNvPr id="47" name="P300 cell 24"/>
          <p:cNvSpPr txBox="1"/>
          <p:nvPr/>
        </p:nvSpPr>
        <p:spPr>
          <a:xfrm>
            <a:off x="4617720" y="3041904"/>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Y</a:t>
            </a:r>
            <a:endParaRPr lang="en-US" sz="1300" dirty="0"/>
          </a:p>
        </p:txBody>
      </p:sp>
      <p:sp>
        <p:nvSpPr>
          <p:cNvPr id="48" name="P300 cell 25"/>
          <p:cNvSpPr txBox="1"/>
          <p:nvPr/>
        </p:nvSpPr>
        <p:spPr>
          <a:xfrm>
            <a:off x="5113020" y="3041904"/>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Z</a:t>
            </a:r>
            <a:endParaRPr lang="en-US" sz="1300" dirty="0"/>
          </a:p>
        </p:txBody>
      </p:sp>
      <p:sp>
        <p:nvSpPr>
          <p:cNvPr id="49" name="P300 cell 26"/>
          <p:cNvSpPr txBox="1"/>
          <p:nvPr/>
        </p:nvSpPr>
        <p:spPr>
          <a:xfrm>
            <a:off x="5608320" y="3041904"/>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1</a:t>
            </a:r>
            <a:endParaRPr lang="en-US" sz="1300" dirty="0"/>
          </a:p>
        </p:txBody>
      </p:sp>
      <p:sp>
        <p:nvSpPr>
          <p:cNvPr id="50" name="P300 cell 27"/>
          <p:cNvSpPr txBox="1"/>
          <p:nvPr/>
        </p:nvSpPr>
        <p:spPr>
          <a:xfrm>
            <a:off x="6103620" y="3041904"/>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2</a:t>
            </a:r>
            <a:endParaRPr lang="en-US" sz="1300" dirty="0"/>
          </a:p>
        </p:txBody>
      </p:sp>
      <p:sp>
        <p:nvSpPr>
          <p:cNvPr id="51" name="P300 cell 28"/>
          <p:cNvSpPr txBox="1"/>
          <p:nvPr/>
        </p:nvSpPr>
        <p:spPr>
          <a:xfrm>
            <a:off x="6598920" y="3041904"/>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3</a:t>
            </a:r>
            <a:endParaRPr lang="en-US" sz="1300" dirty="0"/>
          </a:p>
        </p:txBody>
      </p:sp>
      <p:sp>
        <p:nvSpPr>
          <p:cNvPr id="52" name="P300 cell 29"/>
          <p:cNvSpPr txBox="1"/>
          <p:nvPr/>
        </p:nvSpPr>
        <p:spPr>
          <a:xfrm>
            <a:off x="7094220" y="3041904"/>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4</a:t>
            </a:r>
            <a:endParaRPr lang="en-US" sz="1300" dirty="0"/>
          </a:p>
        </p:txBody>
      </p:sp>
      <p:sp>
        <p:nvSpPr>
          <p:cNvPr id="53" name="P300 cell 30"/>
          <p:cNvSpPr txBox="1"/>
          <p:nvPr/>
        </p:nvSpPr>
        <p:spPr>
          <a:xfrm>
            <a:off x="4617720" y="3381756"/>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5</a:t>
            </a:r>
            <a:endParaRPr lang="en-US" sz="1300" dirty="0"/>
          </a:p>
        </p:txBody>
      </p:sp>
      <p:sp>
        <p:nvSpPr>
          <p:cNvPr id="54" name="P300 cell 31"/>
          <p:cNvSpPr txBox="1"/>
          <p:nvPr/>
        </p:nvSpPr>
        <p:spPr>
          <a:xfrm>
            <a:off x="5113020" y="3381756"/>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6</a:t>
            </a:r>
            <a:endParaRPr lang="en-US" sz="1300" dirty="0"/>
          </a:p>
        </p:txBody>
      </p:sp>
      <p:sp>
        <p:nvSpPr>
          <p:cNvPr id="55" name="P300 cell 32"/>
          <p:cNvSpPr txBox="1"/>
          <p:nvPr/>
        </p:nvSpPr>
        <p:spPr>
          <a:xfrm>
            <a:off x="5608320" y="3381756"/>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7</a:t>
            </a:r>
            <a:endParaRPr lang="en-US" sz="1300" dirty="0"/>
          </a:p>
        </p:txBody>
      </p:sp>
      <p:sp>
        <p:nvSpPr>
          <p:cNvPr id="56" name="P300 cell 33"/>
          <p:cNvSpPr txBox="1"/>
          <p:nvPr/>
        </p:nvSpPr>
        <p:spPr>
          <a:xfrm>
            <a:off x="6103620" y="3381756"/>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8</a:t>
            </a:r>
            <a:endParaRPr lang="en-US" sz="1300" dirty="0"/>
          </a:p>
        </p:txBody>
      </p:sp>
      <p:sp>
        <p:nvSpPr>
          <p:cNvPr id="57" name="P300 cell 34"/>
          <p:cNvSpPr txBox="1"/>
          <p:nvPr/>
        </p:nvSpPr>
        <p:spPr>
          <a:xfrm>
            <a:off x="6598920" y="3381756"/>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9</a:t>
            </a:r>
            <a:endParaRPr lang="en-US" sz="1300" dirty="0"/>
          </a:p>
        </p:txBody>
      </p:sp>
      <p:sp>
        <p:nvSpPr>
          <p:cNvPr id="58" name="P300 cell 35"/>
          <p:cNvSpPr txBox="1"/>
          <p:nvPr/>
        </p:nvSpPr>
        <p:spPr>
          <a:xfrm>
            <a:off x="7094220" y="3381756"/>
            <a:ext cx="495300" cy="339852"/>
          </a:xfrm>
          <a:prstGeom prst="rect">
            <a:avLst/>
          </a:prstGeom>
          <a:noFill/>
          <a:ln/>
        </p:spPr>
        <p:txBody>
          <a:bodyPr wrap="square" lIns="0" tIns="0" rIns="0" bIns="0" rtlCol="0" anchor="ctr"/>
          <a:lstStyle/>
          <a:p>
            <a:pPr algn="ctr" indent="0" marL="0">
              <a:buNone/>
            </a:pPr>
            <a:r>
              <a:rPr lang="en-US" sz="1300" dirty="0">
                <a:solidFill>
                  <a:srgbClr val="8C8C8C"/>
                </a:solidFill>
              </a:rPr>
              <a:t>_</a:t>
            </a:r>
            <a:endParaRPr lang="en-US" sz="1300" dirty="0"/>
          </a:p>
        </p:txBody>
      </p:sp>
      <p:sp>
        <p:nvSpPr>
          <p:cNvPr id="59" name="aVEP command 0"/>
          <p:cNvSpPr txBox="1"/>
          <p:nvPr/>
        </p:nvSpPr>
        <p:spPr>
          <a:xfrm>
            <a:off x="8229600" y="3538728"/>
            <a:ext cx="667512" cy="219456"/>
          </a:xfrm>
          <a:prstGeom prst="rect">
            <a:avLst/>
          </a:prstGeom>
          <a:noFill/>
          <a:ln/>
        </p:spPr>
        <p:txBody>
          <a:bodyPr wrap="square" lIns="0" tIns="0" rIns="0" bIns="0" rtlCol="0" anchor="ctr"/>
          <a:lstStyle/>
          <a:p>
            <a:pPr algn="ctr" indent="0" marL="0">
              <a:buNone/>
            </a:pPr>
            <a:r>
              <a:rPr lang="en-US" sz="1100" dirty="0">
                <a:solidFill>
                  <a:schemeClr val="tx1"/>
                </a:solidFill>
              </a:rPr>
              <a:t>↑</a:t>
            </a:r>
            <a:endParaRPr lang="en-US" sz="1100" dirty="0"/>
          </a:p>
        </p:txBody>
      </p:sp>
      <p:sp>
        <p:nvSpPr>
          <p:cNvPr id="60" name="aVEP stimulus 0L"/>
          <p:cNvSpPr/>
          <p:nvPr/>
        </p:nvSpPr>
        <p:spPr>
          <a:xfrm>
            <a:off x="8417052" y="3625596"/>
            <a:ext cx="45720" cy="45720"/>
          </a:xfrm>
          <a:prstGeom prst="rect">
            <a:avLst/>
          </a:prstGeom>
          <a:solidFill>
            <a:srgbClr val="A00000"/>
          </a:solidFill>
          <a:ln/>
        </p:spPr>
      </p:sp>
      <p:sp>
        <p:nvSpPr>
          <p:cNvPr id="61" name="aVEP stimulus 0R"/>
          <p:cNvSpPr/>
          <p:nvPr/>
        </p:nvSpPr>
        <p:spPr>
          <a:xfrm>
            <a:off x="8663940" y="3625596"/>
            <a:ext cx="45720" cy="45720"/>
          </a:xfrm>
          <a:prstGeom prst="rect">
            <a:avLst/>
          </a:prstGeom>
          <a:solidFill>
            <a:srgbClr val="A00000"/>
          </a:solidFill>
          <a:ln/>
        </p:spPr>
      </p:sp>
      <p:sp>
        <p:nvSpPr>
          <p:cNvPr id="62" name="aVEP command 1"/>
          <p:cNvSpPr txBox="1"/>
          <p:nvPr/>
        </p:nvSpPr>
        <p:spPr>
          <a:xfrm>
            <a:off x="8897112" y="3538728"/>
            <a:ext cx="667512" cy="219456"/>
          </a:xfrm>
          <a:prstGeom prst="rect">
            <a:avLst/>
          </a:prstGeom>
          <a:noFill/>
          <a:ln/>
        </p:spPr>
        <p:txBody>
          <a:bodyPr wrap="square" lIns="0" tIns="0" rIns="0" bIns="0" rtlCol="0" anchor="ctr"/>
          <a:lstStyle/>
          <a:p>
            <a:pPr algn="ctr" indent="0" marL="0">
              <a:buNone/>
            </a:pPr>
            <a:r>
              <a:rPr lang="en-US" sz="1100" dirty="0">
                <a:solidFill>
                  <a:schemeClr val="tx1"/>
                </a:solidFill>
              </a:rPr>
              <a:t>↓</a:t>
            </a:r>
            <a:endParaRPr lang="en-US" sz="1100" dirty="0"/>
          </a:p>
        </p:txBody>
      </p:sp>
      <p:sp>
        <p:nvSpPr>
          <p:cNvPr id="63" name="aVEP stimulus 1L"/>
          <p:cNvSpPr/>
          <p:nvPr/>
        </p:nvSpPr>
        <p:spPr>
          <a:xfrm>
            <a:off x="9084564" y="3625596"/>
            <a:ext cx="45720" cy="45720"/>
          </a:xfrm>
          <a:prstGeom prst="rect">
            <a:avLst/>
          </a:prstGeom>
          <a:solidFill>
            <a:srgbClr val="A00000"/>
          </a:solidFill>
          <a:ln/>
        </p:spPr>
      </p:sp>
      <p:sp>
        <p:nvSpPr>
          <p:cNvPr id="64" name="aVEP stimulus 1R"/>
          <p:cNvSpPr/>
          <p:nvPr/>
        </p:nvSpPr>
        <p:spPr>
          <a:xfrm>
            <a:off x="9331452" y="3625596"/>
            <a:ext cx="45720" cy="45720"/>
          </a:xfrm>
          <a:prstGeom prst="rect">
            <a:avLst/>
          </a:prstGeom>
          <a:solidFill>
            <a:srgbClr val="A00000"/>
          </a:solidFill>
          <a:ln/>
        </p:spPr>
      </p:sp>
      <p:sp>
        <p:nvSpPr>
          <p:cNvPr id="65" name="aVEP command 2"/>
          <p:cNvSpPr txBox="1"/>
          <p:nvPr/>
        </p:nvSpPr>
        <p:spPr>
          <a:xfrm>
            <a:off x="9564624" y="3538728"/>
            <a:ext cx="667512" cy="219456"/>
          </a:xfrm>
          <a:prstGeom prst="rect">
            <a:avLst/>
          </a:prstGeom>
          <a:noFill/>
          <a:ln/>
        </p:spPr>
        <p:txBody>
          <a:bodyPr wrap="square" lIns="0" tIns="0" rIns="0" bIns="0" rtlCol="0" anchor="ctr"/>
          <a:lstStyle/>
          <a:p>
            <a:pPr algn="ctr" indent="0" marL="0">
              <a:buNone/>
            </a:pPr>
            <a:r>
              <a:rPr lang="en-US" sz="1100" dirty="0">
                <a:solidFill>
                  <a:schemeClr val="tx1"/>
                </a:solidFill>
              </a:rPr>
              <a:t>←</a:t>
            </a:r>
            <a:endParaRPr lang="en-US" sz="1100" dirty="0"/>
          </a:p>
        </p:txBody>
      </p:sp>
      <p:sp>
        <p:nvSpPr>
          <p:cNvPr id="66" name="aVEP stimulus 2L"/>
          <p:cNvSpPr/>
          <p:nvPr/>
        </p:nvSpPr>
        <p:spPr>
          <a:xfrm>
            <a:off x="9752076" y="3625596"/>
            <a:ext cx="45720" cy="45720"/>
          </a:xfrm>
          <a:prstGeom prst="rect">
            <a:avLst/>
          </a:prstGeom>
          <a:solidFill>
            <a:srgbClr val="A00000"/>
          </a:solidFill>
          <a:ln/>
        </p:spPr>
      </p:sp>
      <p:sp>
        <p:nvSpPr>
          <p:cNvPr id="67" name="aVEP stimulus 2R"/>
          <p:cNvSpPr/>
          <p:nvPr/>
        </p:nvSpPr>
        <p:spPr>
          <a:xfrm>
            <a:off x="9998964" y="3625596"/>
            <a:ext cx="45720" cy="45720"/>
          </a:xfrm>
          <a:prstGeom prst="rect">
            <a:avLst/>
          </a:prstGeom>
          <a:solidFill>
            <a:srgbClr val="A00000"/>
          </a:solidFill>
          <a:ln/>
        </p:spPr>
      </p:sp>
      <p:sp>
        <p:nvSpPr>
          <p:cNvPr id="68" name="aVEP command 3"/>
          <p:cNvSpPr txBox="1"/>
          <p:nvPr/>
        </p:nvSpPr>
        <p:spPr>
          <a:xfrm>
            <a:off x="10232136" y="3538728"/>
            <a:ext cx="667512" cy="219456"/>
          </a:xfrm>
          <a:prstGeom prst="rect">
            <a:avLst/>
          </a:prstGeom>
          <a:noFill/>
          <a:ln/>
        </p:spPr>
        <p:txBody>
          <a:bodyPr wrap="square" lIns="0" tIns="0" rIns="0" bIns="0" rtlCol="0" anchor="ctr"/>
          <a:lstStyle/>
          <a:p>
            <a:pPr algn="ctr" indent="0" marL="0">
              <a:buNone/>
            </a:pPr>
            <a:r>
              <a:rPr lang="en-US" sz="1100" dirty="0">
                <a:solidFill>
                  <a:schemeClr val="tx1"/>
                </a:solidFill>
              </a:rPr>
              <a:t>→</a:t>
            </a:r>
            <a:endParaRPr lang="en-US" sz="1100" dirty="0"/>
          </a:p>
        </p:txBody>
      </p:sp>
      <p:sp>
        <p:nvSpPr>
          <p:cNvPr id="69" name="aVEP stimulus 3L"/>
          <p:cNvSpPr/>
          <p:nvPr/>
        </p:nvSpPr>
        <p:spPr>
          <a:xfrm>
            <a:off x="10419588" y="3625596"/>
            <a:ext cx="45720" cy="45720"/>
          </a:xfrm>
          <a:prstGeom prst="rect">
            <a:avLst/>
          </a:prstGeom>
          <a:solidFill>
            <a:srgbClr val="A00000"/>
          </a:solidFill>
          <a:ln/>
        </p:spPr>
      </p:sp>
      <p:sp>
        <p:nvSpPr>
          <p:cNvPr id="70" name="aVEP stimulus 3R"/>
          <p:cNvSpPr/>
          <p:nvPr/>
        </p:nvSpPr>
        <p:spPr>
          <a:xfrm>
            <a:off x="10666476" y="3625596"/>
            <a:ext cx="45720" cy="45720"/>
          </a:xfrm>
          <a:prstGeom prst="rect">
            <a:avLst/>
          </a:prstGeom>
          <a:solidFill>
            <a:srgbClr val="A00000"/>
          </a:solidFill>
          <a:ln/>
        </p:spPr>
      </p:sp>
      <p:sp>
        <p:nvSpPr>
          <p:cNvPr id="71" name="aVEP command 4"/>
          <p:cNvSpPr txBox="1"/>
          <p:nvPr/>
        </p:nvSpPr>
        <p:spPr>
          <a:xfrm>
            <a:off x="10899648" y="3538728"/>
            <a:ext cx="667512" cy="219456"/>
          </a:xfrm>
          <a:prstGeom prst="rect">
            <a:avLst/>
          </a:prstGeom>
          <a:noFill/>
          <a:ln/>
        </p:spPr>
        <p:txBody>
          <a:bodyPr wrap="square" lIns="0" tIns="0" rIns="0" bIns="0" rtlCol="0" anchor="ctr"/>
          <a:lstStyle/>
          <a:p>
            <a:pPr algn="ctr" indent="0" marL="0">
              <a:buNone/>
            </a:pPr>
            <a:r>
              <a:rPr lang="en-US" sz="1100" dirty="0">
                <a:solidFill>
                  <a:schemeClr val="tx1"/>
                </a:solidFill>
              </a:rPr>
              <a:t>Grasp</a:t>
            </a:r>
            <a:endParaRPr lang="en-US" sz="1100" dirty="0"/>
          </a:p>
        </p:txBody>
      </p:sp>
      <p:sp>
        <p:nvSpPr>
          <p:cNvPr id="72" name="aVEP stimulus 4L"/>
          <p:cNvSpPr/>
          <p:nvPr/>
        </p:nvSpPr>
        <p:spPr>
          <a:xfrm>
            <a:off x="10968228" y="3625596"/>
            <a:ext cx="45720" cy="45720"/>
          </a:xfrm>
          <a:prstGeom prst="rect">
            <a:avLst/>
          </a:prstGeom>
          <a:solidFill>
            <a:srgbClr val="A00000"/>
          </a:solidFill>
          <a:ln/>
        </p:spPr>
      </p:sp>
      <p:sp>
        <p:nvSpPr>
          <p:cNvPr id="73" name="aVEP stimulus 4R"/>
          <p:cNvSpPr/>
          <p:nvPr/>
        </p:nvSpPr>
        <p:spPr>
          <a:xfrm>
            <a:off x="11452860" y="3625596"/>
            <a:ext cx="45720" cy="45720"/>
          </a:xfrm>
          <a:prstGeom prst="rect">
            <a:avLst/>
          </a:prstGeom>
          <a:solidFill>
            <a:srgbClr val="A00000"/>
          </a:solidFill>
          <a:ln/>
        </p:spPr>
      </p:sp>
      <p:sp>
        <p:nvSpPr>
          <p:cNvPr id="74" name="Panel 0 caption"/>
          <p:cNvSpPr txBox="1"/>
          <p:nvPr/>
        </p:nvSpPr>
        <p:spPr>
          <a:xfrm>
            <a:off x="502920" y="3886200"/>
            <a:ext cx="3611880" cy="566928"/>
          </a:xfrm>
          <a:prstGeom prst="rect">
            <a:avLst/>
          </a:prstGeom>
          <a:noFill/>
          <a:ln/>
        </p:spPr>
        <p:txBody>
          <a:bodyPr wrap="square" lIns="0" tIns="0" rIns="0" bIns="0" rtlCol="0" anchor="t"/>
          <a:lstStyle/>
          <a:p>
            <a:pPr algn="ctr" indent="0" marL="0">
              <a:buNone/>
            </a:pPr>
            <a:r>
              <a:rPr lang="en-US" sz="1400" dirty="0">
                <a:solidFill>
                  <a:schemeClr val="tx1"/>
                </a:solidFill>
              </a:rPr>
              <a:t>Large flickering targets, one frequency each</a:t>
            </a:r>
            <a:endParaRPr lang="en-US" sz="1400" dirty="0"/>
          </a:p>
          <a:p>
            <a:pPr algn="ctr" indent="0" marL="0">
              <a:buNone/>
            </a:pPr>
            <a:r>
              <a:rPr lang="en-US" sz="1400" b="1" dirty="0">
                <a:solidFill>
                  <a:srgbClr val="A00000"/>
                </a:solidFill>
              </a:rPr>
              <a:t>High visual burden: view largely occluded</a:t>
            </a:r>
            <a:endParaRPr lang="en-US" sz="1400" dirty="0"/>
          </a:p>
        </p:txBody>
      </p:sp>
      <p:sp>
        <p:nvSpPr>
          <p:cNvPr id="75" name="Panel 1 caption"/>
          <p:cNvSpPr txBox="1"/>
          <p:nvPr/>
        </p:nvSpPr>
        <p:spPr>
          <a:xfrm>
            <a:off x="4297680" y="3886200"/>
            <a:ext cx="3611880" cy="566928"/>
          </a:xfrm>
          <a:prstGeom prst="rect">
            <a:avLst/>
          </a:prstGeom>
          <a:noFill/>
          <a:ln/>
        </p:spPr>
        <p:txBody>
          <a:bodyPr wrap="square" lIns="0" tIns="0" rIns="0" bIns="0" rtlCol="0" anchor="t"/>
          <a:lstStyle/>
          <a:p>
            <a:pPr algn="ctr" indent="0" marL="0">
              <a:buNone/>
            </a:pPr>
            <a:r>
              <a:rPr lang="en-US" sz="1400" dirty="0">
                <a:solidFill>
                  <a:schemeClr val="tx1"/>
                </a:solidFill>
              </a:rPr>
              <a:t>Flashing rows / columns of a symbol matrix</a:t>
            </a:r>
            <a:endParaRPr lang="en-US" sz="1400" dirty="0"/>
          </a:p>
          <a:p>
            <a:pPr algn="ctr" indent="0" marL="0">
              <a:buNone/>
            </a:pPr>
            <a:r>
              <a:rPr lang="en-US" sz="1400" b="1" dirty="0">
                <a:solidFill>
                  <a:srgbClr val="A00000"/>
                </a:solidFill>
              </a:rPr>
              <a:t>High visual burden: view largely occluded</a:t>
            </a:r>
            <a:endParaRPr lang="en-US" sz="1400" dirty="0"/>
          </a:p>
        </p:txBody>
      </p:sp>
      <p:sp>
        <p:nvSpPr>
          <p:cNvPr id="76" name="Panel 2 caption"/>
          <p:cNvSpPr txBox="1"/>
          <p:nvPr/>
        </p:nvSpPr>
        <p:spPr>
          <a:xfrm>
            <a:off x="8092440" y="3886200"/>
            <a:ext cx="3611880" cy="566928"/>
          </a:xfrm>
          <a:prstGeom prst="rect">
            <a:avLst/>
          </a:prstGeom>
          <a:noFill/>
          <a:ln/>
        </p:spPr>
        <p:txBody>
          <a:bodyPr wrap="square" lIns="0" tIns="0" rIns="0" bIns="0" rtlCol="0" anchor="t"/>
          <a:lstStyle/>
          <a:p>
            <a:pPr algn="ctr" indent="0" marL="0">
              <a:buNone/>
            </a:pPr>
            <a:r>
              <a:rPr lang="en-US" sz="1400" dirty="0">
                <a:solidFill>
                  <a:schemeClr val="tx1"/>
                </a:solidFill>
              </a:rPr>
              <a:t>Miniature stimuli beside each command</a:t>
            </a:r>
            <a:endParaRPr lang="en-US" sz="1400" dirty="0"/>
          </a:p>
          <a:p>
            <a:pPr algn="ctr" indent="0" marL="0">
              <a:buNone/>
            </a:pPr>
            <a:r>
              <a:rPr lang="en-US" sz="1400" b="1" dirty="0">
                <a:solidFill>
                  <a:srgbClr val="1E7B34"/>
                </a:solidFill>
              </a:rPr>
              <a:t>Low visual burden: environment stays visible</a:t>
            </a:r>
            <a:endParaRPr lang="en-US" sz="1400" dirty="0"/>
          </a:p>
        </p:txBody>
      </p:sp>
      <p:sp>
        <p:nvSpPr>
          <p:cNvPr id="77" name="Coding panel"/>
          <p:cNvSpPr/>
          <p:nvPr/>
        </p:nvSpPr>
        <p:spPr>
          <a:xfrm>
            <a:off x="502920" y="4553712"/>
            <a:ext cx="5486400" cy="1344168"/>
          </a:xfrm>
          <a:prstGeom prst="rect">
            <a:avLst/>
          </a:prstGeom>
          <a:solidFill>
            <a:srgbClr val="F2F2F2"/>
          </a:solidFill>
          <a:ln/>
        </p:spPr>
      </p:sp>
      <p:sp>
        <p:nvSpPr>
          <p:cNvPr id="78" name="Coding head"/>
          <p:cNvSpPr txBox="1"/>
          <p:nvPr/>
        </p:nvSpPr>
        <p:spPr>
          <a:xfrm>
            <a:off x="685800" y="4645152"/>
            <a:ext cx="5120640" cy="320040"/>
          </a:xfrm>
          <a:prstGeom prst="rect">
            <a:avLst/>
          </a:prstGeom>
          <a:noFill/>
          <a:ln/>
        </p:spPr>
        <p:txBody>
          <a:bodyPr wrap="square" lIns="0" tIns="0" rIns="0" bIns="0" rtlCol="0" anchor="t"/>
          <a:lstStyle/>
          <a:p>
            <a:pPr indent="0" marL="0">
              <a:buNone/>
            </a:pPr>
            <a:r>
              <a:rPr lang="en-US" sz="1600" b="1" dirty="0">
                <a:solidFill>
                  <a:schemeClr val="tx1"/>
                </a:solidFill>
              </a:rPr>
              <a:t>aVEP coding [3]: stimulus order = code</a:t>
            </a:r>
            <a:endParaRPr lang="en-US" sz="1600" dirty="0"/>
          </a:p>
        </p:txBody>
      </p:sp>
      <p:sp>
        <p:nvSpPr>
          <p:cNvPr id="79" name="Code 0 first"/>
          <p:cNvSpPr/>
          <p:nvPr/>
        </p:nvSpPr>
        <p:spPr>
          <a:xfrm>
            <a:off x="685800" y="4965192"/>
            <a:ext cx="548640" cy="365760"/>
          </a:xfrm>
          <a:prstGeom prst="rect">
            <a:avLst/>
          </a:prstGeom>
          <a:solidFill>
            <a:srgbClr val="262626"/>
          </a:solidFill>
          <a:ln/>
        </p:spPr>
      </p:sp>
      <p:sp>
        <p:nvSpPr>
          <p:cNvPr id="80" name="Code 0 first fixation"/>
          <p:cNvSpPr txBox="1"/>
          <p:nvPr/>
        </p:nvSpPr>
        <p:spPr>
          <a:xfrm>
            <a:off x="777240" y="4965192"/>
            <a:ext cx="365760" cy="365760"/>
          </a:xfrm>
          <a:prstGeom prst="rect">
            <a:avLst/>
          </a:prstGeom>
          <a:noFill/>
          <a:ln/>
        </p:spPr>
        <p:txBody>
          <a:bodyPr wrap="square" lIns="0" tIns="0" rIns="0" bIns="0" rtlCol="0" anchor="ctr"/>
          <a:lstStyle/>
          <a:p>
            <a:pPr algn="ctr" indent="0" marL="0">
              <a:buNone/>
            </a:pPr>
            <a:r>
              <a:rPr lang="en-US" sz="1000" b="1" dirty="0">
                <a:solidFill>
                  <a:schemeClr val="bg1"/>
                </a:solidFill>
              </a:rPr>
              <a:t>+</a:t>
            </a:r>
            <a:endParaRPr lang="en-US" sz="1000" dirty="0"/>
          </a:p>
        </p:txBody>
      </p:sp>
      <p:sp>
        <p:nvSpPr>
          <p:cNvPr id="81" name="Code 0 first L stimulus"/>
          <p:cNvSpPr/>
          <p:nvPr/>
        </p:nvSpPr>
        <p:spPr>
          <a:xfrm>
            <a:off x="811987" y="5120640"/>
            <a:ext cx="54864" cy="54864"/>
          </a:xfrm>
          <a:prstGeom prst="rect">
            <a:avLst/>
          </a:prstGeom>
          <a:solidFill>
            <a:srgbClr val="FFFFFF"/>
          </a:solidFill>
          <a:ln/>
        </p:spPr>
      </p:sp>
      <p:sp>
        <p:nvSpPr>
          <p:cNvPr id="82" name="Code 0 arrow"/>
          <p:cNvSpPr/>
          <p:nvPr/>
        </p:nvSpPr>
        <p:spPr>
          <a:xfrm>
            <a:off x="1280160" y="5148072"/>
            <a:ext cx="274320" cy="0"/>
          </a:xfrm>
          <a:prstGeom prst="line">
            <a:avLst/>
          </a:prstGeom>
          <a:noFill/>
          <a:ln w="15875">
            <a:solidFill>
              <a:srgbClr val="000000"/>
            </a:solidFill>
            <a:prstDash val="solid"/>
            <a:tailEnd type="triangle"/>
          </a:ln>
        </p:spPr>
      </p:sp>
      <p:sp>
        <p:nvSpPr>
          <p:cNvPr id="83" name="Code 0 second"/>
          <p:cNvSpPr/>
          <p:nvPr/>
        </p:nvSpPr>
        <p:spPr>
          <a:xfrm>
            <a:off x="1600200" y="4965192"/>
            <a:ext cx="548640" cy="365760"/>
          </a:xfrm>
          <a:prstGeom prst="rect">
            <a:avLst/>
          </a:prstGeom>
          <a:solidFill>
            <a:srgbClr val="262626"/>
          </a:solidFill>
          <a:ln/>
        </p:spPr>
      </p:sp>
      <p:sp>
        <p:nvSpPr>
          <p:cNvPr id="84" name="Code 0 second fixation"/>
          <p:cNvSpPr txBox="1"/>
          <p:nvPr/>
        </p:nvSpPr>
        <p:spPr>
          <a:xfrm>
            <a:off x="1691640" y="4965192"/>
            <a:ext cx="365760" cy="365760"/>
          </a:xfrm>
          <a:prstGeom prst="rect">
            <a:avLst/>
          </a:prstGeom>
          <a:noFill/>
          <a:ln/>
        </p:spPr>
        <p:txBody>
          <a:bodyPr wrap="square" lIns="0" tIns="0" rIns="0" bIns="0" rtlCol="0" anchor="ctr"/>
          <a:lstStyle/>
          <a:p>
            <a:pPr algn="ctr" indent="0" marL="0">
              <a:buNone/>
            </a:pPr>
            <a:r>
              <a:rPr lang="en-US" sz="1000" b="1" dirty="0">
                <a:solidFill>
                  <a:schemeClr val="bg1"/>
                </a:solidFill>
              </a:rPr>
              <a:t>+</a:t>
            </a:r>
            <a:endParaRPr lang="en-US" sz="1000" dirty="0"/>
          </a:p>
        </p:txBody>
      </p:sp>
      <p:sp>
        <p:nvSpPr>
          <p:cNvPr id="85" name="Code 0 second R stimulus"/>
          <p:cNvSpPr/>
          <p:nvPr/>
        </p:nvSpPr>
        <p:spPr>
          <a:xfrm>
            <a:off x="1967789" y="5120640"/>
            <a:ext cx="54864" cy="54864"/>
          </a:xfrm>
          <a:prstGeom prst="rect">
            <a:avLst/>
          </a:prstGeom>
          <a:solidFill>
            <a:srgbClr val="FFFFFF"/>
          </a:solidFill>
          <a:ln/>
        </p:spPr>
      </p:sp>
      <p:sp>
        <p:nvSpPr>
          <p:cNvPr id="86" name="Code 0 label"/>
          <p:cNvSpPr txBox="1"/>
          <p:nvPr/>
        </p:nvSpPr>
        <p:spPr>
          <a:xfrm>
            <a:off x="2240280" y="4965192"/>
            <a:ext cx="1097280" cy="365760"/>
          </a:xfrm>
          <a:prstGeom prst="rect">
            <a:avLst/>
          </a:prstGeom>
          <a:noFill/>
          <a:ln/>
        </p:spPr>
        <p:txBody>
          <a:bodyPr wrap="square" lIns="0" tIns="0" rIns="0" bIns="0" rtlCol="0" anchor="ctr"/>
          <a:lstStyle/>
          <a:p>
            <a:pPr indent="0" marL="0">
              <a:buNone/>
            </a:pPr>
            <a:r>
              <a:rPr lang="en-US" sz="1400" dirty="0">
                <a:solidFill>
                  <a:schemeClr val="tx1"/>
                </a:solidFill>
              </a:rPr>
              <a:t>= code 0</a:t>
            </a:r>
            <a:endParaRPr lang="en-US" sz="1400" dirty="0"/>
          </a:p>
        </p:txBody>
      </p:sp>
      <p:sp>
        <p:nvSpPr>
          <p:cNvPr id="87" name="Code 1 first"/>
          <p:cNvSpPr/>
          <p:nvPr/>
        </p:nvSpPr>
        <p:spPr>
          <a:xfrm>
            <a:off x="3383280" y="4965192"/>
            <a:ext cx="548640" cy="365760"/>
          </a:xfrm>
          <a:prstGeom prst="rect">
            <a:avLst/>
          </a:prstGeom>
          <a:solidFill>
            <a:srgbClr val="262626"/>
          </a:solidFill>
          <a:ln/>
        </p:spPr>
      </p:sp>
      <p:sp>
        <p:nvSpPr>
          <p:cNvPr id="88" name="Code 1 first fixation"/>
          <p:cNvSpPr txBox="1"/>
          <p:nvPr/>
        </p:nvSpPr>
        <p:spPr>
          <a:xfrm>
            <a:off x="3474720" y="4965192"/>
            <a:ext cx="365760" cy="365760"/>
          </a:xfrm>
          <a:prstGeom prst="rect">
            <a:avLst/>
          </a:prstGeom>
          <a:noFill/>
          <a:ln/>
        </p:spPr>
        <p:txBody>
          <a:bodyPr wrap="square" lIns="0" tIns="0" rIns="0" bIns="0" rtlCol="0" anchor="ctr"/>
          <a:lstStyle/>
          <a:p>
            <a:pPr algn="ctr" indent="0" marL="0">
              <a:buNone/>
            </a:pPr>
            <a:r>
              <a:rPr lang="en-US" sz="1000" b="1" dirty="0">
                <a:solidFill>
                  <a:schemeClr val="bg1"/>
                </a:solidFill>
              </a:rPr>
              <a:t>+</a:t>
            </a:r>
            <a:endParaRPr lang="en-US" sz="1000" dirty="0"/>
          </a:p>
        </p:txBody>
      </p:sp>
      <p:sp>
        <p:nvSpPr>
          <p:cNvPr id="89" name="Code 1 first R stimulus"/>
          <p:cNvSpPr/>
          <p:nvPr/>
        </p:nvSpPr>
        <p:spPr>
          <a:xfrm>
            <a:off x="3750869" y="5120640"/>
            <a:ext cx="54864" cy="54864"/>
          </a:xfrm>
          <a:prstGeom prst="rect">
            <a:avLst/>
          </a:prstGeom>
          <a:solidFill>
            <a:srgbClr val="FFFFFF"/>
          </a:solidFill>
          <a:ln/>
        </p:spPr>
      </p:sp>
      <p:sp>
        <p:nvSpPr>
          <p:cNvPr id="90" name="Code 1 arrow"/>
          <p:cNvSpPr/>
          <p:nvPr/>
        </p:nvSpPr>
        <p:spPr>
          <a:xfrm>
            <a:off x="3977640" y="5148072"/>
            <a:ext cx="274320" cy="0"/>
          </a:xfrm>
          <a:prstGeom prst="line">
            <a:avLst/>
          </a:prstGeom>
          <a:noFill/>
          <a:ln w="15875">
            <a:solidFill>
              <a:srgbClr val="000000"/>
            </a:solidFill>
            <a:prstDash val="solid"/>
            <a:tailEnd type="triangle"/>
          </a:ln>
        </p:spPr>
      </p:sp>
      <p:sp>
        <p:nvSpPr>
          <p:cNvPr id="91" name="Code 1 second"/>
          <p:cNvSpPr/>
          <p:nvPr/>
        </p:nvSpPr>
        <p:spPr>
          <a:xfrm>
            <a:off x="4297680" y="4965192"/>
            <a:ext cx="548640" cy="365760"/>
          </a:xfrm>
          <a:prstGeom prst="rect">
            <a:avLst/>
          </a:prstGeom>
          <a:solidFill>
            <a:srgbClr val="262626"/>
          </a:solidFill>
          <a:ln/>
        </p:spPr>
      </p:sp>
      <p:sp>
        <p:nvSpPr>
          <p:cNvPr id="92" name="Code 1 second fixation"/>
          <p:cNvSpPr txBox="1"/>
          <p:nvPr/>
        </p:nvSpPr>
        <p:spPr>
          <a:xfrm>
            <a:off x="4389120" y="4965192"/>
            <a:ext cx="365760" cy="365760"/>
          </a:xfrm>
          <a:prstGeom prst="rect">
            <a:avLst/>
          </a:prstGeom>
          <a:noFill/>
          <a:ln/>
        </p:spPr>
        <p:txBody>
          <a:bodyPr wrap="square" lIns="0" tIns="0" rIns="0" bIns="0" rtlCol="0" anchor="ctr"/>
          <a:lstStyle/>
          <a:p>
            <a:pPr algn="ctr" indent="0" marL="0">
              <a:buNone/>
            </a:pPr>
            <a:r>
              <a:rPr lang="en-US" sz="1000" b="1" dirty="0">
                <a:solidFill>
                  <a:schemeClr val="bg1"/>
                </a:solidFill>
              </a:rPr>
              <a:t>+</a:t>
            </a:r>
            <a:endParaRPr lang="en-US" sz="1000" dirty="0"/>
          </a:p>
        </p:txBody>
      </p:sp>
      <p:sp>
        <p:nvSpPr>
          <p:cNvPr id="93" name="Code 1 second L stimulus"/>
          <p:cNvSpPr/>
          <p:nvPr/>
        </p:nvSpPr>
        <p:spPr>
          <a:xfrm>
            <a:off x="4423867" y="5120640"/>
            <a:ext cx="54864" cy="54864"/>
          </a:xfrm>
          <a:prstGeom prst="rect">
            <a:avLst/>
          </a:prstGeom>
          <a:solidFill>
            <a:srgbClr val="FFFFFF"/>
          </a:solidFill>
          <a:ln/>
        </p:spPr>
      </p:sp>
      <p:sp>
        <p:nvSpPr>
          <p:cNvPr id="94" name="Code 1 label"/>
          <p:cNvSpPr txBox="1"/>
          <p:nvPr/>
        </p:nvSpPr>
        <p:spPr>
          <a:xfrm>
            <a:off x="4937760" y="4965192"/>
            <a:ext cx="1097280" cy="365760"/>
          </a:xfrm>
          <a:prstGeom prst="rect">
            <a:avLst/>
          </a:prstGeom>
          <a:noFill/>
          <a:ln/>
        </p:spPr>
        <p:txBody>
          <a:bodyPr wrap="square" lIns="0" tIns="0" rIns="0" bIns="0" rtlCol="0" anchor="ctr"/>
          <a:lstStyle/>
          <a:p>
            <a:pPr indent="0" marL="0">
              <a:buNone/>
            </a:pPr>
            <a:r>
              <a:rPr lang="en-US" sz="1400" dirty="0">
                <a:solidFill>
                  <a:schemeClr val="tx1"/>
                </a:solidFill>
              </a:rPr>
              <a:t>= code 1</a:t>
            </a:r>
            <a:endParaRPr lang="en-US" sz="1400" dirty="0"/>
          </a:p>
        </p:txBody>
      </p:sp>
      <p:sp>
        <p:nvSpPr>
          <p:cNvPr id="95" name="Coding task"/>
          <p:cNvSpPr txBox="1"/>
          <p:nvPr/>
        </p:nvSpPr>
        <p:spPr>
          <a:xfrm>
            <a:off x="685800" y="5559552"/>
            <a:ext cx="5120640" cy="274320"/>
          </a:xfrm>
          <a:prstGeom prst="rect">
            <a:avLst/>
          </a:prstGeom>
          <a:noFill/>
          <a:ln/>
        </p:spPr>
        <p:txBody>
          <a:bodyPr wrap="square" lIns="0" tIns="0" rIns="0" bIns="0" rtlCol="0" anchor="t"/>
          <a:lstStyle/>
          <a:p>
            <a:pPr indent="0" marL="0">
              <a:buNone/>
            </a:pPr>
            <a:r>
              <a:rPr lang="en-US" sz="1400" i="1" dirty="0">
                <a:solidFill>
                  <a:schemeClr val="tx1"/>
                </a:solidFill>
              </a:rPr>
              <a:t>Task: decode each pair (one every 200 ms) from single-trial EEG</a:t>
            </a:r>
            <a:endParaRPr lang="en-US" sz="1400" dirty="0"/>
          </a:p>
        </p:txBody>
      </p:sp>
      <p:sp>
        <p:nvSpPr>
          <p:cNvPr id="96" name="Application panel"/>
          <p:cNvSpPr/>
          <p:nvPr/>
        </p:nvSpPr>
        <p:spPr>
          <a:xfrm>
            <a:off x="6172200" y="4553712"/>
            <a:ext cx="5486400" cy="1344168"/>
          </a:xfrm>
          <a:prstGeom prst="rect">
            <a:avLst/>
          </a:prstGeom>
          <a:solidFill>
            <a:srgbClr val="F2F2F2"/>
          </a:solidFill>
          <a:ln/>
        </p:spPr>
      </p:sp>
      <p:sp>
        <p:nvSpPr>
          <p:cNvPr id="97" name="Application"/>
          <p:cNvSpPr txBox="1"/>
          <p:nvPr/>
        </p:nvSpPr>
        <p:spPr>
          <a:xfrm>
            <a:off x="6355080" y="4645152"/>
            <a:ext cx="5120640" cy="1161288"/>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Application</a:t>
            </a:r>
            <a:endParaRPr lang="en-US" sz="1600" dirty="0"/>
          </a:p>
          <a:p>
            <a:pPr indent="0" marL="0">
              <a:spcAft>
                <a:spcPts val="200"/>
              </a:spcAft>
              <a:buNone/>
            </a:pPr>
            <a:r>
              <a:rPr lang="en-US" sz="1600" dirty="0">
                <a:solidFill>
                  <a:schemeClr val="tx1"/>
                </a:solidFill>
              </a:rPr>
              <a:t>Robotic arms, unmanned vehicles: the user must keep watching the environment while issuing commands</a:t>
            </a:r>
            <a:endParaRPr lang="en-US" sz="1600" dirty="0"/>
          </a:p>
          <a:p>
            <a:pPr indent="0" marL="0">
              <a:spcAft>
                <a:spcPts val="200"/>
              </a:spcAft>
              <a:buNone/>
            </a:pPr>
            <a:r>
              <a:rPr lang="en-US" sz="1600" b="1" dirty="0">
                <a:solidFill>
                  <a:schemeClr val="accent1"/>
                </a:solidFill>
              </a:rPr>
              <a:t>→ Chapter 3: online aVEP-based robotic arm</a:t>
            </a:r>
            <a:endParaRPr lang="en-US" sz="1600" dirty="0"/>
          </a:p>
        </p:txBody>
      </p:sp>
      <p:sp>
        <p:nvSpPr>
          <p:cNvPr id="98" name="Reference"/>
          <p:cNvSpPr txBox="1"/>
          <p:nvPr/>
        </p:nvSpPr>
        <p:spPr>
          <a:xfrm>
            <a:off x="320040" y="5989320"/>
            <a:ext cx="10881360" cy="731520"/>
          </a:xfrm>
          <a:prstGeom prst="rect">
            <a:avLst/>
          </a:prstGeom>
          <a:noFill/>
          <a:ln/>
        </p:spPr>
        <p:txBody>
          <a:bodyPr wrap="square" lIns="0" tIns="0" rIns="0" bIns="0" rtlCol="0" anchor="b"/>
          <a:lstStyle/>
          <a:p>
            <a:pPr indent="0" marL="0">
              <a:buNone/>
            </a:pPr>
            <a:r>
              <a:rPr lang="en-US" sz="1200" dirty="0">
                <a:solidFill>
                  <a:schemeClr val="accent3"/>
                </a:solidFill>
              </a:rPr>
              <a:t>[1] X. Chen et al., PNAS, 2015.   [2] L. A. Farwell, E. Donchin, Electroencephalogr. Clin. Neurophysiol., 1988.</a:t>
            </a:r>
            <a:endParaRPr lang="en-US" sz="1200" dirty="0"/>
          </a:p>
          <a:p>
            <a:pPr indent="0" marL="0">
              <a:buNone/>
            </a:pPr>
            <a:r>
              <a:rPr lang="en-US" sz="1200" dirty="0">
                <a:solidFill>
                  <a:schemeClr val="accent3"/>
                </a:solidFill>
              </a:rPr>
              <a:t>[3] M. Xu et al., IEEE Trans. Biomed. Eng., 2018.   Panels (a)–(c) are schematic illustrations.</a:t>
            </a:r>
            <a:endParaRPr lang="en-US" sz="1200" dirty="0"/>
          </a:p>
        </p:txBody>
      </p:sp>
      <p:sp>
        <p:nvSpPr>
          <p:cNvPr id="25" name="Slide Number Placeholder 0"/>
          <p:cNvSpPr>
            <a:spLocks noGrp="1"/>
          </p:cNvSpPr>
          <p:nvPr>
            <p:ph type="sldNum" sz="quarter" idx="4294967295"/>
          </p:nvPr>
        </p:nvSpPr>
        <p:spPr>
          <a:xfrm>
            <a:off x="11292840" y="6382512"/>
            <a:ext cx="59436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8001000" cy="749808"/>
          </a:xfrm>
          <a:prstGeom prst="rect">
            <a:avLst/>
          </a:prstGeom>
          <a:noFill/>
          <a:ln/>
        </p:spPr>
        <p:txBody>
          <a:bodyPr wrap="square" lIns="0" tIns="0" rIns="0" bIns="0" rtlCol="0" anchor="ctr"/>
          <a:lstStyle/>
          <a:p>
            <a:pPr algn="l" indent="0" marL="0">
              <a:buNone/>
            </a:pPr>
            <a:r>
              <a:rPr lang="en-US" sz="2800" b="1" dirty="0">
                <a:solidFill>
                  <a:schemeClr val="bg1"/>
                </a:solidFill>
              </a:rPr>
              <a:t>1 Research Background and Objectives</a:t>
            </a:r>
            <a:endParaRPr lang="en-US" sz="2800" dirty="0"/>
          </a:p>
        </p:txBody>
      </p:sp>
      <p:sp>
        <p:nvSpPr>
          <p:cNvPr id="3" name="Challenge 1 head"/>
          <p:cNvSpPr txBox="1"/>
          <p:nvPr/>
        </p:nvSpPr>
        <p:spPr>
          <a:xfrm>
            <a:off x="411480" y="1161288"/>
            <a:ext cx="5577840" cy="384048"/>
          </a:xfrm>
          <a:prstGeom prst="rect">
            <a:avLst/>
          </a:prstGeom>
          <a:noFill/>
          <a:ln/>
        </p:spPr>
        <p:txBody>
          <a:bodyPr wrap="square" lIns="0" tIns="0" rIns="0" bIns="0" rtlCol="0" anchor="ctr"/>
          <a:lstStyle/>
          <a:p>
            <a:pPr algn="ctr" indent="0" marL="0">
              <a:buNone/>
            </a:pPr>
            <a:r>
              <a:rPr lang="en-US" sz="1800" b="1" dirty="0">
                <a:solidFill>
                  <a:schemeClr val="accent1"/>
                </a:solidFill>
              </a:rPr>
              <a:t>Challenge 1: Low single-trial SNR</a:t>
            </a:r>
            <a:endParaRPr lang="en-US" sz="1800" dirty="0"/>
          </a:p>
        </p:txBody>
      </p:sp>
      <p:pic>
        <p:nvPicPr>
          <p:cNvPr id="4" name="Challenge 1 figure" descr="Measured single trials (grey) vs. class averages, all 28 subjects">    </p:cNvPr>
          <p:cNvPicPr>
            <a:picLocks noChangeAspect="1"/>
          </p:cNvPicPr>
          <p:nvPr/>
        </p:nvPicPr>
        <p:blipFill>
          <a:blip r:embed="rId1"/>
          <a:stretch>
            <a:fillRect/>
          </a:stretch>
        </p:blipFill>
        <p:spPr>
          <a:xfrm>
            <a:off x="411480" y="1600200"/>
            <a:ext cx="5577840" cy="3429000"/>
          </a:xfrm>
          <a:prstGeom prst="rect">
            <a:avLst/>
          </a:prstGeom>
        </p:spPr>
      </p:pic>
      <p:sp>
        <p:nvSpPr>
          <p:cNvPr id="5" name="Challenge 2 head"/>
          <p:cNvSpPr txBox="1"/>
          <p:nvPr/>
        </p:nvSpPr>
        <p:spPr>
          <a:xfrm>
            <a:off x="6217920" y="1161288"/>
            <a:ext cx="5577840" cy="384048"/>
          </a:xfrm>
          <a:prstGeom prst="rect">
            <a:avLst/>
          </a:prstGeom>
          <a:noFill/>
          <a:ln/>
        </p:spPr>
        <p:txBody>
          <a:bodyPr wrap="square" lIns="0" tIns="0" rIns="0" bIns="0" rtlCol="0" anchor="ctr"/>
          <a:lstStyle/>
          <a:p>
            <a:pPr algn="ctr" indent="0" marL="0">
              <a:buNone/>
            </a:pPr>
            <a:r>
              <a:rPr lang="en-US" sz="1800" b="1" dirty="0">
                <a:solidFill>
                  <a:schemeClr val="accent1"/>
                </a:solidFill>
              </a:rPr>
              <a:t>Challenge 2: High inter-subject variability</a:t>
            </a:r>
            <a:endParaRPr lang="en-US" sz="1800" dirty="0"/>
          </a:p>
        </p:txBody>
      </p:sp>
      <p:pic>
        <p:nvPicPr>
          <p:cNvPr id="6" name="Challenge 2 figure" descr="Measured class averages of four example subjects and per-subject statistics">    </p:cNvPr>
          <p:cNvPicPr>
            <a:picLocks noChangeAspect="1"/>
          </p:cNvPicPr>
          <p:nvPr/>
        </p:nvPicPr>
        <p:blipFill>
          <a:blip r:embed="rId2"/>
          <a:stretch>
            <a:fillRect/>
          </a:stretch>
        </p:blipFill>
        <p:spPr>
          <a:xfrm>
            <a:off x="6217920" y="1600200"/>
            <a:ext cx="5577840" cy="3429000"/>
          </a:xfrm>
          <a:prstGeom prst="rect">
            <a:avLst/>
          </a:prstGeom>
        </p:spPr>
      </p:pic>
      <p:sp>
        <p:nvSpPr>
          <p:cNvPr id="7" name="Challenge 1 text"/>
          <p:cNvSpPr txBox="1"/>
          <p:nvPr/>
        </p:nvSpPr>
        <p:spPr>
          <a:xfrm>
            <a:off x="548640" y="5120640"/>
            <a:ext cx="5303520" cy="777240"/>
          </a:xfrm>
          <a:prstGeom prst="rect">
            <a:avLst/>
          </a:prstGeom>
          <a:noFill/>
          <a:ln/>
        </p:spPr>
        <p:txBody>
          <a:bodyPr wrap="square" lIns="0" tIns="0" rIns="0" bIns="0" rtlCol="0" anchor="t"/>
          <a:lstStyle/>
          <a:p>
            <a:pPr indent="0" marL="0">
              <a:buNone/>
            </a:pPr>
            <a:r>
              <a:rPr lang="en-US" sz="1500" dirty="0">
                <a:solidFill>
                  <a:schemeClr val="tx1"/>
                </a:solidFill>
              </a:rPr>
              <a:t>Single trials fluctuate by about ±10 µV (SD 3.3 µV), while the class difference peaks at only ≈ 1 µV</a:t>
            </a:r>
            <a:endParaRPr lang="en-US" sz="1500" dirty="0"/>
          </a:p>
          <a:p>
            <a:pPr indent="0" marL="0">
              <a:buNone/>
            </a:pPr>
            <a:r>
              <a:rPr lang="en-US" sz="1500" b="1" dirty="0">
                <a:solidFill>
                  <a:schemeClr val="tx1"/>
                </a:solidFill>
              </a:rPr>
              <a:t>→ The task-related ERP is buried in background EEG</a:t>
            </a:r>
            <a:endParaRPr lang="en-US" sz="1500" dirty="0"/>
          </a:p>
        </p:txBody>
      </p:sp>
      <p:sp>
        <p:nvSpPr>
          <p:cNvPr id="8" name="Challenge 2 text"/>
          <p:cNvSpPr txBox="1"/>
          <p:nvPr/>
        </p:nvSpPr>
        <p:spPr>
          <a:xfrm>
            <a:off x="6355080" y="5120640"/>
            <a:ext cx="5303520" cy="777240"/>
          </a:xfrm>
          <a:prstGeom prst="rect">
            <a:avLst/>
          </a:prstGeom>
          <a:noFill/>
          <a:ln/>
        </p:spPr>
        <p:txBody>
          <a:bodyPr wrap="square" lIns="0" tIns="0" rIns="0" bIns="0" rtlCol="0" anchor="t"/>
          <a:lstStyle/>
          <a:p>
            <a:pPr indent="0" marL="0">
              <a:buNone/>
            </a:pPr>
            <a:r>
              <a:rPr lang="en-US" sz="1500" dirty="0">
                <a:solidFill>
                  <a:schemeClr val="tx1"/>
                </a:solidFill>
              </a:rPr>
              <a:t>Mirror-symmetry r: −0.65 to 0.86;  peak latency: 150–300 ms;  peak amplitude: 0.3–3.9 µV</a:t>
            </a:r>
            <a:endParaRPr lang="en-US" sz="1500" dirty="0"/>
          </a:p>
          <a:p>
            <a:pPr indent="0" marL="0">
              <a:buNone/>
            </a:pPr>
            <a:r>
              <a:rPr lang="en-US" sz="1500" b="1" dirty="0">
                <a:solidFill>
                  <a:schemeClr val="tx1"/>
                </a:solidFill>
              </a:rPr>
              <a:t>→ Waveform, timing and lateralization differ across subjects</a:t>
            </a:r>
            <a:endParaRPr lang="en-US" sz="1500" dirty="0"/>
          </a:p>
        </p:txBody>
      </p:sp>
      <p:sp>
        <p:nvSpPr>
          <p:cNvPr id="9" name="Reference"/>
          <p:cNvSpPr txBox="1"/>
          <p:nvPr/>
        </p:nvSpPr>
        <p:spPr>
          <a:xfrm>
            <a:off x="320040" y="5943600"/>
            <a:ext cx="10881360" cy="777240"/>
          </a:xfrm>
          <a:prstGeom prst="rect">
            <a:avLst/>
          </a:prstGeom>
          <a:noFill/>
          <a:ln/>
        </p:spPr>
        <p:txBody>
          <a:bodyPr wrap="square" lIns="0" tIns="0" rIns="0" bIns="0" rtlCol="0" anchor="b"/>
          <a:lstStyle/>
          <a:p>
            <a:pPr indent="0" marL="0">
              <a:buNone/>
            </a:pPr>
            <a:r>
              <a:rPr lang="en-US" sz="1100" dirty="0">
                <a:solidFill>
                  <a:schemeClr val="accent3"/>
                </a:solidFill>
              </a:rPr>
              <a:t>All waveforms are measured data (28 subjects; 1–30 Hz, common average reference). Signal: left − right hemisphere, mean of 9 mirror channel pairs. r: correlation of the class-0 pattern with the sign-flipped class-1 pattern (9 pairs × time; mirror rule gives r = 1). Peak latency: largest class difference within 80–300 ms.</a:t>
            </a:r>
            <a:endParaRPr lang="en-US" sz="1100" dirty="0"/>
          </a:p>
        </p:txBody>
      </p:sp>
      <p:sp>
        <p:nvSpPr>
          <p:cNvPr id="25" name="Slide Number Placeholder 0"/>
          <p:cNvSpPr>
            <a:spLocks noGrp="1"/>
          </p:cNvSpPr>
          <p:nvPr>
            <p:ph type="sldNum" sz="quarter" idx="4294967295"/>
          </p:nvPr>
        </p:nvSpPr>
        <p:spPr>
          <a:xfrm>
            <a:off x="11292840" y="6382512"/>
            <a:ext cx="59436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8001000" cy="749808"/>
          </a:xfrm>
          <a:prstGeom prst="rect">
            <a:avLst/>
          </a:prstGeom>
          <a:noFill/>
          <a:ln/>
        </p:spPr>
        <p:txBody>
          <a:bodyPr wrap="square" lIns="0" tIns="0" rIns="0" bIns="0" rtlCol="0" anchor="ctr"/>
          <a:lstStyle/>
          <a:p>
            <a:pPr algn="l" indent="0" marL="0">
              <a:buNone/>
            </a:pPr>
            <a:r>
              <a:rPr lang="en-US" sz="2800" b="1" dirty="0">
                <a:solidFill>
                  <a:schemeClr val="bg1"/>
                </a:solidFill>
              </a:rPr>
              <a:t>1 Research Background and Objectives</a:t>
            </a:r>
            <a:endParaRPr lang="en-US" sz="2800" dirty="0"/>
          </a:p>
        </p:txBody>
      </p:sp>
      <p:graphicFrame>
        <p:nvGraphicFramePr>
          <p:cNvPr id="6" name="Objectives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566160"/>
                <a:gridCol w="3840480"/>
                <a:gridCol w="3657600"/>
              </a:tblGrid>
              <a:tr h="548640">
                <a:tc>
                  <a:txBody>
                    <a:bodyPr/>
                    <a:lstStyle/>
                    <a:p>
                      <a:pPr algn="l" indent="0" marL="0">
                        <a:buNone/>
                      </a:pPr>
                      <a:endParaRPr lang="en-US" sz="1800" dirty="0">
                        <a:latin typeface="Times New Roman" charset="0"/>
                        <a:ea typeface="Times New Roman" charset="0"/>
                        <a:cs typeface="Times New Roman" charset="0"/>
                      </a:endParaRPr>
                    </a:p>
                  </a:txBody>
                  <a:tcPr marL="101600" marR="101600" marT="50800" marB="50800" anchor="ctr">
                    <a:lnL w="0" cap="flat" cmpd="sng" algn="ctr">
                      <a:noFill/>
                    </a:lnL>
                    <a:lnR w="0" cap="flat" cmpd="sng" algn="ct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en-US" sz="1800" b="1" dirty="0">
                          <a:solidFill>
                            <a:srgbClr val="000000"/>
                          </a:solidFill>
                          <a:latin typeface="Times New Roman" pitchFamily="34" charset="0"/>
                          <a:ea typeface="Times New Roman" pitchFamily="34" charset="-122"/>
                          <a:cs typeface="Times New Roman" pitchFamily="34" charset="-120"/>
                        </a:rPr>
                        <a:t>Current limitation</a:t>
                      </a:r>
                      <a:endParaRPr lang="en-US" sz="1800" dirty="0">
                        <a:latin typeface="Times New Roman" charset="0"/>
                        <a:ea typeface="Times New Roman" charset="0"/>
                        <a:cs typeface="Times New Roman" charset="0"/>
                      </a:endParaRPr>
                    </a:p>
                  </a:txBody>
                  <a:tcPr marL="101600" marR="101600" marT="50800" marB="50800" anchor="ctr">
                    <a:lnL w="0" cap="flat" cmpd="sng" algn="ctr">
                      <a:noFill/>
                    </a:lnL>
                    <a:lnR w="0" cap="flat" cmpd="sng" algn="ct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en-US" sz="1800" b="1" dirty="0">
                          <a:solidFill>
                            <a:srgbClr val="000000"/>
                          </a:solidFill>
                          <a:latin typeface="Times New Roman" pitchFamily="34" charset="0"/>
                          <a:ea typeface="Times New Roman" pitchFamily="34" charset="-122"/>
                          <a:cs typeface="Times New Roman" pitchFamily="34" charset="-120"/>
                        </a:rPr>
                        <a:t>Research focus</a:t>
                      </a:r>
                      <a:endParaRPr lang="en-US" sz="1800" dirty="0">
                        <a:latin typeface="Times New Roman" charset="0"/>
                        <a:ea typeface="Times New Roman" charset="0"/>
                        <a:cs typeface="Times New Roman" charset="0"/>
                      </a:endParaRPr>
                    </a:p>
                  </a:txBody>
                  <a:tcPr marL="101600" marR="101600" marT="50800" marB="50800" anchor="ctr">
                    <a:lnL w="0" cap="flat" cmpd="sng" algn="ctr">
                      <a:noFill/>
                    </a:lnL>
                    <a:lnR w="0" cap="flat" cmpd="sng" algn="ct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60120">
                <a:tc>
                  <a:txBody>
                    <a:bodyPr/>
                    <a:lstStyle/>
                    <a:p>
                      <a:pPr algn="l" indent="0" marL="0">
                        <a:buNone/>
                      </a:pPr>
                      <a:r>
                        <a:rPr lang="en-US" sz="1600" dirty="0">
                          <a:solidFill>
                            <a:srgbClr val="000000"/>
                          </a:solidFill>
                          <a:latin typeface="Times New Roman" pitchFamily="34" charset="0"/>
                          <a:ea typeface="Times New Roman" pitchFamily="34" charset="-122"/>
                          <a:cs typeface="Times New Roman" pitchFamily="34" charset="-120"/>
                        </a:rPr>
                        <a:t>① Chapter 1: Low single-trial SNR</a:t>
                      </a:r>
                      <a:endParaRPr lang="en-US" sz="1600" dirty="0">
                        <a:latin typeface="Times New Roman" charset="0"/>
                        <a:ea typeface="Times New Roman" charset="0"/>
                        <a:cs typeface="Times New Roman" charset="0"/>
                      </a:endParaRPr>
                    </a:p>
                  </a:txBody>
                  <a:tcPr marL="101600" marR="101600" marT="50800" marB="508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600" dirty="0">
                          <a:solidFill>
                            <a:srgbClr val="000000"/>
                          </a:solidFill>
                          <a:latin typeface="Times New Roman" pitchFamily="34" charset="0"/>
                          <a:ea typeface="Times New Roman" pitchFamily="34" charset="-122"/>
                          <a:cs typeface="Times New Roman" pitchFamily="34" charset="-120"/>
                        </a:rPr>
                        <a:t>Weak (≈ 1 µV), overlapping responses; single trials are unreliable</a:t>
                      </a:r>
                      <a:endParaRPr lang="en-US" sz="1600" dirty="0">
                        <a:latin typeface="Times New Roman" charset="0"/>
                        <a:ea typeface="Times New Roman" charset="0"/>
                        <a:cs typeface="Times New Roman" charset="0"/>
                      </a:endParaRPr>
                    </a:p>
                  </a:txBody>
                  <a:tcPr marL="101600" marR="101600" marT="50800" marB="508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600" dirty="0">
                          <a:solidFill>
                            <a:srgbClr val="000000"/>
                          </a:solidFill>
                          <a:latin typeface="Times New Roman" pitchFamily="34" charset="0"/>
                          <a:ea typeface="Times New Roman" pitchFamily="34" charset="-122"/>
                          <a:cs typeface="Times New Roman" pitchFamily="34" charset="-120"/>
                        </a:rPr>
                        <a:t>Distil the recoverable ERP from multi-trial averages (RED)</a:t>
                      </a:r>
                      <a:endParaRPr lang="en-US" sz="1600" dirty="0">
                        <a:latin typeface="Times New Roman" charset="0"/>
                        <a:ea typeface="Times New Roman" charset="0"/>
                        <a:cs typeface="Times New Roman" charset="0"/>
                      </a:endParaRPr>
                    </a:p>
                  </a:txBody>
                  <a:tcPr marL="101600" marR="101600" marT="50800" marB="50800" anchor="ctr">
                    <a:lnL w="0" cap="flat" cmpd="sng" algn="ctr">
                      <a:noFill/>
                    </a:lnL>
                    <a:lnR w="0" cap="flat" cmpd="sng" algn="ctr">
                      <a:noFill/>
                    </a:lnR>
                    <a:lnT w="0" cap="flat" cmpd="sng" algn="ctr">
                      <a:noFill/>
                    </a:lnT>
                    <a:lnB w="0" cap="flat" cmpd="sng" algn="ctr">
                      <a:noFill/>
                    </a:lnB>
                  </a:tcPr>
                </a:tc>
              </a:tr>
              <a:tr h="960120">
                <a:tc>
                  <a:txBody>
                    <a:bodyPr/>
                    <a:lstStyle/>
                    <a:p>
                      <a:pPr algn="l" indent="0" marL="0">
                        <a:buNone/>
                      </a:pPr>
                      <a:r>
                        <a:rPr lang="en-US" sz="1600" dirty="0">
                          <a:solidFill>
                            <a:srgbClr val="000000"/>
                          </a:solidFill>
                          <a:latin typeface="Times New Roman" pitchFamily="34" charset="0"/>
                          <a:ea typeface="Times New Roman" pitchFamily="34" charset="-122"/>
                          <a:cs typeface="Times New Roman" pitchFamily="34" charset="-120"/>
                        </a:rPr>
                        <a:t>② Chapter 2: Inter-subject variability</a:t>
                      </a:r>
                      <a:endParaRPr lang="en-US" sz="1600" dirty="0">
                        <a:latin typeface="Times New Roman" charset="0"/>
                        <a:ea typeface="Times New Roman" charset="0"/>
                        <a:cs typeface="Times New Roman" charset="0"/>
                      </a:endParaRPr>
                    </a:p>
                  </a:txBody>
                  <a:tcPr marL="101600" marR="101600" marT="50800" marB="508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600" dirty="0">
                          <a:solidFill>
                            <a:srgbClr val="000000"/>
                          </a:solidFill>
                          <a:latin typeface="Times New Roman" pitchFamily="34" charset="0"/>
                          <a:ea typeface="Times New Roman" pitchFamily="34" charset="-122"/>
                          <a:cs typeface="Times New Roman" pitchFamily="34" charset="-120"/>
                        </a:rPr>
                        <a:t>Symmetry and latency differ by subject; cross-subject accuracy drops</a:t>
                      </a:r>
                      <a:endParaRPr lang="en-US" sz="1600" dirty="0">
                        <a:latin typeface="Times New Roman" charset="0"/>
                        <a:ea typeface="Times New Roman" charset="0"/>
                        <a:cs typeface="Times New Roman" charset="0"/>
                      </a:endParaRPr>
                    </a:p>
                  </a:txBody>
                  <a:tcPr marL="101600" marR="101600" marT="50800" marB="508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600" dirty="0">
                          <a:solidFill>
                            <a:srgbClr val="000000"/>
                          </a:solidFill>
                          <a:latin typeface="Times New Roman" pitchFamily="34" charset="0"/>
                          <a:ea typeface="Times New Roman" pitchFamily="34" charset="-122"/>
                          <a:cs typeface="Times New Roman" pitchFamily="34" charset="-120"/>
                        </a:rPr>
                        <a:t>Physiology-routed mixture of experts (LR-MoE)</a:t>
                      </a:r>
                      <a:endParaRPr lang="en-US" sz="1600" dirty="0">
                        <a:latin typeface="Times New Roman" charset="0"/>
                        <a:ea typeface="Times New Roman" charset="0"/>
                        <a:cs typeface="Times New Roman" charset="0"/>
                      </a:endParaRPr>
                    </a:p>
                  </a:txBody>
                  <a:tcPr marL="101600" marR="101600" marT="50800" marB="50800" anchor="ctr">
                    <a:lnL w="0" cap="flat" cmpd="sng" algn="ctr">
                      <a:noFill/>
                    </a:lnL>
                    <a:lnR w="0" cap="flat" cmpd="sng" algn="ctr">
                      <a:noFill/>
                    </a:lnR>
                    <a:lnT w="0" cap="flat" cmpd="sng" algn="ctr">
                      <a:noFill/>
                    </a:lnT>
                    <a:lnB w="0" cap="flat" cmpd="sng" algn="ctr">
                      <a:noFill/>
                    </a:lnB>
                  </a:tcPr>
                </a:tc>
              </a:tr>
              <a:tr h="960120">
                <a:tc>
                  <a:txBody>
                    <a:bodyPr/>
                    <a:lstStyle/>
                    <a:p>
                      <a:pPr algn="l" indent="0" marL="0">
                        <a:buNone/>
                      </a:pPr>
                      <a:r>
                        <a:rPr lang="en-US" sz="1600" dirty="0">
                          <a:solidFill>
                            <a:srgbClr val="000000"/>
                          </a:solidFill>
                          <a:latin typeface="Times New Roman" pitchFamily="34" charset="0"/>
                          <a:ea typeface="Times New Roman" pitchFamily="34" charset="-122"/>
                          <a:cs typeface="Times New Roman" pitchFamily="34" charset="-120"/>
                        </a:rPr>
                        <a:t>③ Chapter 3: Offline-only validation</a:t>
                      </a:r>
                      <a:endParaRPr lang="en-US" sz="1600" dirty="0">
                        <a:latin typeface="Times New Roman" charset="0"/>
                        <a:ea typeface="Times New Roman" charset="0"/>
                        <a:cs typeface="Times New Roman" charset="0"/>
                      </a:endParaRPr>
                    </a:p>
                  </a:txBody>
                  <a:tcPr marL="101600" marR="101600" marT="50800" marB="508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algn="l" indent="0" marL="0">
                        <a:buNone/>
                      </a:pPr>
                      <a:r>
                        <a:rPr lang="en-US" sz="1600" dirty="0">
                          <a:solidFill>
                            <a:srgbClr val="000000"/>
                          </a:solidFill>
                          <a:latin typeface="Times New Roman" pitchFamily="34" charset="0"/>
                          <a:ea typeface="Times New Roman" pitchFamily="34" charset="-122"/>
                          <a:cs typeface="Times New Roman" pitchFamily="34" charset="-120"/>
                        </a:rPr>
                        <a:t>Decoders are evaluated offline only</a:t>
                      </a:r>
                      <a:endParaRPr lang="en-US" sz="1600" dirty="0">
                        <a:latin typeface="Times New Roman" charset="0"/>
                        <a:ea typeface="Times New Roman" charset="0"/>
                        <a:cs typeface="Times New Roman" charset="0"/>
                      </a:endParaRPr>
                    </a:p>
                  </a:txBody>
                  <a:tcPr marL="101600" marR="101600" marT="50800" marB="508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algn="l" indent="0" marL="0">
                        <a:buNone/>
                      </a:pPr>
                      <a:r>
                        <a:rPr lang="en-US" sz="1600" dirty="0">
                          <a:solidFill>
                            <a:srgbClr val="000000"/>
                          </a:solidFill>
                          <a:latin typeface="Times New Roman" pitchFamily="34" charset="0"/>
                          <a:ea typeface="Times New Roman" pitchFamily="34" charset="-122"/>
                          <a:cs typeface="Times New Roman" pitchFamily="34" charset="-120"/>
                        </a:rPr>
                        <a:t>Online EEG-based brain-controlled robotic arm</a:t>
                      </a:r>
                      <a:endParaRPr lang="en-US" sz="1600" dirty="0">
                        <a:latin typeface="Times New Roman" charset="0"/>
                        <a:ea typeface="Times New Roman" charset="0"/>
                        <a:cs typeface="Times New Roman" charset="0"/>
                      </a:endParaRPr>
                    </a:p>
                  </a:txBody>
                  <a:tcPr marL="101600" marR="101600" marT="50800" marB="508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4" name="Research line"/>
          <p:cNvSpPr txBox="1"/>
          <p:nvPr/>
        </p:nvSpPr>
        <p:spPr>
          <a:xfrm>
            <a:off x="548640" y="5532120"/>
            <a:ext cx="11064240" cy="411480"/>
          </a:xfrm>
          <a:prstGeom prst="rect">
            <a:avLst/>
          </a:prstGeom>
          <a:noFill/>
          <a:ln/>
        </p:spPr>
        <p:txBody>
          <a:bodyPr wrap="square" lIns="0" tIns="0" rIns="0" bIns="0" rtlCol="0" anchor="ctr"/>
          <a:lstStyle/>
          <a:p>
            <a:pPr algn="ctr" indent="0" marL="0">
              <a:buNone/>
            </a:pPr>
            <a:r>
              <a:rPr lang="en-US" sz="2000" b="1" dirty="0">
                <a:solidFill>
                  <a:schemeClr val="accent1"/>
                </a:solidFill>
              </a:rPr>
              <a:t>Single-trial decoding  →  Cross-subject generalization  →  Online application</a:t>
            </a:r>
            <a:endParaRPr lang="en-US" sz="2000" dirty="0"/>
          </a:p>
        </p:txBody>
      </p:sp>
      <p:sp>
        <p:nvSpPr>
          <p:cNvPr id="25" name="Slide Number Placeholder 0"/>
          <p:cNvSpPr>
            <a:spLocks noGrp="1"/>
          </p:cNvSpPr>
          <p:nvPr>
            <p:ph type="sldNum" sz="quarter" idx="4294967295"/>
          </p:nvPr>
        </p:nvSpPr>
        <p:spPr>
          <a:xfrm>
            <a:off x="11292840" y="6382512"/>
            <a:ext cx="59436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Outline list"/>
          <p:cNvSpPr txBox="1"/>
          <p:nvPr/>
        </p:nvSpPr>
        <p:spPr>
          <a:xfrm>
            <a:off x="4389120" y="1920240"/>
            <a:ext cx="7132320" cy="2926080"/>
          </a:xfrm>
          <a:prstGeom prst="rect">
            <a:avLst/>
          </a:prstGeom>
          <a:noFill/>
          <a:ln/>
        </p:spPr>
        <p:txBody>
          <a:bodyPr wrap="square" lIns="0" tIns="0" rIns="0" bIns="0" rtlCol="0" anchor="ctr"/>
          <a:lstStyle/>
          <a:p>
            <a:pPr marL="342900" indent="-342900">
              <a:spcAft>
                <a:spcPts val="1800"/>
              </a:spcAft>
              <a:buSzPct val="100000"/>
              <a:buChar char="•"/>
            </a:pPr>
            <a:r>
              <a:rPr lang="en-US" sz="2600" dirty="0">
                <a:solidFill>
                  <a:srgbClr val="000000"/>
                </a:solidFill>
              </a:rPr>
              <a:t>Research Background and Objectives</a:t>
            </a:r>
            <a:endParaRPr lang="en-US" sz="2600" dirty="0"/>
          </a:p>
          <a:p>
            <a:pPr marL="342900" indent="-342900">
              <a:spcAft>
                <a:spcPts val="1800"/>
              </a:spcAft>
              <a:buSzPct val="100000"/>
              <a:buChar char="•"/>
            </a:pPr>
            <a:r>
              <a:rPr lang="en-US" sz="2600" dirty="0">
                <a:solidFill>
                  <a:srgbClr val="A00000"/>
                </a:solidFill>
              </a:rPr>
              <a:t>Research Progress and Stage Achievements</a:t>
            </a:r>
            <a:endParaRPr lang="en-US" sz="2600" dirty="0"/>
          </a:p>
          <a:p>
            <a:pPr marL="342900" indent="-342900">
              <a:spcAft>
                <a:spcPts val="1800"/>
              </a:spcAft>
              <a:buSzPct val="100000"/>
              <a:buChar char="•"/>
            </a:pPr>
            <a:r>
              <a:rPr lang="en-US" sz="2600" dirty="0">
                <a:solidFill>
                  <a:srgbClr val="000000"/>
                </a:solidFill>
              </a:rPr>
              <a:t>Next-stage Research Plan</a:t>
            </a:r>
            <a:endParaRPr lang="en-US" sz="2600" dirty="0"/>
          </a:p>
          <a:p>
            <a:pPr marL="342900" indent="-342900">
              <a:spcAft>
                <a:spcPts val="1800"/>
              </a:spcAft>
              <a:buSzPct val="100000"/>
              <a:buChar char="•"/>
            </a:pPr>
            <a:r>
              <a:rPr lang="en-US" sz="2600" dirty="0">
                <a:solidFill>
                  <a:srgbClr val="000000"/>
                </a:solidFill>
              </a:rPr>
              <a:t>Project Schedule</a:t>
            </a:r>
            <a:endParaRPr lang="en-US" sz="2600" dirty="0"/>
          </a:p>
        </p:txBody>
      </p:sp>
      <p:sp>
        <p:nvSpPr>
          <p:cNvPr id="25" name="Slide Number Placeholder 0"/>
          <p:cNvSpPr>
            <a:spLocks noGrp="1"/>
          </p:cNvSpPr>
          <p:nvPr>
            <p:ph type="sldNum" sz="quarter" idx="4294967295"/>
          </p:nvPr>
        </p:nvSpPr>
        <p:spPr>
          <a:xfrm>
            <a:off x="11292840" y="6382512"/>
            <a:ext cx="59436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8001000" cy="749808"/>
          </a:xfrm>
          <a:prstGeom prst="rect">
            <a:avLst/>
          </a:prstGeom>
          <a:noFill/>
          <a:ln/>
        </p:spPr>
        <p:txBody>
          <a:bodyPr wrap="square" lIns="0" tIns="0" rIns="0" bIns="0" rtlCol="0" anchor="ctr"/>
          <a:lstStyle/>
          <a:p>
            <a:pPr algn="l" indent="0" marL="0">
              <a:buNone/>
            </a:pPr>
            <a:r>
              <a:rPr lang="en-US" sz="2800" b="1" dirty="0">
                <a:solidFill>
                  <a:schemeClr val="bg1"/>
                </a:solidFill>
              </a:rPr>
              <a:t>2 Research Progress and Stage Achievements</a:t>
            </a:r>
            <a:endParaRPr lang="en-US" sz="2800" dirty="0"/>
          </a:p>
        </p:txBody>
      </p:sp>
      <p:sp>
        <p:nvSpPr>
          <p:cNvPr id="3" name="Lead"/>
          <p:cNvSpPr txBox="1"/>
          <p:nvPr/>
        </p:nvSpPr>
        <p:spPr>
          <a:xfrm>
            <a:off x="548640" y="1234440"/>
            <a:ext cx="11064240" cy="365760"/>
          </a:xfrm>
          <a:prstGeom prst="rect">
            <a:avLst/>
          </a:prstGeom>
          <a:noFill/>
          <a:ln/>
        </p:spPr>
        <p:txBody>
          <a:bodyPr wrap="square" lIns="0" tIns="0" rIns="0" bIns="0" rtlCol="0" anchor="t"/>
          <a:lstStyle/>
          <a:p>
            <a:pPr indent="0" marL="0">
              <a:buNone/>
            </a:pPr>
            <a:r>
              <a:rPr lang="en-US" sz="1800" dirty="0">
                <a:solidFill>
                  <a:schemeClr val="tx1"/>
                </a:solidFill>
              </a:rPr>
              <a:t>Completed: a verified preprocessing pipeline, leakage-free evaluation and two baselines.</a:t>
            </a:r>
            <a:endParaRPr lang="en-US" sz="1800" dirty="0"/>
          </a:p>
        </p:txBody>
      </p:sp>
      <p:sp>
        <p:nvSpPr>
          <p:cNvPr id="4" name="Pipeline head"/>
          <p:cNvSpPr txBox="1"/>
          <p:nvPr/>
        </p:nvSpPr>
        <p:spPr>
          <a:xfrm>
            <a:off x="548640" y="1783080"/>
            <a:ext cx="3931920" cy="365760"/>
          </a:xfrm>
          <a:prstGeom prst="rect">
            <a:avLst/>
          </a:prstGeom>
          <a:noFill/>
          <a:ln/>
        </p:spPr>
        <p:txBody>
          <a:bodyPr wrap="square" lIns="0" tIns="0" rIns="0" bIns="0" rtlCol="0" anchor="t"/>
          <a:lstStyle/>
          <a:p>
            <a:pPr algn="ctr" indent="0" marL="0">
              <a:buNone/>
            </a:pPr>
            <a:r>
              <a:rPr lang="en-US" sz="1800" b="1" dirty="0">
                <a:solidFill>
                  <a:schemeClr val="tx1"/>
                </a:solidFill>
              </a:rPr>
              <a:t>Preprocessing pipeline</a:t>
            </a:r>
            <a:endParaRPr lang="en-US" sz="1800" dirty="0"/>
          </a:p>
        </p:txBody>
      </p:sp>
      <p:sp>
        <p:nvSpPr>
          <p:cNvPr id="5" name="Pipeline panel"/>
          <p:cNvSpPr/>
          <p:nvPr/>
        </p:nvSpPr>
        <p:spPr>
          <a:xfrm>
            <a:off x="548640" y="2194560"/>
            <a:ext cx="3931920" cy="3749040"/>
          </a:xfrm>
          <a:prstGeom prst="rect">
            <a:avLst/>
          </a:prstGeom>
          <a:solidFill>
            <a:srgbClr val="F2F2F2"/>
          </a:solidFill>
          <a:ln/>
        </p:spPr>
      </p:sp>
      <p:sp>
        <p:nvSpPr>
          <p:cNvPr id="6" name="Pipeline step 0"/>
          <p:cNvSpPr txBox="1"/>
          <p:nvPr/>
        </p:nvSpPr>
        <p:spPr>
          <a:xfrm>
            <a:off x="640080" y="2331720"/>
            <a:ext cx="3749040" cy="365760"/>
          </a:xfrm>
          <a:prstGeom prst="rect">
            <a:avLst/>
          </a:prstGeom>
          <a:noFill/>
          <a:ln/>
        </p:spPr>
        <p:txBody>
          <a:bodyPr wrap="square" lIns="0" tIns="0" rIns="0" bIns="0" rtlCol="0" anchor="ctr"/>
          <a:lstStyle/>
          <a:p>
            <a:pPr algn="ctr" indent="0" marL="0">
              <a:buNone/>
            </a:pPr>
            <a:r>
              <a:rPr lang="en-US" sz="1600" dirty="0">
                <a:solidFill>
                  <a:schemeClr val="tx1"/>
                </a:solidFill>
              </a:rPr>
              <a:t>Raw EEG: 21 channels, 200 Hz</a:t>
            </a:r>
            <a:endParaRPr lang="en-US" sz="1600" dirty="0"/>
          </a:p>
        </p:txBody>
      </p:sp>
      <p:sp>
        <p:nvSpPr>
          <p:cNvPr id="7" name="Pipeline arrow 0"/>
          <p:cNvSpPr/>
          <p:nvPr/>
        </p:nvSpPr>
        <p:spPr>
          <a:xfrm>
            <a:off x="2514600" y="2715768"/>
            <a:ext cx="0" cy="310896"/>
          </a:xfrm>
          <a:prstGeom prst="line">
            <a:avLst/>
          </a:prstGeom>
          <a:noFill/>
          <a:ln w="19050">
            <a:solidFill>
              <a:srgbClr val="000000"/>
            </a:solidFill>
            <a:prstDash val="solid"/>
            <a:tailEnd type="triangle"/>
          </a:ln>
        </p:spPr>
      </p:sp>
      <p:sp>
        <p:nvSpPr>
          <p:cNvPr id="8" name="Pipeline step 1"/>
          <p:cNvSpPr txBox="1"/>
          <p:nvPr/>
        </p:nvSpPr>
        <p:spPr>
          <a:xfrm>
            <a:off x="640080" y="3063240"/>
            <a:ext cx="3749040" cy="365760"/>
          </a:xfrm>
          <a:prstGeom prst="rect">
            <a:avLst/>
          </a:prstGeom>
          <a:noFill/>
          <a:ln/>
        </p:spPr>
        <p:txBody>
          <a:bodyPr wrap="square" lIns="0" tIns="0" rIns="0" bIns="0" rtlCol="0" anchor="ctr"/>
          <a:lstStyle/>
          <a:p>
            <a:pPr algn="ctr" indent="0" marL="0">
              <a:buNone/>
            </a:pPr>
            <a:r>
              <a:rPr lang="en-US" sz="1600" dirty="0">
                <a:solidFill>
                  <a:schemeClr val="tx1"/>
                </a:solidFill>
              </a:rPr>
              <a:t>Band-pass 1–30 Hz (zero-phase FIR)</a:t>
            </a:r>
            <a:endParaRPr lang="en-US" sz="1600" dirty="0"/>
          </a:p>
        </p:txBody>
      </p:sp>
      <p:sp>
        <p:nvSpPr>
          <p:cNvPr id="9" name="Pipeline arrow 1"/>
          <p:cNvSpPr/>
          <p:nvPr/>
        </p:nvSpPr>
        <p:spPr>
          <a:xfrm>
            <a:off x="2514600" y="3447288"/>
            <a:ext cx="0" cy="310896"/>
          </a:xfrm>
          <a:prstGeom prst="line">
            <a:avLst/>
          </a:prstGeom>
          <a:noFill/>
          <a:ln w="19050">
            <a:solidFill>
              <a:srgbClr val="000000"/>
            </a:solidFill>
            <a:prstDash val="solid"/>
            <a:tailEnd type="triangle"/>
          </a:ln>
        </p:spPr>
      </p:sp>
      <p:sp>
        <p:nvSpPr>
          <p:cNvPr id="10" name="Pipeline step 2"/>
          <p:cNvSpPr txBox="1"/>
          <p:nvPr/>
        </p:nvSpPr>
        <p:spPr>
          <a:xfrm>
            <a:off x="640080" y="3794760"/>
            <a:ext cx="3749040" cy="365760"/>
          </a:xfrm>
          <a:prstGeom prst="rect">
            <a:avLst/>
          </a:prstGeom>
          <a:noFill/>
          <a:ln/>
        </p:spPr>
        <p:txBody>
          <a:bodyPr wrap="square" lIns="0" tIns="0" rIns="0" bIns="0" rtlCol="0" anchor="ctr"/>
          <a:lstStyle/>
          <a:p>
            <a:pPr algn="ctr" indent="0" marL="0">
              <a:buNone/>
            </a:pPr>
            <a:r>
              <a:rPr lang="en-US" sz="1600" dirty="0">
                <a:solidFill>
                  <a:schemeClr val="tx1"/>
                </a:solidFill>
              </a:rPr>
              <a:t>Bad-channel interpolation + CAR</a:t>
            </a:r>
            <a:endParaRPr lang="en-US" sz="1600" dirty="0"/>
          </a:p>
        </p:txBody>
      </p:sp>
      <p:sp>
        <p:nvSpPr>
          <p:cNvPr id="11" name="Pipeline arrow 2"/>
          <p:cNvSpPr/>
          <p:nvPr/>
        </p:nvSpPr>
        <p:spPr>
          <a:xfrm>
            <a:off x="2514600" y="4178808"/>
            <a:ext cx="0" cy="310896"/>
          </a:xfrm>
          <a:prstGeom prst="line">
            <a:avLst/>
          </a:prstGeom>
          <a:noFill/>
          <a:ln w="19050">
            <a:solidFill>
              <a:srgbClr val="000000"/>
            </a:solidFill>
            <a:prstDash val="solid"/>
            <a:tailEnd type="triangle"/>
          </a:ln>
        </p:spPr>
      </p:sp>
      <p:sp>
        <p:nvSpPr>
          <p:cNvPr id="12" name="Pipeline step 3"/>
          <p:cNvSpPr txBox="1"/>
          <p:nvPr/>
        </p:nvSpPr>
        <p:spPr>
          <a:xfrm>
            <a:off x="640080" y="4526280"/>
            <a:ext cx="3749040" cy="365760"/>
          </a:xfrm>
          <a:prstGeom prst="rect">
            <a:avLst/>
          </a:prstGeom>
          <a:noFill/>
          <a:ln/>
        </p:spPr>
        <p:txBody>
          <a:bodyPr wrap="square" lIns="0" tIns="0" rIns="0" bIns="0" rtlCol="0" anchor="ctr"/>
          <a:lstStyle/>
          <a:p>
            <a:pPr algn="ctr" indent="0" marL="0">
              <a:buNone/>
            </a:pPr>
            <a:r>
              <a:rPr lang="en-US" sz="1600" dirty="0">
                <a:solidFill>
                  <a:schemeClr val="tx1"/>
                </a:solidFill>
              </a:rPr>
              <a:t>Epoch 0.05–0.34 s after pair onset</a:t>
            </a:r>
            <a:endParaRPr lang="en-US" sz="1600" dirty="0"/>
          </a:p>
        </p:txBody>
      </p:sp>
      <p:sp>
        <p:nvSpPr>
          <p:cNvPr id="13" name="Pipeline arrow 3"/>
          <p:cNvSpPr/>
          <p:nvPr/>
        </p:nvSpPr>
        <p:spPr>
          <a:xfrm>
            <a:off x="2514600" y="4910328"/>
            <a:ext cx="0" cy="310896"/>
          </a:xfrm>
          <a:prstGeom prst="line">
            <a:avLst/>
          </a:prstGeom>
          <a:noFill/>
          <a:ln w="19050">
            <a:solidFill>
              <a:srgbClr val="000000"/>
            </a:solidFill>
            <a:prstDash val="solid"/>
            <a:tailEnd type="triangle"/>
          </a:ln>
        </p:spPr>
      </p:sp>
      <p:sp>
        <p:nvSpPr>
          <p:cNvPr id="14" name="Pipeline step 4"/>
          <p:cNvSpPr txBox="1"/>
          <p:nvPr/>
        </p:nvSpPr>
        <p:spPr>
          <a:xfrm>
            <a:off x="640080" y="5257800"/>
            <a:ext cx="3749040" cy="365760"/>
          </a:xfrm>
          <a:prstGeom prst="rect">
            <a:avLst/>
          </a:prstGeom>
          <a:noFill/>
          <a:ln/>
        </p:spPr>
        <p:txBody>
          <a:bodyPr wrap="square" lIns="0" tIns="0" rIns="0" bIns="0" rtlCol="0" anchor="ctr"/>
          <a:lstStyle/>
          <a:p>
            <a:pPr algn="ctr" indent="0" marL="0">
              <a:buNone/>
            </a:pPr>
            <a:r>
              <a:rPr lang="en-US" sz="1600" dirty="0">
                <a:solidFill>
                  <a:schemeClr val="tx1"/>
                </a:solidFill>
              </a:rPr>
              <a:t>Session- / subject-wise splits (no leakage)</a:t>
            </a:r>
            <a:endParaRPr lang="en-US" sz="1600" dirty="0"/>
          </a:p>
        </p:txBody>
      </p:sp>
      <p:sp>
        <p:nvSpPr>
          <p:cNvPr id="15" name="Table caption"/>
          <p:cNvSpPr txBox="1"/>
          <p:nvPr/>
        </p:nvSpPr>
        <p:spPr>
          <a:xfrm>
            <a:off x="4937760" y="1783080"/>
            <a:ext cx="6720840" cy="594360"/>
          </a:xfrm>
          <a:prstGeom prst="rect">
            <a:avLst/>
          </a:prstGeom>
          <a:noFill/>
          <a:ln/>
        </p:spPr>
        <p:txBody>
          <a:bodyPr wrap="square" lIns="0" tIns="0" rIns="0" bIns="0" rtlCol="0" anchor="t"/>
          <a:lstStyle/>
          <a:p>
            <a:pPr indent="0" marL="0">
              <a:buNone/>
            </a:pPr>
            <a:r>
              <a:rPr lang="en-US" sz="1400" b="1" dirty="0">
                <a:solidFill>
                  <a:schemeClr val="tx1"/>
                </a:solidFill>
              </a:rPr>
              <a:t>Table 1. </a:t>
            </a:r>
            <a:pPr indent="0" marL="0">
              <a:buNone/>
            </a:pPr>
            <a:r>
              <a:rPr lang="en-US" sz="1400" dirty="0">
                <a:solidFill>
                  <a:schemeClr val="tx1"/>
                </a:solidFill>
              </a:rPr>
              <a:t>Single-trial accuracy (%), mean ± std over 28 subjects (chance 50%)</a:t>
            </a:r>
            <a:endParaRPr lang="en-US" sz="1400" dirty="0"/>
          </a:p>
        </p:txBody>
      </p:sp>
      <p:graphicFrame>
        <p:nvGraphicFramePr>
          <p:cNvPr id="8" name="Baseline table"/>
          <p:cNvGraphicFramePr>
            <a:graphicFrameLocks noGrp="1"/>
          </p:cNvGraphicFramePr>
          <p:nvPr>
            <p:extLst>
              <p:ext uri="{D42A27DB-BD31-4B8C-83A1-F6EECF244321}">
                <p14:modId xmlns:p14="http://schemas.microsoft.com/office/powerpoint/2010/main" val="1579011935"/>
              </p:ext>
            </p:extLst>
          </p:nvPr>
        </p:nvGraphicFramePr>
        <p:xfrm>
          <a:off x="4937760" y="2423160"/>
          <a:ext cx="6720840" cy="914400"/>
        </p:xfrm>
        <a:graphic>
          <a:graphicData uri="http://schemas.openxmlformats.org/drawingml/2006/table">
            <a:tbl>
              <a:tblPr/>
              <a:tblGrid>
                <a:gridCol w="1463040"/>
                <a:gridCol w="1874520"/>
                <a:gridCol w="1691640"/>
                <a:gridCol w="1691640"/>
              </a:tblGrid>
              <a:tr h="457200">
                <a:tc>
                  <a:txBody>
                    <a:bodyPr/>
                    <a:lstStyle/>
                    <a:p>
                      <a:pPr algn="l" indent="0" marL="0">
                        <a:buNone/>
                      </a:pPr>
                      <a:r>
                        <a:rPr lang="en-US" sz="1600" b="1" dirty="0">
                          <a:solidFill>
                            <a:srgbClr val="000000"/>
                          </a:solidFill>
                          <a:latin typeface="Times New Roman" pitchFamily="34" charset="0"/>
                          <a:ea typeface="Times New Roman" pitchFamily="34" charset="-122"/>
                          <a:cs typeface="Times New Roman" pitchFamily="34" charset="-120"/>
                        </a:rPr>
                        <a:t>Method</a:t>
                      </a:r>
                      <a:endParaRPr lang="en-US" sz="1600" dirty="0">
                        <a:latin typeface="Times New Roman" charset="0"/>
                        <a:ea typeface="Times New Roman" charset="0"/>
                        <a:cs typeface="Times New Roman" charset="0"/>
                      </a:endParaRPr>
                    </a:p>
                  </a:txBody>
                  <a:tcPr marL="76200" marR="76200" marT="50800" marB="50800" anchor="ctr">
                    <a:lnL w="0" cap="flat" cmpd="sng" algn="ctr">
                      <a:noFill/>
                    </a:lnL>
                    <a:lnR w="0" cap="flat" cmpd="sng" algn="ct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600" b="1" dirty="0">
                          <a:solidFill>
                            <a:srgbClr val="000000"/>
                          </a:solidFill>
                          <a:latin typeface="Times New Roman" pitchFamily="34" charset="0"/>
                          <a:ea typeface="Times New Roman" pitchFamily="34" charset="-122"/>
                          <a:cs typeface="Times New Roman" pitchFamily="34" charset="-120"/>
                        </a:rPr>
                        <a:t>Within-subject</a:t>
                      </a:r>
                      <a:endParaRPr lang="en-US" sz="1600" dirty="0">
                        <a:latin typeface="Times New Roman" charset="0"/>
                        <a:ea typeface="Times New Roman" charset="0"/>
                        <a:cs typeface="Times New Roman" charset="0"/>
                      </a:endParaRPr>
                    </a:p>
                  </a:txBody>
                  <a:tcPr marL="76200" marR="76200" marT="50800" marB="50800" anchor="ctr">
                    <a:lnL w="0" cap="flat" cmpd="sng" algn="ctr">
                      <a:noFill/>
                    </a:lnL>
                    <a:lnR w="0" cap="flat" cmpd="sng" algn="ct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600" b="1" dirty="0">
                          <a:solidFill>
                            <a:srgbClr val="000000"/>
                          </a:solidFill>
                          <a:latin typeface="Times New Roman" pitchFamily="34" charset="0"/>
                          <a:ea typeface="Times New Roman" pitchFamily="34" charset="-122"/>
                          <a:cs typeface="Times New Roman" pitchFamily="34" charset="-120"/>
                        </a:rPr>
                        <a:t>Pooled</a:t>
                      </a:r>
                      <a:endParaRPr lang="en-US" sz="1600" dirty="0">
                        <a:latin typeface="Times New Roman" charset="0"/>
                        <a:ea typeface="Times New Roman" charset="0"/>
                        <a:cs typeface="Times New Roman" charset="0"/>
                      </a:endParaRPr>
                    </a:p>
                  </a:txBody>
                  <a:tcPr marL="76200" marR="76200" marT="50800" marB="50800" anchor="ctr">
                    <a:lnL w="0" cap="flat" cmpd="sng" algn="ctr">
                      <a:noFill/>
                    </a:lnL>
                    <a:lnR w="0" cap="flat" cmpd="sng" algn="ct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en-US" sz="1600" b="1" dirty="0">
                          <a:solidFill>
                            <a:srgbClr val="000000"/>
                          </a:solidFill>
                          <a:latin typeface="Times New Roman" pitchFamily="34" charset="0"/>
                          <a:ea typeface="Times New Roman" pitchFamily="34" charset="-122"/>
                          <a:cs typeface="Times New Roman" pitchFamily="34" charset="-120"/>
                        </a:rPr>
                        <a:t>LOSO</a:t>
                      </a:r>
                      <a:endParaRPr lang="en-US" sz="1600" dirty="0">
                        <a:latin typeface="Times New Roman" charset="0"/>
                        <a:ea typeface="Times New Roman" charset="0"/>
                        <a:cs typeface="Times New Roman" charset="0"/>
                      </a:endParaRPr>
                    </a:p>
                  </a:txBody>
                  <a:tcPr marL="76200" marR="76200" marT="50800" marB="50800" anchor="ctr">
                    <a:lnL w="0" cap="flat" cmpd="sng" algn="ctr">
                      <a:noFill/>
                    </a:lnL>
                    <a:lnR w="0" cap="flat" cmpd="sng" algn="ct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200">
                <a:tc>
                  <a:txBody>
                    <a:bodyPr/>
                    <a:lstStyle/>
                    <a:p>
                      <a:pPr algn="l" indent="0" marL="0">
                        <a:buNone/>
                      </a:pPr>
                      <a:r>
                        <a:rPr lang="en-US" sz="1600" dirty="0">
                          <a:solidFill>
                            <a:srgbClr val="000000"/>
                          </a:solidFill>
                          <a:latin typeface="Times New Roman" pitchFamily="34" charset="0"/>
                          <a:ea typeface="Times New Roman" pitchFamily="34" charset="-122"/>
                          <a:cs typeface="Times New Roman" pitchFamily="34" charset="-120"/>
                        </a:rPr>
                        <a:t>DCPM [1]</a:t>
                      </a:r>
                      <a:endParaRPr lang="en-US" sz="1600" dirty="0">
                        <a:latin typeface="Times New Roman" charset="0"/>
                        <a:ea typeface="Times New Roman" charset="0"/>
                        <a:cs typeface="Times New Roman"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000000"/>
                          </a:solidFill>
                          <a:latin typeface="Times New Roman" pitchFamily="34" charset="0"/>
                          <a:ea typeface="Times New Roman" pitchFamily="34" charset="-122"/>
                          <a:cs typeface="Times New Roman" pitchFamily="34" charset="-120"/>
                        </a:rPr>
                        <a:t>72.57 ± 9.34</a:t>
                      </a:r>
                      <a:endParaRPr lang="en-US" sz="1600" dirty="0">
                        <a:latin typeface="Times New Roman" charset="0"/>
                        <a:ea typeface="Times New Roman" charset="0"/>
                        <a:cs typeface="Times New Roman"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000000"/>
                          </a:solidFill>
                          <a:latin typeface="Times New Roman" pitchFamily="34" charset="0"/>
                          <a:ea typeface="Times New Roman" pitchFamily="34" charset="-122"/>
                          <a:cs typeface="Times New Roman" pitchFamily="34" charset="-120"/>
                        </a:rPr>
                        <a:t>63.21 ± 6.76</a:t>
                      </a:r>
                      <a:endParaRPr lang="en-US" sz="1600" dirty="0">
                        <a:latin typeface="Times New Roman" charset="0"/>
                        <a:ea typeface="Times New Roman" charset="0"/>
                        <a:cs typeface="Times New Roman"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000000"/>
                          </a:solidFill>
                          <a:latin typeface="Times New Roman" pitchFamily="34" charset="0"/>
                          <a:ea typeface="Times New Roman" pitchFamily="34" charset="-122"/>
                          <a:cs typeface="Times New Roman" pitchFamily="34" charset="-120"/>
                        </a:rPr>
                        <a:t>60.34 ± 7.31</a:t>
                      </a:r>
                      <a:endParaRPr lang="en-US" sz="1600" dirty="0">
                        <a:latin typeface="Times New Roman" charset="0"/>
                        <a:ea typeface="Times New Roman" charset="0"/>
                        <a:cs typeface="Times New Roman"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r>
              <a:tr h="457200">
                <a:tc>
                  <a:txBody>
                    <a:bodyPr/>
                    <a:lstStyle/>
                    <a:p>
                      <a:pPr algn="l" indent="0" marL="0">
                        <a:buNone/>
                      </a:pPr>
                      <a:r>
                        <a:rPr lang="en-US" sz="1600" dirty="0">
                          <a:solidFill>
                            <a:srgbClr val="000000"/>
                          </a:solidFill>
                          <a:latin typeface="Times New Roman" pitchFamily="34" charset="0"/>
                          <a:ea typeface="Times New Roman" pitchFamily="34" charset="-122"/>
                          <a:cs typeface="Times New Roman" pitchFamily="34" charset="-120"/>
                        </a:rPr>
                        <a:t>EEGNet [2]</a:t>
                      </a:r>
                      <a:endParaRPr lang="en-US" sz="1600" dirty="0">
                        <a:latin typeface="Times New Roman" charset="0"/>
                        <a:ea typeface="Times New Roman" charset="0"/>
                        <a:cs typeface="Times New Roman" charset="0"/>
                      </a:endParaRPr>
                    </a:p>
                  </a:txBody>
                  <a:tcPr marL="76200" marR="76200" marT="50800" marB="508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algn="ctr" indent="0" marL="0">
                        <a:buNone/>
                      </a:pPr>
                      <a:r>
                        <a:rPr lang="en-US" sz="1600" b="1" dirty="0">
                          <a:solidFill>
                            <a:srgbClr val="A00000"/>
                          </a:solidFill>
                          <a:latin typeface="Times New Roman" pitchFamily="34" charset="0"/>
                          <a:ea typeface="Times New Roman" pitchFamily="34" charset="-122"/>
                          <a:cs typeface="Times New Roman" pitchFamily="34" charset="-120"/>
                        </a:rPr>
                        <a:t>74.40 ± 8.46</a:t>
                      </a:r>
                      <a:endParaRPr lang="en-US" sz="1600" dirty="0">
                        <a:latin typeface="Times New Roman" charset="0"/>
                        <a:ea typeface="Times New Roman" charset="0"/>
                        <a:cs typeface="Times New Roman" charset="0"/>
                      </a:endParaRPr>
                    </a:p>
                  </a:txBody>
                  <a:tcPr marL="76200" marR="76200" marT="50800" marB="508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algn="ctr" indent="0" marL="0">
                        <a:buNone/>
                      </a:pPr>
                      <a:r>
                        <a:rPr lang="en-US" sz="1600" b="1" dirty="0">
                          <a:solidFill>
                            <a:srgbClr val="A00000"/>
                          </a:solidFill>
                          <a:latin typeface="Times New Roman" pitchFamily="34" charset="0"/>
                          <a:ea typeface="Times New Roman" pitchFamily="34" charset="-122"/>
                          <a:cs typeface="Times New Roman" pitchFamily="34" charset="-120"/>
                        </a:rPr>
                        <a:t>66.73 ± 8.59</a:t>
                      </a:r>
                      <a:endParaRPr lang="en-US" sz="1600" dirty="0">
                        <a:latin typeface="Times New Roman" charset="0"/>
                        <a:ea typeface="Times New Roman" charset="0"/>
                        <a:cs typeface="Times New Roman" charset="0"/>
                      </a:endParaRPr>
                    </a:p>
                  </a:txBody>
                  <a:tcPr marL="76200" marR="76200" marT="50800" marB="508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algn="ctr" indent="0" marL="0">
                        <a:buNone/>
                      </a:pPr>
                      <a:r>
                        <a:rPr lang="en-US" sz="1600" b="1" dirty="0">
                          <a:solidFill>
                            <a:srgbClr val="A00000"/>
                          </a:solidFill>
                          <a:latin typeface="Times New Roman" pitchFamily="34" charset="0"/>
                          <a:ea typeface="Times New Roman" pitchFamily="34" charset="-122"/>
                          <a:cs typeface="Times New Roman" pitchFamily="34" charset="-120"/>
                        </a:rPr>
                        <a:t>62.26 ± 7.88</a:t>
                      </a:r>
                      <a:endParaRPr lang="en-US" sz="1600" dirty="0">
                        <a:latin typeface="Times New Roman" charset="0"/>
                        <a:ea typeface="Times New Roman" charset="0"/>
                        <a:cs typeface="Times New Roman" charset="0"/>
                      </a:endParaRPr>
                    </a:p>
                  </a:txBody>
                  <a:tcPr marL="76200" marR="76200" marT="50800" marB="508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17" name="Protocols"/>
          <p:cNvSpPr txBox="1"/>
          <p:nvPr/>
        </p:nvSpPr>
        <p:spPr>
          <a:xfrm>
            <a:off x="4937760" y="3977640"/>
            <a:ext cx="6720840" cy="100584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Within-subject: </a:t>
            </a:r>
            <a:pPr indent="0" marL="0">
              <a:spcAft>
                <a:spcPts val="400"/>
              </a:spcAft>
              <a:buNone/>
            </a:pPr>
            <a:r>
              <a:rPr lang="en-US" sz="1600" dirty="0">
                <a:solidFill>
                  <a:schemeClr val="tx1"/>
                </a:solidFill>
              </a:rPr>
              <a:t>leave-one-session-out, per subject</a:t>
            </a:r>
            <a:endParaRPr lang="en-US" sz="1600" dirty="0"/>
          </a:p>
          <a:p>
            <a:pPr indent="0" marL="0">
              <a:spcAft>
                <a:spcPts val="400"/>
              </a:spcAft>
              <a:buNone/>
            </a:pPr>
            <a:r>
              <a:rPr lang="en-US" sz="1600" b="1" dirty="0">
                <a:solidFill>
                  <a:schemeClr val="tx1"/>
                </a:solidFill>
              </a:rPr>
              <a:t>Pooled: </a:t>
            </a:r>
            <a:pPr indent="0" marL="0">
              <a:spcAft>
                <a:spcPts val="400"/>
              </a:spcAft>
              <a:buNone/>
            </a:pPr>
            <a:r>
              <a:rPr lang="en-US" sz="1600" dirty="0">
                <a:solidFill>
                  <a:schemeClr val="tx1"/>
                </a:solidFill>
              </a:rPr>
              <a:t>all subjects, leave-one-session-out</a:t>
            </a:r>
            <a:endParaRPr lang="en-US" sz="1600" dirty="0"/>
          </a:p>
          <a:p>
            <a:pPr indent="0" marL="0">
              <a:spcAft>
                <a:spcPts val="400"/>
              </a:spcAft>
              <a:buNone/>
            </a:pPr>
            <a:r>
              <a:rPr lang="en-US" sz="1600" b="1" dirty="0">
                <a:solidFill>
                  <a:schemeClr val="tx1"/>
                </a:solidFill>
              </a:rPr>
              <a:t>LOSO: </a:t>
            </a:r>
            <a:pPr indent="0" marL="0">
              <a:spcAft>
                <a:spcPts val="400"/>
              </a:spcAft>
              <a:buNone/>
            </a:pPr>
            <a:r>
              <a:rPr lang="en-US" sz="1600" dirty="0">
                <a:solidFill>
                  <a:schemeClr val="tx1"/>
                </a:solidFill>
              </a:rPr>
              <a:t>leave-one-subject-out (cross-subject)</a:t>
            </a:r>
            <a:endParaRPr lang="en-US" sz="1600" dirty="0"/>
          </a:p>
        </p:txBody>
      </p:sp>
      <p:sp>
        <p:nvSpPr>
          <p:cNvPr id="18" name="Finding"/>
          <p:cNvSpPr txBox="1"/>
          <p:nvPr/>
        </p:nvSpPr>
        <p:spPr>
          <a:xfrm>
            <a:off x="4937760" y="5166360"/>
            <a:ext cx="6720840" cy="731520"/>
          </a:xfrm>
          <a:prstGeom prst="rect">
            <a:avLst/>
          </a:prstGeom>
          <a:noFill/>
          <a:ln/>
        </p:spPr>
        <p:txBody>
          <a:bodyPr wrap="square" lIns="0" tIns="0" rIns="0" bIns="0" rtlCol="0" anchor="t"/>
          <a:lstStyle/>
          <a:p>
            <a:pPr indent="0" marL="0">
              <a:buNone/>
            </a:pPr>
            <a:r>
              <a:rPr lang="en-US" sz="1800" dirty="0">
                <a:solidFill>
                  <a:schemeClr val="accent1"/>
                </a:solidFill>
              </a:rPr>
              <a:t>Finding: accuracy drops by ≈ 12 points from within-subject to cross-subject, which motivates Chapters 1 and 2.</a:t>
            </a:r>
            <a:endParaRPr lang="en-US" sz="1800" dirty="0"/>
          </a:p>
        </p:txBody>
      </p:sp>
      <p:sp>
        <p:nvSpPr>
          <p:cNvPr id="19" name="Reference"/>
          <p:cNvSpPr txBox="1"/>
          <p:nvPr/>
        </p:nvSpPr>
        <p:spPr>
          <a:xfrm>
            <a:off x="320040" y="6355080"/>
            <a:ext cx="10607040" cy="365760"/>
          </a:xfrm>
          <a:prstGeom prst="rect">
            <a:avLst/>
          </a:prstGeom>
          <a:noFill/>
          <a:ln/>
        </p:spPr>
        <p:txBody>
          <a:bodyPr wrap="square" lIns="0" tIns="0" rIns="0" bIns="0" rtlCol="0" anchor="b"/>
          <a:lstStyle/>
          <a:p>
            <a:pPr indent="0" marL="0">
              <a:buNone/>
            </a:pPr>
            <a:r>
              <a:rPr lang="en-US" sz="1200" dirty="0">
                <a:solidFill>
                  <a:schemeClr val="accent3"/>
                </a:solidFill>
              </a:rPr>
              <a:t>[1] Xu et al., IEEE TBME, 2018.   [2] V. J. Lawhern et al. EEGNet: a compact convolutional neural network for EEG-based brain–computer interfaces. J. Neural Eng., 2018.</a:t>
            </a:r>
            <a:endParaRPr lang="en-US" sz="1200" dirty="0"/>
          </a:p>
        </p:txBody>
      </p:sp>
      <p:sp>
        <p:nvSpPr>
          <p:cNvPr id="25" name="Slide Number Placeholder 0"/>
          <p:cNvSpPr>
            <a:spLocks noGrp="1"/>
          </p:cNvSpPr>
          <p:nvPr>
            <p:ph type="sldNum" sz="quarter" idx="4294967295"/>
          </p:nvPr>
        </p:nvSpPr>
        <p:spPr>
          <a:xfrm>
            <a:off x="11292840" y="6382512"/>
            <a:ext cx="59436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8001000" cy="749808"/>
          </a:xfrm>
          <a:prstGeom prst="rect">
            <a:avLst/>
          </a:prstGeom>
          <a:noFill/>
          <a:ln/>
        </p:spPr>
        <p:txBody>
          <a:bodyPr wrap="square" lIns="0" tIns="0" rIns="0" bIns="0" rtlCol="0" anchor="ctr"/>
          <a:lstStyle/>
          <a:p>
            <a:pPr algn="l" indent="0" marL="0">
              <a:buNone/>
            </a:pPr>
            <a:r>
              <a:rPr lang="en-US" sz="2800" b="1" dirty="0">
                <a:solidFill>
                  <a:schemeClr val="bg1"/>
                </a:solidFill>
              </a:rPr>
              <a:t>2 Research Progress and Stage Achievements</a:t>
            </a:r>
            <a:endParaRPr lang="en-US" sz="2800" dirty="0"/>
          </a:p>
        </p:txBody>
      </p:sp>
      <p:sp>
        <p:nvSpPr>
          <p:cNvPr id="3" name="Lead"/>
          <p:cNvSpPr txBox="1"/>
          <p:nvPr/>
        </p:nvSpPr>
        <p:spPr>
          <a:xfrm>
            <a:off x="548640" y="1161288"/>
            <a:ext cx="11338560" cy="365760"/>
          </a:xfrm>
          <a:prstGeom prst="rect">
            <a:avLst/>
          </a:prstGeom>
          <a:noFill/>
          <a:ln/>
        </p:spPr>
        <p:txBody>
          <a:bodyPr wrap="square" lIns="0" tIns="0" rIns="0" bIns="0" rtlCol="0" anchor="ctr"/>
          <a:lstStyle/>
          <a:p>
            <a:pPr indent="0" marL="0">
              <a:buNone/>
            </a:pPr>
            <a:r>
              <a:rPr lang="en-US" sz="1700" dirty="0">
                <a:solidFill>
                  <a:schemeClr val="tx1"/>
                </a:solidFill>
              </a:rPr>
              <a:t>Chapter 1 · RED: learn from multi-trial averages during training; a plain EEGNet at inference</a:t>
            </a:r>
            <a:endParaRPr lang="en-US" sz="1700" dirty="0"/>
          </a:p>
        </p:txBody>
      </p:sp>
      <p:sp>
        <p:nvSpPr>
          <p:cNvPr id="4" name="Stage 1"/>
          <p:cNvSpPr/>
          <p:nvPr/>
        </p:nvSpPr>
        <p:spPr>
          <a:xfrm>
            <a:off x="411480" y="1572768"/>
            <a:ext cx="8092440" cy="1298448"/>
          </a:xfrm>
          <a:prstGeom prst="rect">
            <a:avLst/>
          </a:prstGeom>
          <a:solidFill>
            <a:srgbClr val="F2F2F2"/>
          </a:solidFill>
          <a:ln/>
        </p:spPr>
      </p:sp>
      <p:sp>
        <p:nvSpPr>
          <p:cNvPr id="5" name="Stage 1 label"/>
          <p:cNvSpPr txBox="1"/>
          <p:nvPr/>
        </p:nvSpPr>
        <p:spPr>
          <a:xfrm>
            <a:off x="521208" y="1618488"/>
            <a:ext cx="7872984" cy="274320"/>
          </a:xfrm>
          <a:prstGeom prst="rect">
            <a:avLst/>
          </a:prstGeom>
          <a:noFill/>
          <a:ln/>
        </p:spPr>
        <p:txBody>
          <a:bodyPr wrap="square" lIns="0" tIns="0" rIns="0" bIns="0" rtlCol="0" anchor="ctr"/>
          <a:lstStyle/>
          <a:p>
            <a:pPr indent="0" marL="0">
              <a:buNone/>
            </a:pPr>
            <a:r>
              <a:rPr lang="en-US" sz="1300" b="1" dirty="0">
                <a:solidFill>
                  <a:schemeClr val="tx1"/>
                </a:solidFill>
              </a:rPr>
              <a:t>Stage 1 · Averaged-input teacher (training only)</a:t>
            </a:r>
            <a:endParaRPr lang="en-US" sz="1300" dirty="0"/>
          </a:p>
        </p:txBody>
      </p:sp>
      <p:pic>
        <p:nvPicPr>
          <p:cNvPr id="6" name="Group traces" descr="Several noisy single trials of one averaging group">    </p:cNvPr>
          <p:cNvPicPr>
            <a:picLocks noChangeAspect="1"/>
          </p:cNvPicPr>
          <p:nvPr/>
        </p:nvPicPr>
        <p:blipFill>
          <a:blip r:embed="rId1"/>
          <a:stretch>
            <a:fillRect/>
          </a:stretch>
        </p:blipFill>
        <p:spPr>
          <a:xfrm>
            <a:off x="827116" y="1901952"/>
            <a:ext cx="997527" cy="548640"/>
          </a:xfrm>
          <a:prstGeom prst="rect">
            <a:avLst/>
          </a:prstGeom>
        </p:spPr>
      </p:pic>
      <p:pic>
        <p:nvPicPr>
          <p:cNvPr id="7" name="Average trace" descr="Clean average over noisy trials">    </p:cNvPr>
          <p:cNvPicPr>
            <a:picLocks noChangeAspect="1"/>
          </p:cNvPicPr>
          <p:nvPr/>
        </p:nvPicPr>
        <p:blipFill>
          <a:blip r:embed="rId2"/>
          <a:stretch>
            <a:fillRect/>
          </a:stretch>
        </p:blipFill>
        <p:spPr>
          <a:xfrm>
            <a:off x="2884516" y="1901952"/>
            <a:ext cx="997527" cy="548640"/>
          </a:xfrm>
          <a:prstGeom prst="rect">
            <a:avLst/>
          </a:prstGeom>
        </p:spPr>
      </p:pic>
      <p:pic>
        <p:nvPicPr>
          <p:cNvPr id="8" name="Teacher net" descr="Teacher EEGNet">    </p:cNvPr>
          <p:cNvPicPr>
            <a:picLocks noChangeAspect="1"/>
          </p:cNvPicPr>
          <p:nvPr/>
        </p:nvPicPr>
        <p:blipFill>
          <a:blip r:embed="rId3"/>
          <a:stretch>
            <a:fillRect/>
          </a:stretch>
        </p:blipFill>
        <p:spPr>
          <a:xfrm>
            <a:off x="4817225" y="1901952"/>
            <a:ext cx="1246909" cy="548640"/>
          </a:xfrm>
          <a:prstGeom prst="rect">
            <a:avLst/>
          </a:prstGeom>
        </p:spPr>
      </p:pic>
      <p:pic>
        <p:nvPicPr>
          <p:cNvPr id="9" name="Frozen teacher net" descr="Frozen teacher EEGNet">    </p:cNvPr>
          <p:cNvPicPr>
            <a:picLocks noChangeAspect="1"/>
          </p:cNvPicPr>
          <p:nvPr/>
        </p:nvPicPr>
        <p:blipFill>
          <a:blip r:embed="rId4"/>
          <a:stretch>
            <a:fillRect/>
          </a:stretch>
        </p:blipFill>
        <p:spPr>
          <a:xfrm>
            <a:off x="6874625" y="1901952"/>
            <a:ext cx="1246909" cy="548640"/>
          </a:xfrm>
          <a:prstGeom prst="rect">
            <a:avLst/>
          </a:prstGeom>
        </p:spPr>
      </p:pic>
      <p:sp>
        <p:nvSpPr>
          <p:cNvPr id="10" name="Group cap"/>
          <p:cNvSpPr txBox="1"/>
          <p:nvPr/>
        </p:nvSpPr>
        <p:spPr>
          <a:xfrm>
            <a:off x="365760" y="2468880"/>
            <a:ext cx="1920240" cy="384048"/>
          </a:xfrm>
          <a:prstGeom prst="rect">
            <a:avLst/>
          </a:prstGeom>
          <a:noFill/>
          <a:ln/>
        </p:spPr>
        <p:txBody>
          <a:bodyPr wrap="square" lIns="0" tIns="0" rIns="0" bIns="0" rtlCol="0" anchor="t"/>
          <a:lstStyle/>
          <a:p>
            <a:pPr algn="ctr" indent="0" marL="0">
              <a:buNone/>
            </a:pPr>
            <a:r>
              <a:rPr lang="en-US" sz="1200" b="1" dirty="0">
                <a:solidFill>
                  <a:srgbClr val="000000"/>
                </a:solidFill>
              </a:rPr>
              <a:t>Averaging group</a:t>
            </a:r>
            <a:endParaRPr lang="en-US" sz="1200" dirty="0"/>
          </a:p>
          <a:p>
            <a:pPr algn="ctr" indent="0" marL="0">
              <a:buNone/>
            </a:pPr>
            <a:r>
              <a:rPr lang="en-US" sz="1050" dirty="0">
                <a:solidFill>
                  <a:srgbClr val="262626"/>
                </a:solidFill>
              </a:rPr>
              <a:t>same subject, session, char., bit</a:t>
            </a:r>
            <a:endParaRPr lang="en-US" sz="1200" dirty="0"/>
          </a:p>
        </p:txBody>
      </p:sp>
      <p:sp>
        <p:nvSpPr>
          <p:cNvPr id="11" name="Average cap"/>
          <p:cNvSpPr txBox="1"/>
          <p:nvPr/>
        </p:nvSpPr>
        <p:spPr>
          <a:xfrm>
            <a:off x="2468880" y="2468880"/>
            <a:ext cx="1828800" cy="384048"/>
          </a:xfrm>
          <a:prstGeom prst="rect">
            <a:avLst/>
          </a:prstGeom>
          <a:noFill/>
          <a:ln/>
        </p:spPr>
        <p:txBody>
          <a:bodyPr wrap="square" lIns="0" tIns="0" rIns="0" bIns="0" rtlCol="0" anchor="t"/>
          <a:lstStyle/>
          <a:p>
            <a:pPr algn="ctr" indent="0" marL="0">
              <a:buNone/>
            </a:pPr>
            <a:r>
              <a:rPr lang="en-US" sz="1200" b="1" dirty="0">
                <a:solidFill>
                  <a:srgbClr val="000000"/>
                </a:solidFill>
              </a:rPr>
              <a:t>k-trial average a</a:t>
            </a:r>
            <a:endParaRPr lang="en-US" sz="1200" dirty="0"/>
          </a:p>
          <a:p>
            <a:pPr algn="ctr" indent="0" marL="0">
              <a:buNone/>
            </a:pPr>
            <a:r>
              <a:rPr lang="en-US" sz="1050" dirty="0">
                <a:solidFill>
                  <a:srgbClr val="262626"/>
                </a:solidFill>
              </a:rPr>
              <a:t>k ∈ {2, 3, 6}</a:t>
            </a:r>
            <a:endParaRPr lang="en-US" sz="1200" dirty="0"/>
          </a:p>
        </p:txBody>
      </p:sp>
      <p:sp>
        <p:nvSpPr>
          <p:cNvPr id="12" name="Teacher cap"/>
          <p:cNvSpPr txBox="1"/>
          <p:nvPr/>
        </p:nvSpPr>
        <p:spPr>
          <a:xfrm>
            <a:off x="4526280" y="2468880"/>
            <a:ext cx="1828800" cy="384048"/>
          </a:xfrm>
          <a:prstGeom prst="rect">
            <a:avLst/>
          </a:prstGeom>
          <a:noFill/>
          <a:ln/>
        </p:spPr>
        <p:txBody>
          <a:bodyPr wrap="square" lIns="0" tIns="0" rIns="0" bIns="0" rtlCol="0" anchor="t"/>
          <a:lstStyle/>
          <a:p>
            <a:pPr algn="ctr" indent="0" marL="0">
              <a:buNone/>
            </a:pPr>
            <a:r>
              <a:rPr lang="en-US" sz="1200" b="1" dirty="0">
                <a:solidFill>
                  <a:srgbClr val="000000"/>
                </a:solidFill>
              </a:rPr>
              <a:t>Teacher EEGNet</a:t>
            </a:r>
            <a:endParaRPr lang="en-US" sz="1200" dirty="0"/>
          </a:p>
          <a:p>
            <a:pPr algn="ctr" indent="0" marL="0">
              <a:buNone/>
            </a:pPr>
            <a:r>
              <a:rPr lang="en-US" sz="1050" dirty="0">
                <a:solidFill>
                  <a:srgbClr val="262626"/>
                </a:solidFill>
              </a:rPr>
              <a:t>trained on averages</a:t>
            </a:r>
            <a:endParaRPr lang="en-US" sz="1200" dirty="0"/>
          </a:p>
        </p:txBody>
      </p:sp>
      <p:sp>
        <p:nvSpPr>
          <p:cNvPr id="13" name="Frozen cap"/>
          <p:cNvSpPr txBox="1"/>
          <p:nvPr/>
        </p:nvSpPr>
        <p:spPr>
          <a:xfrm>
            <a:off x="6583680" y="2468880"/>
            <a:ext cx="1828800" cy="384048"/>
          </a:xfrm>
          <a:prstGeom prst="rect">
            <a:avLst/>
          </a:prstGeom>
          <a:noFill/>
          <a:ln/>
        </p:spPr>
        <p:txBody>
          <a:bodyPr wrap="square" lIns="0" tIns="0" rIns="0" bIns="0" rtlCol="0" anchor="t"/>
          <a:lstStyle/>
          <a:p>
            <a:pPr algn="ctr" indent="0" marL="0">
              <a:buNone/>
            </a:pPr>
            <a:r>
              <a:rPr lang="en-US" sz="1200" b="1" dirty="0">
                <a:solidFill>
                  <a:srgbClr val="A00000"/>
                </a:solidFill>
              </a:rPr>
              <a:t>Frozen teacher T</a:t>
            </a:r>
            <a:endParaRPr lang="en-US" sz="1200" dirty="0"/>
          </a:p>
          <a:p>
            <a:pPr algn="ctr" indent="0" marL="0">
              <a:buNone/>
            </a:pPr>
            <a:r>
              <a:rPr lang="en-US" sz="1050" dirty="0">
                <a:solidFill>
                  <a:srgbClr val="262626"/>
                </a:solidFill>
              </a:rPr>
              <a:t>reused in Stage 2</a:t>
            </a:r>
            <a:endParaRPr lang="en-US" sz="1200" dirty="0"/>
          </a:p>
        </p:txBody>
      </p:sp>
      <p:sp>
        <p:nvSpPr>
          <p:cNvPr id="14" name="S1 arrow 0"/>
          <p:cNvSpPr/>
          <p:nvPr/>
        </p:nvSpPr>
        <p:spPr>
          <a:xfrm>
            <a:off x="1897796" y="2176272"/>
            <a:ext cx="913569" cy="0"/>
          </a:xfrm>
          <a:prstGeom prst="line">
            <a:avLst/>
          </a:prstGeom>
          <a:noFill/>
          <a:ln w="15875">
            <a:solidFill>
              <a:srgbClr val="000000"/>
            </a:solidFill>
            <a:prstDash val="solid"/>
            <a:tailEnd type="triangle"/>
          </a:ln>
        </p:spPr>
      </p:sp>
      <p:sp>
        <p:nvSpPr>
          <p:cNvPr id="15" name="S1 arrow 1"/>
          <p:cNvSpPr/>
          <p:nvPr/>
        </p:nvSpPr>
        <p:spPr>
          <a:xfrm>
            <a:off x="3955196" y="2176272"/>
            <a:ext cx="788878" cy="0"/>
          </a:xfrm>
          <a:prstGeom prst="line">
            <a:avLst/>
          </a:prstGeom>
          <a:noFill/>
          <a:ln w="15875">
            <a:solidFill>
              <a:srgbClr val="000000"/>
            </a:solidFill>
            <a:prstDash val="solid"/>
            <a:tailEnd type="triangle"/>
          </a:ln>
        </p:spPr>
      </p:sp>
      <p:sp>
        <p:nvSpPr>
          <p:cNvPr id="16" name="S1 arrow 2"/>
          <p:cNvSpPr/>
          <p:nvPr/>
        </p:nvSpPr>
        <p:spPr>
          <a:xfrm>
            <a:off x="6137287" y="2176272"/>
            <a:ext cx="664187" cy="0"/>
          </a:xfrm>
          <a:prstGeom prst="line">
            <a:avLst/>
          </a:prstGeom>
          <a:noFill/>
          <a:ln w="15875">
            <a:solidFill>
              <a:srgbClr val="000000"/>
            </a:solidFill>
            <a:prstDash val="solid"/>
            <a:tailEnd type="triangle"/>
          </a:ln>
        </p:spPr>
      </p:sp>
      <p:sp>
        <p:nvSpPr>
          <p:cNvPr id="17" name="Stage 2"/>
          <p:cNvSpPr/>
          <p:nvPr/>
        </p:nvSpPr>
        <p:spPr>
          <a:xfrm>
            <a:off x="411480" y="2962656"/>
            <a:ext cx="8092440" cy="3044952"/>
          </a:xfrm>
          <a:prstGeom prst="rect">
            <a:avLst/>
          </a:prstGeom>
          <a:solidFill>
            <a:srgbClr val="F2F2F2"/>
          </a:solidFill>
          <a:ln/>
        </p:spPr>
      </p:sp>
      <p:sp>
        <p:nvSpPr>
          <p:cNvPr id="18" name="Stage 2 label"/>
          <p:cNvSpPr txBox="1"/>
          <p:nvPr/>
        </p:nvSpPr>
        <p:spPr>
          <a:xfrm>
            <a:off x="521208" y="3008376"/>
            <a:ext cx="7872984" cy="274320"/>
          </a:xfrm>
          <a:prstGeom prst="rect">
            <a:avLst/>
          </a:prstGeom>
          <a:noFill/>
          <a:ln/>
        </p:spPr>
        <p:txBody>
          <a:bodyPr wrap="square" lIns="0" tIns="0" rIns="0" bIns="0" rtlCol="0" anchor="ctr"/>
          <a:lstStyle/>
          <a:p>
            <a:pPr indent="0" marL="0">
              <a:buNone/>
            </a:pPr>
            <a:r>
              <a:rPr lang="en-US" sz="1300" b="1" dirty="0">
                <a:solidFill>
                  <a:schemeClr val="tx1"/>
                </a:solidFill>
              </a:rPr>
              <a:t>Stage 2 · Student training on single trials</a:t>
            </a:r>
            <a:endParaRPr lang="en-US" sz="1300" dirty="0"/>
          </a:p>
        </p:txBody>
      </p:sp>
      <p:pic>
        <p:nvPicPr>
          <p:cNvPr id="19" name="Single trial" descr="One noisy single trial">    </p:cNvPr>
          <p:cNvPicPr>
            <a:picLocks noChangeAspect="1"/>
          </p:cNvPicPr>
          <p:nvPr/>
        </p:nvPicPr>
        <p:blipFill>
          <a:blip r:embed="rId5"/>
          <a:stretch>
            <a:fillRect/>
          </a:stretch>
        </p:blipFill>
        <p:spPr>
          <a:xfrm>
            <a:off x="706582" y="3310128"/>
            <a:ext cx="964276" cy="530352"/>
          </a:xfrm>
          <a:prstGeom prst="rect">
            <a:avLst/>
          </a:prstGeom>
        </p:spPr>
      </p:pic>
      <p:pic>
        <p:nvPicPr>
          <p:cNvPr id="20" name="Student encoder" descr="Student EEGNet encoder">    </p:cNvPr>
          <p:cNvPicPr>
            <a:picLocks noChangeAspect="1"/>
          </p:cNvPicPr>
          <p:nvPr/>
        </p:nvPicPr>
        <p:blipFill>
          <a:blip r:embed="rId6"/>
          <a:stretch>
            <a:fillRect/>
          </a:stretch>
        </p:blipFill>
        <p:spPr>
          <a:xfrm>
            <a:off x="2643447" y="3310128"/>
            <a:ext cx="1205345" cy="530352"/>
          </a:xfrm>
          <a:prstGeom prst="rect">
            <a:avLst/>
          </a:prstGeom>
        </p:spPr>
      </p:pic>
      <p:pic>
        <p:nvPicPr>
          <p:cNvPr id="21" name="Classifier" descr="Fully connected classifier">    </p:cNvPr>
          <p:cNvPicPr>
            <a:picLocks noChangeAspect="1"/>
          </p:cNvPicPr>
          <p:nvPr/>
        </p:nvPicPr>
        <p:blipFill>
          <a:blip r:embed="rId7"/>
          <a:stretch>
            <a:fillRect/>
          </a:stretch>
        </p:blipFill>
        <p:spPr>
          <a:xfrm>
            <a:off x="4761530" y="3310128"/>
            <a:ext cx="626780" cy="530352"/>
          </a:xfrm>
          <a:prstGeom prst="rect">
            <a:avLst/>
          </a:prstGeom>
        </p:spPr>
      </p:pic>
      <p:sp>
        <p:nvSpPr>
          <p:cNvPr id="22" name="Single cap"/>
          <p:cNvSpPr txBox="1"/>
          <p:nvPr/>
        </p:nvSpPr>
        <p:spPr>
          <a:xfrm>
            <a:off x="320040" y="3858768"/>
            <a:ext cx="1737360" cy="384048"/>
          </a:xfrm>
          <a:prstGeom prst="rect">
            <a:avLst/>
          </a:prstGeom>
          <a:noFill/>
          <a:ln/>
        </p:spPr>
        <p:txBody>
          <a:bodyPr wrap="square" lIns="0" tIns="0" rIns="0" bIns="0" rtlCol="0" anchor="t"/>
          <a:lstStyle/>
          <a:p>
            <a:pPr algn="ctr" indent="0" marL="0">
              <a:buNone/>
            </a:pPr>
            <a:r>
              <a:rPr lang="en-US" sz="1200" b="1" dirty="0">
                <a:solidFill>
                  <a:srgbClr val="000000"/>
                </a:solidFill>
              </a:rPr>
              <a:t>Single trial x</a:t>
            </a:r>
            <a:endParaRPr lang="en-US" sz="1200" dirty="0"/>
          </a:p>
          <a:p>
            <a:pPr algn="ctr" indent="0" marL="0">
              <a:buNone/>
            </a:pPr>
            <a:r>
              <a:rPr lang="en-US" sz="1050" dirty="0">
                <a:solidFill>
                  <a:srgbClr val="262626"/>
                </a:solidFill>
              </a:rPr>
              <a:t>21 ch × 58 samples</a:t>
            </a:r>
            <a:endParaRPr lang="en-US" sz="1200" dirty="0"/>
          </a:p>
        </p:txBody>
      </p:sp>
      <p:sp>
        <p:nvSpPr>
          <p:cNvPr id="23" name="Encoder cap"/>
          <p:cNvSpPr txBox="1"/>
          <p:nvPr/>
        </p:nvSpPr>
        <p:spPr>
          <a:xfrm>
            <a:off x="2240280" y="3858768"/>
            <a:ext cx="2011680" cy="384048"/>
          </a:xfrm>
          <a:prstGeom prst="rect">
            <a:avLst/>
          </a:prstGeom>
          <a:noFill/>
          <a:ln/>
        </p:spPr>
        <p:txBody>
          <a:bodyPr wrap="square" lIns="0" tIns="0" rIns="0" bIns="0" rtlCol="0" anchor="t"/>
          <a:lstStyle/>
          <a:p>
            <a:pPr algn="ctr" indent="0" marL="0">
              <a:buNone/>
            </a:pPr>
            <a:r>
              <a:rPr lang="en-US" sz="1200" b="1" dirty="0">
                <a:solidFill>
                  <a:srgbClr val="000000"/>
                </a:solidFill>
              </a:rPr>
              <a:t>EEGNet encoder</a:t>
            </a:r>
            <a:endParaRPr lang="en-US" sz="1200" dirty="0"/>
          </a:p>
          <a:p>
            <a:pPr algn="ctr" indent="0" marL="0">
              <a:buNone/>
            </a:pPr>
            <a:r>
              <a:rPr lang="en-US" sz="1050" dirty="0">
                <a:solidFill>
                  <a:srgbClr val="262626"/>
                </a:solidFill>
              </a:rPr>
              <a:t>temporal → spatial → separable</a:t>
            </a:r>
            <a:endParaRPr lang="en-US" sz="1200" dirty="0"/>
          </a:p>
        </p:txBody>
      </p:sp>
      <p:sp>
        <p:nvSpPr>
          <p:cNvPr id="24" name="Classifier cap"/>
          <p:cNvSpPr txBox="1"/>
          <p:nvPr/>
        </p:nvSpPr>
        <p:spPr>
          <a:xfrm>
            <a:off x="4389120" y="3858768"/>
            <a:ext cx="1371600" cy="384048"/>
          </a:xfrm>
          <a:prstGeom prst="rect">
            <a:avLst/>
          </a:prstGeom>
          <a:noFill/>
          <a:ln/>
        </p:spPr>
        <p:txBody>
          <a:bodyPr wrap="square" lIns="0" tIns="0" rIns="0" bIns="0" rtlCol="0" anchor="t"/>
          <a:lstStyle/>
          <a:p>
            <a:pPr algn="ctr" indent="0" marL="0">
              <a:buNone/>
            </a:pPr>
            <a:r>
              <a:rPr lang="en-US" sz="1200" b="1" dirty="0">
                <a:solidFill>
                  <a:srgbClr val="000000"/>
                </a:solidFill>
              </a:rPr>
              <a:t>Classifier</a:t>
            </a:r>
            <a:endParaRPr lang="en-US" sz="1200" dirty="0"/>
          </a:p>
          <a:p>
            <a:pPr algn="ctr" indent="0" marL="0">
              <a:buNone/>
            </a:pPr>
            <a:r>
              <a:rPr lang="en-US" sz="1050" dirty="0">
                <a:solidFill>
                  <a:srgbClr val="262626"/>
                </a:solidFill>
              </a:rPr>
              <a:t>student logits</a:t>
            </a:r>
            <a:endParaRPr lang="en-US" sz="1200" dirty="0"/>
          </a:p>
        </p:txBody>
      </p:sp>
      <p:sp>
        <p:nvSpPr>
          <p:cNvPr id="25" name="L_CE"/>
          <p:cNvSpPr/>
          <p:nvPr/>
        </p:nvSpPr>
        <p:spPr>
          <a:xfrm>
            <a:off x="6720840" y="3346704"/>
            <a:ext cx="1645920" cy="457200"/>
          </a:xfrm>
          <a:prstGeom prst="rect">
            <a:avLst/>
          </a:prstGeom>
          <a:solidFill>
            <a:srgbClr val="FBEDED"/>
          </a:solidFill>
          <a:ln w="12700">
            <a:solidFill>
              <a:srgbClr val="A00000"/>
            </a:solidFill>
            <a:prstDash val="solid"/>
          </a:ln>
        </p:spPr>
        <p:txBody>
          <a:bodyPr wrap="square" lIns="25400" tIns="25400" rIns="25400" bIns="25400" rtlCol="0" anchor="ctr"/>
          <a:lstStyle/>
          <a:p>
            <a:pPr algn="ctr" indent="0" marL="0">
              <a:buNone/>
            </a:pPr>
            <a:r>
              <a:rPr lang="en-US" sz="1250" b="1" dirty="0">
                <a:solidFill>
                  <a:srgbClr val="000000"/>
                </a:solidFill>
              </a:rPr>
              <a:t>L</a:t>
            </a:r>
            <a:pPr algn="ctr" indent="0" marL="0">
              <a:buNone/>
            </a:pPr>
            <a:r>
              <a:rPr lang="en-US" sz="1250" b="1" baseline="-40000" dirty="0">
                <a:solidFill>
                  <a:srgbClr val="000000"/>
                </a:solidFill>
              </a:rPr>
              <a:t>CE</a:t>
            </a:r>
            <a:endParaRPr lang="en-US" sz="1250" dirty="0"/>
          </a:p>
          <a:p>
            <a:pPr algn="ctr" indent="0" marL="0">
              <a:buNone/>
            </a:pPr>
            <a:r>
              <a:rPr lang="en-US" sz="1100" dirty="0">
                <a:solidFill>
                  <a:srgbClr val="262626"/>
                </a:solidFill>
              </a:rPr>
              <a:t>label y</a:t>
            </a:r>
            <a:endParaRPr lang="en-US" sz="1250" dirty="0"/>
          </a:p>
        </p:txBody>
      </p:sp>
      <p:sp>
        <p:nvSpPr>
          <p:cNvPr id="26" name="x-enc"/>
          <p:cNvSpPr/>
          <p:nvPr/>
        </p:nvSpPr>
        <p:spPr>
          <a:xfrm>
            <a:off x="1744010" y="3575304"/>
            <a:ext cx="826285" cy="0"/>
          </a:xfrm>
          <a:prstGeom prst="line">
            <a:avLst/>
          </a:prstGeom>
          <a:noFill/>
          <a:ln w="15875">
            <a:solidFill>
              <a:srgbClr val="000000"/>
            </a:solidFill>
            <a:prstDash val="solid"/>
            <a:tailEnd type="triangle"/>
          </a:ln>
        </p:spPr>
      </p:sp>
      <p:sp>
        <p:nvSpPr>
          <p:cNvPr id="27" name="enc-fc"/>
          <p:cNvSpPr/>
          <p:nvPr/>
        </p:nvSpPr>
        <p:spPr>
          <a:xfrm>
            <a:off x="3921945" y="3575304"/>
            <a:ext cx="766433" cy="0"/>
          </a:xfrm>
          <a:prstGeom prst="line">
            <a:avLst/>
          </a:prstGeom>
          <a:noFill/>
          <a:ln w="15875">
            <a:solidFill>
              <a:srgbClr val="000000"/>
            </a:solidFill>
            <a:prstDash val="solid"/>
            <a:tailEnd type="triangle"/>
          </a:ln>
        </p:spPr>
      </p:sp>
      <p:sp>
        <p:nvSpPr>
          <p:cNvPr id="28" name="fc-ce"/>
          <p:cNvSpPr/>
          <p:nvPr/>
        </p:nvSpPr>
        <p:spPr>
          <a:xfrm>
            <a:off x="5461462" y="3575304"/>
            <a:ext cx="1259378" cy="0"/>
          </a:xfrm>
          <a:prstGeom prst="line">
            <a:avLst/>
          </a:prstGeom>
          <a:noFill/>
          <a:ln w="15875">
            <a:solidFill>
              <a:srgbClr val="000000"/>
            </a:solidFill>
            <a:prstDash val="solid"/>
            <a:tailEnd type="triangle"/>
          </a:ln>
        </p:spPr>
      </p:sp>
      <p:pic>
        <p:nvPicPr>
          <p:cNvPr id="29" name="Decoder" descr="Linear ERP decoder (training only)">    </p:cNvPr>
          <p:cNvPicPr>
            <a:picLocks noChangeAspect="1"/>
          </p:cNvPicPr>
          <p:nvPr/>
        </p:nvPicPr>
        <p:blipFill>
          <a:blip r:embed="rId8"/>
          <a:stretch>
            <a:fillRect/>
          </a:stretch>
        </p:blipFill>
        <p:spPr>
          <a:xfrm>
            <a:off x="2717800" y="4389120"/>
            <a:ext cx="1056640" cy="475488"/>
          </a:xfrm>
          <a:prstGeom prst="rect">
            <a:avLst/>
          </a:prstGeom>
        </p:spPr>
      </p:pic>
      <p:pic>
        <p:nvPicPr>
          <p:cNvPr id="30" name="Reconstruction" descr="Reconstructed ERP">    </p:cNvPr>
          <p:cNvPicPr>
            <a:picLocks noChangeAspect="1"/>
          </p:cNvPicPr>
          <p:nvPr/>
        </p:nvPicPr>
        <p:blipFill>
          <a:blip r:embed="rId9"/>
          <a:stretch>
            <a:fillRect/>
          </a:stretch>
        </p:blipFill>
        <p:spPr>
          <a:xfrm>
            <a:off x="4642658" y="4389120"/>
            <a:ext cx="864524" cy="475488"/>
          </a:xfrm>
          <a:prstGeom prst="rect">
            <a:avLst/>
          </a:prstGeom>
        </p:spPr>
      </p:pic>
      <p:sp>
        <p:nvSpPr>
          <p:cNvPr id="31" name="Decoder cap"/>
          <p:cNvSpPr txBox="1"/>
          <p:nvPr/>
        </p:nvSpPr>
        <p:spPr>
          <a:xfrm>
            <a:off x="2331720" y="4892040"/>
            <a:ext cx="1828800" cy="384048"/>
          </a:xfrm>
          <a:prstGeom prst="rect">
            <a:avLst/>
          </a:prstGeom>
          <a:noFill/>
          <a:ln/>
        </p:spPr>
        <p:txBody>
          <a:bodyPr wrap="square" lIns="0" tIns="0" rIns="0" bIns="0" rtlCol="0" anchor="t"/>
          <a:lstStyle/>
          <a:p>
            <a:pPr algn="ctr" indent="0" marL="0">
              <a:buNone/>
            </a:pPr>
            <a:r>
              <a:rPr lang="en-US" sz="1200" b="1" dirty="0">
                <a:solidFill>
                  <a:srgbClr val="000000"/>
                </a:solidFill>
              </a:rPr>
              <a:t>Linear ERP decoder</a:t>
            </a:r>
            <a:endParaRPr lang="en-US" sz="1200" dirty="0"/>
          </a:p>
          <a:p>
            <a:pPr algn="ctr" indent="0" marL="0">
              <a:buNone/>
            </a:pPr>
            <a:r>
              <a:rPr lang="en-US" sz="1050" dirty="0">
                <a:solidFill>
                  <a:srgbClr val="262626"/>
                </a:solidFill>
              </a:rPr>
              <a:t>training only</a:t>
            </a:r>
            <a:endParaRPr lang="en-US" sz="1200" dirty="0"/>
          </a:p>
        </p:txBody>
      </p:sp>
      <p:sp>
        <p:nvSpPr>
          <p:cNvPr id="32" name="Recon cap"/>
          <p:cNvSpPr txBox="1"/>
          <p:nvPr/>
        </p:nvSpPr>
        <p:spPr>
          <a:xfrm>
            <a:off x="4251960" y="4892040"/>
            <a:ext cx="1645920" cy="228600"/>
          </a:xfrm>
          <a:prstGeom prst="rect">
            <a:avLst/>
          </a:prstGeom>
          <a:noFill/>
          <a:ln/>
        </p:spPr>
        <p:txBody>
          <a:bodyPr wrap="square" lIns="0" tIns="0" rIns="0" bIns="0" rtlCol="0" anchor="t"/>
          <a:lstStyle/>
          <a:p>
            <a:pPr algn="ctr" indent="0" marL="0">
              <a:buNone/>
            </a:pPr>
            <a:r>
              <a:rPr lang="en-US" sz="1200" b="1" dirty="0">
                <a:solidFill>
                  <a:srgbClr val="000000"/>
                </a:solidFill>
              </a:rPr>
              <a:t>Reconstruction x̂</a:t>
            </a:r>
            <a:endParaRPr lang="en-US" sz="1200" dirty="0"/>
          </a:p>
        </p:txBody>
      </p:sp>
      <p:sp>
        <p:nvSpPr>
          <p:cNvPr id="33" name="L_N2N"/>
          <p:cNvSpPr/>
          <p:nvPr/>
        </p:nvSpPr>
        <p:spPr>
          <a:xfrm>
            <a:off x="6720840" y="4398264"/>
            <a:ext cx="1645920" cy="457200"/>
          </a:xfrm>
          <a:prstGeom prst="rect">
            <a:avLst/>
          </a:prstGeom>
          <a:solidFill>
            <a:srgbClr val="FBEDED"/>
          </a:solidFill>
          <a:ln w="12700">
            <a:solidFill>
              <a:srgbClr val="A00000"/>
            </a:solidFill>
            <a:prstDash val="solid"/>
          </a:ln>
        </p:spPr>
        <p:txBody>
          <a:bodyPr wrap="square" lIns="25400" tIns="25400" rIns="25400" bIns="25400" rtlCol="0" anchor="ctr"/>
          <a:lstStyle/>
          <a:p>
            <a:pPr algn="ctr" indent="0" marL="0">
              <a:buNone/>
            </a:pPr>
            <a:r>
              <a:rPr lang="en-US" sz="1250" b="1" dirty="0">
                <a:solidFill>
                  <a:srgbClr val="000000"/>
                </a:solidFill>
              </a:rPr>
              <a:t>L</a:t>
            </a:r>
            <a:pPr algn="ctr" indent="0" marL="0">
              <a:buNone/>
            </a:pPr>
            <a:r>
              <a:rPr lang="en-US" sz="1250" b="1" baseline="-40000" dirty="0">
                <a:solidFill>
                  <a:srgbClr val="000000"/>
                </a:solidFill>
              </a:rPr>
              <a:t>N2N</a:t>
            </a:r>
            <a:pPr algn="ctr" indent="0" marL="0">
              <a:buNone/>
            </a:pPr>
            <a:r>
              <a:rPr lang="en-US" sz="1250" b="1" dirty="0">
                <a:solidFill>
                  <a:srgbClr val="000000"/>
                </a:solidFill>
              </a:rPr>
              <a:t> = ‖x̂ − ā‖</a:t>
            </a:r>
            <a:pPr algn="ctr" indent="0" marL="0">
              <a:buNone/>
            </a:pPr>
            <a:r>
              <a:rPr lang="en-US" sz="1250" b="1" baseline="30000" dirty="0">
                <a:solidFill>
                  <a:srgbClr val="000000"/>
                </a:solidFill>
              </a:rPr>
              <a:t>2</a:t>
            </a:r>
            <a:endParaRPr lang="en-US" sz="1250" dirty="0"/>
          </a:p>
          <a:p>
            <a:pPr algn="ctr" indent="0" marL="0">
              <a:buNone/>
            </a:pPr>
            <a:r>
              <a:rPr lang="en-US" sz="1100" dirty="0">
                <a:solidFill>
                  <a:srgbClr val="262626"/>
                </a:solidFill>
              </a:rPr>
              <a:t>ā: group avg. without x</a:t>
            </a:r>
            <a:endParaRPr lang="en-US" sz="1250" dirty="0"/>
          </a:p>
        </p:txBody>
      </p:sp>
      <p:sp>
        <p:nvSpPr>
          <p:cNvPr id="34" name="enc-dec"/>
          <p:cNvSpPr/>
          <p:nvPr/>
        </p:nvSpPr>
        <p:spPr>
          <a:xfrm>
            <a:off x="3246120" y="4224528"/>
            <a:ext cx="0" cy="137160"/>
          </a:xfrm>
          <a:prstGeom prst="line">
            <a:avLst/>
          </a:prstGeom>
          <a:noFill/>
          <a:ln w="15875">
            <a:solidFill>
              <a:srgbClr val="000000"/>
            </a:solidFill>
            <a:prstDash val="solid"/>
            <a:tailEnd type="triangle"/>
          </a:ln>
        </p:spPr>
      </p:sp>
      <p:sp>
        <p:nvSpPr>
          <p:cNvPr id="35" name="dec-rec"/>
          <p:cNvSpPr/>
          <p:nvPr/>
        </p:nvSpPr>
        <p:spPr>
          <a:xfrm>
            <a:off x="3847592" y="4626864"/>
            <a:ext cx="721914" cy="0"/>
          </a:xfrm>
          <a:prstGeom prst="line">
            <a:avLst/>
          </a:prstGeom>
          <a:noFill/>
          <a:ln w="15875">
            <a:solidFill>
              <a:srgbClr val="000000"/>
            </a:solidFill>
            <a:prstDash val="solid"/>
            <a:tailEnd type="triangle"/>
          </a:ln>
        </p:spPr>
      </p:sp>
      <p:sp>
        <p:nvSpPr>
          <p:cNvPr id="36" name="rec-n2n"/>
          <p:cNvSpPr/>
          <p:nvPr/>
        </p:nvSpPr>
        <p:spPr>
          <a:xfrm>
            <a:off x="5580334" y="4626864"/>
            <a:ext cx="1140506" cy="0"/>
          </a:xfrm>
          <a:prstGeom prst="line">
            <a:avLst/>
          </a:prstGeom>
          <a:noFill/>
          <a:ln w="15875">
            <a:solidFill>
              <a:srgbClr val="000000"/>
            </a:solidFill>
            <a:prstDash val="solid"/>
            <a:tailEnd type="triangle"/>
          </a:ln>
        </p:spPr>
      </p:sp>
      <p:pic>
        <p:nvPicPr>
          <p:cNvPr id="37" name="Critic teacher" descr="Frozen teacher judging the reconstruction">    </p:cNvPr>
          <p:cNvPicPr>
            <a:picLocks noChangeAspect="1"/>
          </p:cNvPicPr>
          <p:nvPr/>
        </p:nvPicPr>
        <p:blipFill>
          <a:blip r:embed="rId10"/>
          <a:stretch>
            <a:fillRect/>
          </a:stretch>
        </p:blipFill>
        <p:spPr>
          <a:xfrm>
            <a:off x="4555375" y="5285232"/>
            <a:ext cx="1039091" cy="457200"/>
          </a:xfrm>
          <a:prstGeom prst="rect">
            <a:avLst/>
          </a:prstGeom>
        </p:spPr>
      </p:pic>
      <p:sp>
        <p:nvSpPr>
          <p:cNvPr id="38" name="Critic cap"/>
          <p:cNvSpPr txBox="1"/>
          <p:nvPr/>
        </p:nvSpPr>
        <p:spPr>
          <a:xfrm>
            <a:off x="2955175" y="5303520"/>
            <a:ext cx="1508760" cy="420624"/>
          </a:xfrm>
          <a:prstGeom prst="rect">
            <a:avLst/>
          </a:prstGeom>
          <a:noFill/>
          <a:ln/>
        </p:spPr>
        <p:txBody>
          <a:bodyPr wrap="square" lIns="0" tIns="0" rIns="0" bIns="0" rtlCol="0" anchor="ctr"/>
          <a:lstStyle/>
          <a:p>
            <a:pPr algn="r" indent="0" marL="0">
              <a:buNone/>
            </a:pPr>
            <a:r>
              <a:rPr lang="en-US" sz="1200" b="1" dirty="0">
                <a:solidFill>
                  <a:srgbClr val="A00000"/>
                </a:solidFill>
              </a:rPr>
              <a:t>Frozen teacher T</a:t>
            </a:r>
            <a:endParaRPr lang="en-US" sz="1200" dirty="0"/>
          </a:p>
          <a:p>
            <a:pPr algn="r" indent="0" marL="0">
              <a:buNone/>
            </a:pPr>
            <a:r>
              <a:rPr lang="en-US" sz="1050" dirty="0">
                <a:solidFill>
                  <a:srgbClr val="262626"/>
                </a:solidFill>
              </a:rPr>
              <a:t>judges x̂</a:t>
            </a:r>
            <a:endParaRPr lang="en-US" sz="1200" dirty="0"/>
          </a:p>
        </p:txBody>
      </p:sp>
      <p:sp>
        <p:nvSpPr>
          <p:cNvPr id="39" name="L_critic"/>
          <p:cNvSpPr/>
          <p:nvPr/>
        </p:nvSpPr>
        <p:spPr>
          <a:xfrm>
            <a:off x="6720840" y="5285232"/>
            <a:ext cx="1645920" cy="457200"/>
          </a:xfrm>
          <a:prstGeom prst="rect">
            <a:avLst/>
          </a:prstGeom>
          <a:solidFill>
            <a:srgbClr val="FBEDED"/>
          </a:solidFill>
          <a:ln w="12700">
            <a:solidFill>
              <a:srgbClr val="A00000"/>
            </a:solidFill>
            <a:prstDash val="solid"/>
          </a:ln>
        </p:spPr>
        <p:txBody>
          <a:bodyPr wrap="square" lIns="25400" tIns="25400" rIns="25400" bIns="25400" rtlCol="0" anchor="ctr"/>
          <a:lstStyle/>
          <a:p>
            <a:pPr algn="ctr" indent="0" marL="0">
              <a:buNone/>
            </a:pPr>
            <a:r>
              <a:rPr lang="en-US" sz="1250" b="1" dirty="0">
                <a:solidFill>
                  <a:srgbClr val="000000"/>
                </a:solidFill>
              </a:rPr>
              <a:t>L</a:t>
            </a:r>
            <a:pPr algn="ctr" indent="0" marL="0">
              <a:buNone/>
            </a:pPr>
            <a:r>
              <a:rPr lang="en-US" sz="1250" b="1" baseline="-40000" dirty="0">
                <a:solidFill>
                  <a:srgbClr val="000000"/>
                </a:solidFill>
              </a:rPr>
              <a:t>critic</a:t>
            </a:r>
            <a:endParaRPr lang="en-US" sz="1250" dirty="0"/>
          </a:p>
          <a:p>
            <a:pPr algn="ctr" indent="0" marL="0">
              <a:buNone/>
            </a:pPr>
            <a:r>
              <a:rPr lang="en-US" sz="1100" dirty="0">
                <a:solidFill>
                  <a:srgbClr val="262626"/>
                </a:solidFill>
              </a:rPr>
              <a:t>CE(T(x̂), y) + KL</a:t>
            </a:r>
            <a:endParaRPr lang="en-US" sz="1250" dirty="0"/>
          </a:p>
        </p:txBody>
      </p:sp>
      <p:sp>
        <p:nvSpPr>
          <p:cNvPr id="40" name="rec-T"/>
          <p:cNvSpPr/>
          <p:nvPr/>
        </p:nvSpPr>
        <p:spPr>
          <a:xfrm>
            <a:off x="5074920" y="5111496"/>
            <a:ext cx="0" cy="155448"/>
          </a:xfrm>
          <a:prstGeom prst="line">
            <a:avLst/>
          </a:prstGeom>
          <a:noFill/>
          <a:ln w="15875">
            <a:solidFill>
              <a:srgbClr val="000000"/>
            </a:solidFill>
            <a:prstDash val="solid"/>
            <a:tailEnd type="triangle"/>
          </a:ln>
        </p:spPr>
      </p:sp>
      <p:sp>
        <p:nvSpPr>
          <p:cNvPr id="41" name="T-critic"/>
          <p:cNvSpPr/>
          <p:nvPr/>
        </p:nvSpPr>
        <p:spPr>
          <a:xfrm>
            <a:off x="5667617" y="5513832"/>
            <a:ext cx="1053223" cy="0"/>
          </a:xfrm>
          <a:prstGeom prst="line">
            <a:avLst/>
          </a:prstGeom>
          <a:noFill/>
          <a:ln w="15875">
            <a:solidFill>
              <a:srgbClr val="000000"/>
            </a:solidFill>
            <a:prstDash val="solid"/>
            <a:tailEnd type="triangle"/>
          </a:ln>
        </p:spPr>
      </p:sp>
      <p:sp>
        <p:nvSpPr>
          <p:cNvPr id="42" name="Total loss"/>
          <p:cNvSpPr txBox="1"/>
          <p:nvPr/>
        </p:nvSpPr>
        <p:spPr>
          <a:xfrm>
            <a:off x="548640" y="4480560"/>
            <a:ext cx="1874520" cy="566928"/>
          </a:xfrm>
          <a:prstGeom prst="rect">
            <a:avLst/>
          </a:prstGeom>
          <a:noFill/>
          <a:ln/>
        </p:spPr>
        <p:txBody>
          <a:bodyPr wrap="square" lIns="0" tIns="0" rIns="0" bIns="0" rtlCol="0" anchor="ctr"/>
          <a:lstStyle/>
          <a:p>
            <a:pPr indent="0" marL="0">
              <a:buNone/>
            </a:pPr>
            <a:r>
              <a:rPr lang="en-US" sz="1400" b="1" dirty="0">
                <a:solidFill>
                  <a:schemeClr val="accent1"/>
                </a:solidFill>
              </a:rPr>
              <a:t>L = L</a:t>
            </a:r>
            <a:pPr indent="0" marL="0">
              <a:buNone/>
            </a:pPr>
            <a:r>
              <a:rPr lang="en-US" sz="1400" b="1" baseline="-40000" dirty="0">
                <a:solidFill>
                  <a:schemeClr val="accent1"/>
                </a:solidFill>
              </a:rPr>
              <a:t>CE</a:t>
            </a:r>
            <a:pPr indent="0" marL="0">
              <a:buNone/>
            </a:pPr>
            <a:r>
              <a:rPr lang="en-US" sz="1400" b="1" dirty="0">
                <a:solidFill>
                  <a:schemeClr val="accent1"/>
                </a:solidFill>
              </a:rPr>
              <a:t> + λ</a:t>
            </a:r>
            <a:pPr indent="0" marL="0">
              <a:buNone/>
            </a:pPr>
            <a:r>
              <a:rPr lang="en-US" sz="1400" b="1" baseline="-40000" dirty="0">
                <a:solidFill>
                  <a:schemeClr val="accent1"/>
                </a:solidFill>
              </a:rPr>
              <a:t>1</a:t>
            </a:r>
            <a:pPr indent="0" marL="0">
              <a:buNone/>
            </a:pPr>
            <a:r>
              <a:rPr lang="en-US" sz="1400" b="1" dirty="0">
                <a:solidFill>
                  <a:schemeClr val="accent1"/>
                </a:solidFill>
              </a:rPr>
              <a:t> L</a:t>
            </a:r>
            <a:pPr indent="0" marL="0">
              <a:buNone/>
            </a:pPr>
            <a:r>
              <a:rPr lang="en-US" sz="1400" b="1" baseline="-40000" dirty="0">
                <a:solidFill>
                  <a:schemeClr val="accent1"/>
                </a:solidFill>
              </a:rPr>
              <a:t>N2N</a:t>
            </a:r>
            <a:endParaRPr lang="en-US" sz="1400" dirty="0"/>
          </a:p>
          <a:p>
            <a:pPr indent="0" marL="0">
              <a:buNone/>
            </a:pPr>
            <a:r>
              <a:rPr lang="en-US" sz="1400" b="1" dirty="0">
                <a:solidFill>
                  <a:schemeClr val="accent1"/>
                </a:solidFill>
              </a:rPr>
              <a:t>      + λ</a:t>
            </a:r>
            <a:pPr indent="0" marL="0">
              <a:buNone/>
            </a:pPr>
            <a:r>
              <a:rPr lang="en-US" sz="1400" b="1" baseline="-40000" dirty="0">
                <a:solidFill>
                  <a:schemeClr val="accent1"/>
                </a:solidFill>
              </a:rPr>
              <a:t>2</a:t>
            </a:r>
            <a:pPr indent="0" marL="0">
              <a:buNone/>
            </a:pPr>
            <a:r>
              <a:rPr lang="en-US" sz="1400" b="1" dirty="0">
                <a:solidFill>
                  <a:schemeClr val="accent1"/>
                </a:solidFill>
              </a:rPr>
              <a:t> L</a:t>
            </a:r>
            <a:pPr indent="0" marL="0">
              <a:buNone/>
            </a:pPr>
            <a:r>
              <a:rPr lang="en-US" sz="1400" b="1" baseline="-40000" dirty="0">
                <a:solidFill>
                  <a:schemeClr val="accent1"/>
                </a:solidFill>
              </a:rPr>
              <a:t>critic</a:t>
            </a:r>
            <a:endParaRPr lang="en-US" sz="1400" dirty="0"/>
          </a:p>
        </p:txBody>
      </p:sp>
      <p:sp>
        <p:nvSpPr>
          <p:cNvPr id="43" name="Total loss note"/>
          <p:cNvSpPr txBox="1"/>
          <p:nvPr/>
        </p:nvSpPr>
        <p:spPr>
          <a:xfrm>
            <a:off x="548640" y="5074920"/>
            <a:ext cx="1874520" cy="274320"/>
          </a:xfrm>
          <a:prstGeom prst="rect">
            <a:avLst/>
          </a:prstGeom>
          <a:noFill/>
          <a:ln/>
        </p:spPr>
        <p:txBody>
          <a:bodyPr wrap="square" lIns="0" tIns="0" rIns="0" bIns="0" rtlCol="0" anchor="ctr"/>
          <a:lstStyle/>
          <a:p>
            <a:pPr indent="0" marL="0">
              <a:buNone/>
            </a:pPr>
            <a:r>
              <a:rPr lang="en-US" sz="1200" dirty="0">
                <a:solidFill>
                  <a:schemeClr val="accent3"/>
                </a:solidFill>
              </a:rPr>
              <a:t>λ</a:t>
            </a:r>
            <a:pPr indent="0" marL="0">
              <a:buNone/>
            </a:pPr>
            <a:r>
              <a:rPr lang="en-US" sz="1200" baseline="-40000" dirty="0">
                <a:solidFill>
                  <a:schemeClr val="accent3"/>
                </a:solidFill>
              </a:rPr>
              <a:t>1</a:t>
            </a:r>
            <a:pPr indent="0" marL="0">
              <a:buNone/>
            </a:pPr>
            <a:r>
              <a:rPr lang="en-US" sz="1200" dirty="0">
                <a:solidFill>
                  <a:schemeClr val="accent3"/>
                </a:solidFill>
              </a:rPr>
              <a:t> = 1,  λ</a:t>
            </a:r>
            <a:pPr indent="0" marL="0">
              <a:buNone/>
            </a:pPr>
            <a:r>
              <a:rPr lang="en-US" sz="1200" baseline="-40000" dirty="0">
                <a:solidFill>
                  <a:schemeClr val="accent3"/>
                </a:solidFill>
              </a:rPr>
              <a:t>2</a:t>
            </a:r>
            <a:pPr indent="0" marL="0">
              <a:buNone/>
            </a:pPr>
            <a:r>
              <a:rPr lang="en-US" sz="1200" dirty="0">
                <a:solidFill>
                  <a:schemeClr val="accent3"/>
                </a:solidFill>
              </a:rPr>
              <a:t> = 0.5</a:t>
            </a:r>
            <a:endParaRPr lang="en-US" sz="1200" dirty="0"/>
          </a:p>
        </p:txBody>
      </p:sp>
      <p:sp>
        <p:nvSpPr>
          <p:cNvPr id="44" name="Key points"/>
          <p:cNvSpPr txBox="1"/>
          <p:nvPr/>
        </p:nvSpPr>
        <p:spPr>
          <a:xfrm>
            <a:off x="8778240" y="1600200"/>
            <a:ext cx="3108960" cy="4434840"/>
          </a:xfrm>
          <a:prstGeom prst="rect">
            <a:avLst/>
          </a:prstGeom>
          <a:noFill/>
          <a:ln/>
        </p:spPr>
        <p:txBody>
          <a:bodyPr wrap="square" lIns="0" tIns="0" rIns="0" bIns="0" rtlCol="0" anchor="t"/>
          <a:lstStyle/>
          <a:p>
            <a:pPr indent="0" marL="0">
              <a:buNone/>
            </a:pPr>
            <a:r>
              <a:rPr lang="en-US" sz="1350" b="1" dirty="0">
                <a:solidFill>
                  <a:schemeClr val="tx1"/>
                </a:solidFill>
              </a:rPr>
              <a:t>1. Teacher on averages</a:t>
            </a:r>
            <a:endParaRPr lang="en-US" sz="1350" dirty="0"/>
          </a:p>
          <a:p>
            <a:pPr indent="0" marL="0">
              <a:buNone/>
            </a:pPr>
            <a:r>
              <a:rPr lang="en-US" sz="1350" dirty="0">
                <a:solidFill>
                  <a:srgbClr val="262626"/>
                </a:solidFill>
              </a:rPr>
              <a:t>Averaging the same group raises the SNR; the teacher learns the clean aVEP</a:t>
            </a:r>
            <a:endParaRPr lang="en-US" sz="1350" dirty="0"/>
          </a:p>
          <a:p>
            <a:pPr indent="0" marL="0">
              <a:buNone/>
            </a:pPr>
            <a:r>
              <a:rPr lang="en-US" sz="600" dirty="0">
                <a:solidFill>
                  <a:schemeClr val="tx1"/>
                </a:solidFill>
              </a:rPr>
              <a:t> </a:t>
            </a:r>
            <a:endParaRPr lang="en-US" sz="1350" dirty="0"/>
          </a:p>
          <a:p>
            <a:pPr indent="0" marL="0">
              <a:buNone/>
            </a:pPr>
            <a:r>
              <a:rPr lang="en-US" sz="1350" b="1" dirty="0">
                <a:solidFill>
                  <a:schemeClr val="tx1"/>
                </a:solidFill>
              </a:rPr>
              <a:t>2. Noise2Noise reconstruction</a:t>
            </a:r>
            <a:endParaRPr lang="en-US" sz="1350" dirty="0"/>
          </a:p>
          <a:p>
            <a:pPr indent="0" marL="0">
              <a:buNone/>
            </a:pPr>
            <a:r>
              <a:rPr lang="en-US" sz="1350" dirty="0">
                <a:solidFill>
                  <a:srgbClr val="262626"/>
                </a:solidFill>
              </a:rPr>
              <a:t>The target ā never contains x, so the student learns E[ERP | x]: only what one trial can recover</a:t>
            </a:r>
            <a:endParaRPr lang="en-US" sz="1350" dirty="0"/>
          </a:p>
          <a:p>
            <a:pPr indent="0" marL="0">
              <a:buNone/>
            </a:pPr>
            <a:r>
              <a:rPr lang="en-US" sz="600" dirty="0">
                <a:solidFill>
                  <a:schemeClr val="tx1"/>
                </a:solidFill>
              </a:rPr>
              <a:t> </a:t>
            </a:r>
            <a:endParaRPr lang="en-US" sz="1350" dirty="0"/>
          </a:p>
          <a:p>
            <a:pPr indent="0" marL="0">
              <a:buNone/>
            </a:pPr>
            <a:r>
              <a:rPr lang="en-US" sz="1350" b="1" dirty="0">
                <a:solidFill>
                  <a:schemeClr val="tx1"/>
                </a:solidFill>
              </a:rPr>
              <a:t>3. Teacher as critic</a:t>
            </a:r>
            <a:endParaRPr lang="en-US" sz="1350" dirty="0"/>
          </a:p>
          <a:p>
            <a:pPr indent="0" marL="0">
              <a:buNone/>
            </a:pPr>
            <a:r>
              <a:rPr lang="en-US" sz="1350" dirty="0">
                <a:solidFill>
                  <a:srgbClr val="262626"/>
                </a:solidFill>
              </a:rPr>
              <a:t>T judges the student's own reconstruction, so the target is always reachable</a:t>
            </a:r>
            <a:endParaRPr lang="en-US" sz="1350" dirty="0"/>
          </a:p>
          <a:p>
            <a:pPr indent="0" marL="0">
              <a:buNone/>
            </a:pPr>
            <a:r>
              <a:rPr lang="en-US" sz="600" dirty="0">
                <a:solidFill>
                  <a:schemeClr val="tx1"/>
                </a:solidFill>
              </a:rPr>
              <a:t> </a:t>
            </a:r>
            <a:endParaRPr lang="en-US" sz="1350" dirty="0"/>
          </a:p>
          <a:p>
            <a:pPr indent="0" marL="0">
              <a:buNone/>
            </a:pPr>
            <a:r>
              <a:rPr lang="en-US" sz="1350" b="1" dirty="0">
                <a:solidFill>
                  <a:schemeClr val="tx1"/>
                </a:solidFill>
              </a:rPr>
              <a:t>Inference</a:t>
            </a:r>
            <a:endParaRPr lang="en-US" sz="1350" dirty="0"/>
          </a:p>
          <a:p>
            <a:pPr indent="0" marL="0">
              <a:buNone/>
            </a:pPr>
            <a:r>
              <a:rPr lang="en-US" sz="1350" dirty="0">
                <a:solidFill>
                  <a:srgbClr val="262626"/>
                </a:solidFill>
              </a:rPr>
              <a:t>Only the student EEGNet is kept: same cost as the baseline</a:t>
            </a:r>
            <a:endParaRPr lang="en-US" sz="1350" dirty="0"/>
          </a:p>
          <a:p>
            <a:pPr indent="0" marL="0">
              <a:buNone/>
            </a:pPr>
            <a:r>
              <a:rPr lang="en-US" sz="600" dirty="0">
                <a:solidFill>
                  <a:schemeClr val="tx1"/>
                </a:solidFill>
              </a:rPr>
              <a:t> </a:t>
            </a:r>
            <a:endParaRPr lang="en-US" sz="1350" dirty="0"/>
          </a:p>
          <a:p>
            <a:pPr indent="0" marL="0">
              <a:buNone/>
            </a:pPr>
            <a:r>
              <a:rPr lang="en-US" sz="1350" b="1" dirty="0">
                <a:solidFill>
                  <a:srgbClr val="A00000"/>
                </a:solidFill>
              </a:rPr>
              <a:t>Research positioning</a:t>
            </a:r>
            <a:endParaRPr lang="en-US" sz="1350" dirty="0"/>
          </a:p>
          <a:p>
            <a:pPr indent="0" marL="0">
              <a:buNone/>
            </a:pPr>
            <a:r>
              <a:rPr lang="en-US" sz="1350" b="1" dirty="0">
                <a:solidFill>
                  <a:srgbClr val="A00000"/>
                </a:solidFill>
              </a:rPr>
              <a:t>Chapter 1 · within-subject single-trial SNR</a:t>
            </a:r>
            <a:endParaRPr lang="en-US" sz="1350" dirty="0"/>
          </a:p>
        </p:txBody>
      </p:sp>
      <p:sp>
        <p:nvSpPr>
          <p:cNvPr id="25" name="Slide Number Placeholder 0"/>
          <p:cNvSpPr>
            <a:spLocks noGrp="1"/>
          </p:cNvSpPr>
          <p:nvPr>
            <p:ph type="sldNum" sz="quarter" idx="4294967295"/>
          </p:nvPr>
        </p:nvSpPr>
        <p:spPr>
          <a:xfrm>
            <a:off x="11292840" y="6382512"/>
            <a:ext cx="59436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8001000" cy="749808"/>
          </a:xfrm>
          <a:prstGeom prst="rect">
            <a:avLst/>
          </a:prstGeom>
          <a:noFill/>
          <a:ln/>
        </p:spPr>
        <p:txBody>
          <a:bodyPr wrap="square" lIns="0" tIns="0" rIns="0" bIns="0" rtlCol="0" anchor="ctr"/>
          <a:lstStyle/>
          <a:p>
            <a:pPr algn="l" indent="0" marL="0">
              <a:buNone/>
            </a:pPr>
            <a:r>
              <a:rPr lang="en-US" sz="2800" b="1" dirty="0">
                <a:solidFill>
                  <a:schemeClr val="bg1"/>
                </a:solidFill>
              </a:rPr>
              <a:t>2 Research Progress and Stage Achievements</a:t>
            </a:r>
            <a:endParaRPr lang="en-US" sz="2800" dirty="0"/>
          </a:p>
        </p:txBody>
      </p:sp>
      <p:sp>
        <p:nvSpPr>
          <p:cNvPr id="3" name="Lead"/>
          <p:cNvSpPr txBox="1"/>
          <p:nvPr/>
        </p:nvSpPr>
        <p:spPr>
          <a:xfrm>
            <a:off x="548640" y="1161288"/>
            <a:ext cx="11338560" cy="365760"/>
          </a:xfrm>
          <a:prstGeom prst="rect">
            <a:avLst/>
          </a:prstGeom>
          <a:noFill/>
          <a:ln/>
        </p:spPr>
        <p:txBody>
          <a:bodyPr wrap="square" lIns="0" tIns="0" rIns="0" bIns="0" rtlCol="0" anchor="ctr"/>
          <a:lstStyle/>
          <a:p>
            <a:pPr indent="0" marL="0">
              <a:buNone/>
            </a:pPr>
            <a:r>
              <a:rPr lang="en-US" sz="1700" dirty="0">
                <a:solidFill>
                  <a:schemeClr val="tx1"/>
                </a:solidFill>
              </a:rPr>
              <a:t>Chapter 1 · RED · Expected results  </a:t>
            </a:r>
            <a:pPr indent="0" marL="0">
              <a:buNone/>
            </a:pPr>
            <a:r>
              <a:rPr lang="en-US" sz="1700" i="1" dirty="0">
                <a:solidFill>
                  <a:srgbClr val="A00000"/>
                </a:solidFill>
              </a:rPr>
              <a:t>(illustrative: experiments not yet run)</a:t>
            </a:r>
            <a:endParaRPr lang="en-US" sz="1700" dirty="0"/>
          </a:p>
        </p:txBody>
      </p:sp>
      <p:pic>
        <p:nvPicPr>
          <p:cNvPr id="4" name="Results figure" descr="Expected within-subject accuracy, ablation and per-subject gain of RED (illustrative), and a measured linear N2N reconstruction">    </p:cNvPr>
          <p:cNvPicPr>
            <a:picLocks noChangeAspect="1"/>
          </p:cNvPicPr>
          <p:nvPr/>
        </p:nvPicPr>
        <p:blipFill>
          <a:blip r:embed="rId1"/>
          <a:stretch>
            <a:fillRect/>
          </a:stretch>
        </p:blipFill>
        <p:spPr>
          <a:xfrm>
            <a:off x="411480" y="1600200"/>
            <a:ext cx="11338560" cy="3657600"/>
          </a:xfrm>
          <a:prstGeom prst="rect">
            <a:avLst/>
          </a:prstGeom>
        </p:spPr>
      </p:pic>
      <p:sp>
        <p:nvSpPr>
          <p:cNvPr id="5" name="Takeaway"/>
          <p:cNvSpPr txBox="1"/>
          <p:nvPr/>
        </p:nvSpPr>
        <p:spPr>
          <a:xfrm>
            <a:off x="548640" y="5349240"/>
            <a:ext cx="11064240" cy="548640"/>
          </a:xfrm>
          <a:prstGeom prst="rect">
            <a:avLst/>
          </a:prstGeom>
          <a:noFill/>
          <a:ln/>
        </p:spPr>
        <p:txBody>
          <a:bodyPr wrap="square" lIns="0" tIns="0" rIns="0" bIns="0" rtlCol="0" anchor="ctr"/>
          <a:lstStyle/>
          <a:p>
            <a:pPr indent="0" marL="0">
              <a:buNone/>
            </a:pPr>
            <a:r>
              <a:rPr lang="en-US" sz="1500" dirty="0">
                <a:solidFill>
                  <a:schemeClr val="tx1"/>
                </a:solidFill>
              </a:rPr>
              <a:t>Expected: RED &gt; EEGNet within subjects, both losses contribute, weak subjects gain most.  Measured already: a linear N2N estimate recovers R</a:t>
            </a:r>
            <a:pPr indent="0" marL="0">
              <a:buNone/>
            </a:pPr>
            <a:r>
              <a:rPr lang="en-US" sz="1500" baseline="30000" dirty="0">
                <a:solidFill>
                  <a:schemeClr val="tx1"/>
                </a:solidFill>
              </a:rPr>
              <a:t>2</a:t>
            </a:r>
            <a:pPr indent="0" marL="0">
              <a:buNone/>
            </a:pPr>
            <a:r>
              <a:rPr lang="en-US" sz="1500" dirty="0">
                <a:solidFill>
                  <a:schemeClr val="tx1"/>
                </a:solidFill>
              </a:rPr>
              <a:t> = 0.31 of the held-out group ERP (raw single trial: −2.0).</a:t>
            </a:r>
            <a:endParaRPr lang="en-US" sz="1500" dirty="0"/>
          </a:p>
        </p:txBody>
      </p:sp>
      <p:sp>
        <p:nvSpPr>
          <p:cNvPr id="6" name="Reference"/>
          <p:cNvSpPr txBox="1"/>
          <p:nvPr/>
        </p:nvSpPr>
        <p:spPr>
          <a:xfrm>
            <a:off x="320040" y="5943600"/>
            <a:ext cx="10881360" cy="777240"/>
          </a:xfrm>
          <a:prstGeom prst="rect">
            <a:avLst/>
          </a:prstGeom>
          <a:noFill/>
          <a:ln/>
        </p:spPr>
        <p:txBody>
          <a:bodyPr wrap="square" lIns="0" tIns="0" rIns="0" bIns="0" rtlCol="0" anchor="b"/>
          <a:lstStyle/>
          <a:p>
            <a:pPr indent="0" marL="0">
              <a:buNone/>
            </a:pPr>
            <a:r>
              <a:rPr lang="en-US" sz="1100" dirty="0">
                <a:solidFill>
                  <a:schemeClr val="accent3"/>
                </a:solidFill>
              </a:rPr>
              <a:t>Grey solid bars and filled markers: measured (baselines, seed 0, 28 subjects; mirror r from the data). Red hatched bars, open markers and panels tagged "Illustrative": placeholder values showing how results will be reported, to be replaced by experimental results.</a:t>
            </a:r>
            <a:endParaRPr lang="en-US" sz="1100" dirty="0"/>
          </a:p>
        </p:txBody>
      </p:sp>
      <p:sp>
        <p:nvSpPr>
          <p:cNvPr id="25" name="Slide Number Placeholder 0"/>
          <p:cNvSpPr>
            <a:spLocks noGrp="1"/>
          </p:cNvSpPr>
          <p:nvPr>
            <p:ph type="sldNum" sz="quarter" idx="4294967295"/>
          </p:nvPr>
        </p:nvSpPr>
        <p:spPr>
          <a:xfrm>
            <a:off x="11292840" y="6382512"/>
            <a:ext cx="59436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8001000" cy="749808"/>
          </a:xfrm>
          <a:prstGeom prst="rect">
            <a:avLst/>
          </a:prstGeom>
          <a:noFill/>
          <a:ln/>
        </p:spPr>
        <p:txBody>
          <a:bodyPr wrap="square" lIns="0" tIns="0" rIns="0" bIns="0" rtlCol="0" anchor="ctr"/>
          <a:lstStyle/>
          <a:p>
            <a:pPr algn="l" indent="0" marL="0">
              <a:buNone/>
            </a:pPr>
            <a:r>
              <a:rPr lang="en-US" sz="2800" b="1" dirty="0">
                <a:solidFill>
                  <a:schemeClr val="bg1"/>
                </a:solidFill>
              </a:rPr>
              <a:t>2 Research Progress and Stage Achievements</a:t>
            </a:r>
            <a:endParaRPr lang="en-US" sz="2800" dirty="0"/>
          </a:p>
        </p:txBody>
      </p:sp>
      <p:sp>
        <p:nvSpPr>
          <p:cNvPr id="3" name="Lead"/>
          <p:cNvSpPr txBox="1"/>
          <p:nvPr/>
        </p:nvSpPr>
        <p:spPr>
          <a:xfrm>
            <a:off x="548640" y="1161288"/>
            <a:ext cx="11338560" cy="365760"/>
          </a:xfrm>
          <a:prstGeom prst="rect">
            <a:avLst/>
          </a:prstGeom>
          <a:noFill/>
          <a:ln/>
        </p:spPr>
        <p:txBody>
          <a:bodyPr wrap="square" lIns="0" tIns="0" rIns="0" bIns="0" rtlCol="0" anchor="ctr"/>
          <a:lstStyle/>
          <a:p>
            <a:pPr indent="0" marL="0">
              <a:buNone/>
            </a:pPr>
            <a:r>
              <a:rPr lang="en-US" sz="1700" dirty="0">
                <a:solidFill>
                  <a:schemeClr val="tx1"/>
                </a:solidFill>
              </a:rPr>
              <a:t>Chapter 2 · LR-MoE: experts organized by hemispheric symmetry and latency, chosen by a physiological router</a:t>
            </a:r>
            <a:endParaRPr lang="en-US" sz="1700" dirty="0"/>
          </a:p>
        </p:txBody>
      </p:sp>
      <p:sp>
        <p:nvSpPr>
          <p:cNvPr id="4" name="Diagram panel"/>
          <p:cNvSpPr/>
          <p:nvPr/>
        </p:nvSpPr>
        <p:spPr>
          <a:xfrm>
            <a:off x="411480" y="1572768"/>
            <a:ext cx="8092440" cy="4434840"/>
          </a:xfrm>
          <a:prstGeom prst="rect">
            <a:avLst/>
          </a:prstGeom>
          <a:solidFill>
            <a:srgbClr val="F2F2F2"/>
          </a:solidFill>
          <a:ln/>
        </p:spPr>
      </p:sp>
      <p:pic>
        <p:nvPicPr>
          <p:cNvPr id="5" name="Head" descr="Head with left (red) and right (blue) posterior electrodes and the mirror operator">    </p:cNvPr>
          <p:cNvPicPr>
            <a:picLocks noChangeAspect="1"/>
          </p:cNvPicPr>
          <p:nvPr/>
        </p:nvPicPr>
        <p:blipFill>
          <a:blip r:embed="rId1"/>
          <a:stretch>
            <a:fillRect/>
          </a:stretch>
        </p:blipFill>
        <p:spPr>
          <a:xfrm>
            <a:off x="525780" y="2240280"/>
            <a:ext cx="1143000" cy="1143000"/>
          </a:xfrm>
          <a:prstGeom prst="rect">
            <a:avLst/>
          </a:prstGeom>
        </p:spPr>
      </p:pic>
      <p:sp>
        <p:nvSpPr>
          <p:cNvPr id="6" name="Head cap"/>
          <p:cNvSpPr txBox="1"/>
          <p:nvPr/>
        </p:nvSpPr>
        <p:spPr>
          <a:xfrm>
            <a:off x="365760" y="3429000"/>
            <a:ext cx="1463040" cy="384048"/>
          </a:xfrm>
          <a:prstGeom prst="rect">
            <a:avLst/>
          </a:prstGeom>
          <a:noFill/>
          <a:ln/>
        </p:spPr>
        <p:txBody>
          <a:bodyPr wrap="square" lIns="0" tIns="0" rIns="0" bIns="0" rtlCol="0" anchor="t"/>
          <a:lstStyle/>
          <a:p>
            <a:pPr algn="ctr" indent="0" marL="0">
              <a:buNone/>
            </a:pPr>
            <a:r>
              <a:rPr lang="en-US" sz="1200" b="1" dirty="0">
                <a:solidFill>
                  <a:srgbClr val="000000"/>
                </a:solidFill>
              </a:rPr>
              <a:t>Single trial x</a:t>
            </a:r>
            <a:endParaRPr lang="en-US" sz="1200" dirty="0"/>
          </a:p>
          <a:p>
            <a:pPr algn="ctr" indent="0" marL="0">
              <a:buNone/>
            </a:pPr>
            <a:r>
              <a:rPr lang="en-US" sz="1050" dirty="0">
                <a:solidFill>
                  <a:srgbClr val="262626"/>
                </a:solidFill>
              </a:rPr>
              <a:t>21 posterior channels</a:t>
            </a:r>
            <a:endParaRPr lang="en-US" sz="1200" dirty="0"/>
          </a:p>
        </p:txBody>
      </p:sp>
      <p:sp>
        <p:nvSpPr>
          <p:cNvPr id="7" name="Decomp head"/>
          <p:cNvSpPr txBox="1"/>
          <p:nvPr/>
        </p:nvSpPr>
        <p:spPr>
          <a:xfrm>
            <a:off x="2057400" y="1645920"/>
            <a:ext cx="2103120" cy="274320"/>
          </a:xfrm>
          <a:prstGeom prst="rect">
            <a:avLst/>
          </a:prstGeom>
          <a:noFill/>
          <a:ln/>
        </p:spPr>
        <p:txBody>
          <a:bodyPr wrap="square" lIns="0" tIns="0" rIns="0" bIns="0" rtlCol="0" anchor="ctr"/>
          <a:lstStyle/>
          <a:p>
            <a:pPr algn="ctr" indent="0" marL="0">
              <a:buNone/>
            </a:pPr>
            <a:r>
              <a:rPr lang="en-US" sz="1250" b="1" dirty="0">
                <a:solidFill>
                  <a:schemeClr val="tx1"/>
                </a:solidFill>
              </a:rPr>
              <a:t>Hemispheric decomposition</a:t>
            </a:r>
            <a:endParaRPr lang="en-US" sz="1250" dirty="0"/>
          </a:p>
        </p:txBody>
      </p:sp>
      <p:pic>
        <p:nvPicPr>
          <p:cNvPr id="8" name="x_a traces" descr="Antisymmetric stream: left and right hemisphere opposite">    </p:cNvPr>
          <p:cNvPicPr>
            <a:picLocks noChangeAspect="1"/>
          </p:cNvPicPr>
          <p:nvPr/>
        </p:nvPicPr>
        <p:blipFill>
          <a:blip r:embed="rId2"/>
          <a:stretch>
            <a:fillRect/>
          </a:stretch>
        </p:blipFill>
        <p:spPr>
          <a:xfrm>
            <a:off x="2550160" y="2011680"/>
            <a:ext cx="1117600" cy="502920"/>
          </a:xfrm>
          <a:prstGeom prst="rect">
            <a:avLst/>
          </a:prstGeom>
        </p:spPr>
      </p:pic>
      <p:pic>
        <p:nvPicPr>
          <p:cNvPr id="9" name="x_s traces" descr="Symmetric stream: left and right hemisphere equal">    </p:cNvPr>
          <p:cNvPicPr>
            <a:picLocks noChangeAspect="1"/>
          </p:cNvPicPr>
          <p:nvPr/>
        </p:nvPicPr>
        <p:blipFill>
          <a:blip r:embed="rId3"/>
          <a:stretch>
            <a:fillRect/>
          </a:stretch>
        </p:blipFill>
        <p:spPr>
          <a:xfrm>
            <a:off x="2550160" y="3182112"/>
            <a:ext cx="1117600" cy="502920"/>
          </a:xfrm>
          <a:prstGeom prst="rect">
            <a:avLst/>
          </a:prstGeom>
        </p:spPr>
      </p:pic>
      <p:sp>
        <p:nvSpPr>
          <p:cNvPr id="10" name="x_a cap"/>
          <p:cNvSpPr txBox="1"/>
          <p:nvPr/>
        </p:nvSpPr>
        <p:spPr>
          <a:xfrm>
            <a:off x="2194560" y="2532888"/>
            <a:ext cx="1828800" cy="384048"/>
          </a:xfrm>
          <a:prstGeom prst="rect">
            <a:avLst/>
          </a:prstGeom>
          <a:noFill/>
          <a:ln/>
        </p:spPr>
        <p:txBody>
          <a:bodyPr wrap="square" lIns="0" tIns="0" rIns="0" bIns="0" rtlCol="0" anchor="t"/>
          <a:lstStyle/>
          <a:p>
            <a:pPr algn="ctr" indent="0" marL="0">
              <a:buNone/>
            </a:pPr>
            <a:r>
              <a:rPr lang="en-US" sz="1200" b="1" dirty="0">
                <a:solidFill>
                  <a:srgbClr val="000000"/>
                </a:solidFill>
              </a:rPr>
              <a:t>x</a:t>
            </a:r>
            <a:pPr algn="ctr" indent="0" marL="0">
              <a:buNone/>
            </a:pPr>
            <a:r>
              <a:rPr lang="en-US" sz="1200" b="1" baseline="-40000" dirty="0">
                <a:solidFill>
                  <a:srgbClr val="000000"/>
                </a:solidFill>
              </a:rPr>
              <a:t>a</a:t>
            </a:r>
            <a:pPr algn="ctr" indent="0" marL="0">
              <a:buNone/>
            </a:pPr>
            <a:r>
              <a:rPr lang="en-US" sz="1200" b="1" dirty="0">
                <a:solidFill>
                  <a:srgbClr val="000000"/>
                </a:solidFill>
              </a:rPr>
              <a:t> = (x − Mx) / 2</a:t>
            </a:r>
            <a:endParaRPr lang="en-US" sz="1200" dirty="0"/>
          </a:p>
          <a:p>
            <a:pPr algn="ctr" indent="0" marL="0">
              <a:buNone/>
            </a:pPr>
            <a:r>
              <a:rPr lang="en-US" sz="1050" dirty="0">
                <a:solidFill>
                  <a:srgbClr val="262626"/>
                </a:solidFill>
              </a:rPr>
              <a:t>lateralized</a:t>
            </a:r>
            <a:endParaRPr lang="en-US" sz="1200" dirty="0"/>
          </a:p>
        </p:txBody>
      </p:sp>
      <p:sp>
        <p:nvSpPr>
          <p:cNvPr id="11" name="x_s cap"/>
          <p:cNvSpPr txBox="1"/>
          <p:nvPr/>
        </p:nvSpPr>
        <p:spPr>
          <a:xfrm>
            <a:off x="2194560" y="3703320"/>
            <a:ext cx="1828800" cy="384048"/>
          </a:xfrm>
          <a:prstGeom prst="rect">
            <a:avLst/>
          </a:prstGeom>
          <a:noFill/>
          <a:ln/>
        </p:spPr>
        <p:txBody>
          <a:bodyPr wrap="square" lIns="0" tIns="0" rIns="0" bIns="0" rtlCol="0" anchor="t"/>
          <a:lstStyle/>
          <a:p>
            <a:pPr algn="ctr" indent="0" marL="0">
              <a:buNone/>
            </a:pPr>
            <a:r>
              <a:rPr lang="en-US" sz="1200" b="1" dirty="0">
                <a:solidFill>
                  <a:srgbClr val="000000"/>
                </a:solidFill>
              </a:rPr>
              <a:t>x</a:t>
            </a:r>
            <a:pPr algn="ctr" indent="0" marL="0">
              <a:buNone/>
            </a:pPr>
            <a:r>
              <a:rPr lang="en-US" sz="1200" b="1" baseline="-40000" dirty="0">
                <a:solidFill>
                  <a:srgbClr val="000000"/>
                </a:solidFill>
              </a:rPr>
              <a:t>s</a:t>
            </a:r>
            <a:pPr algn="ctr" indent="0" marL="0">
              <a:buNone/>
            </a:pPr>
            <a:r>
              <a:rPr lang="en-US" sz="1200" b="1" dirty="0">
                <a:solidFill>
                  <a:srgbClr val="000000"/>
                </a:solidFill>
              </a:rPr>
              <a:t> = (x + Mx) / 2</a:t>
            </a:r>
            <a:endParaRPr lang="en-US" sz="1200" dirty="0"/>
          </a:p>
          <a:p>
            <a:pPr algn="ctr" indent="0" marL="0">
              <a:buNone/>
            </a:pPr>
            <a:r>
              <a:rPr lang="en-US" sz="1050" dirty="0">
                <a:solidFill>
                  <a:srgbClr val="262626"/>
                </a:solidFill>
              </a:rPr>
              <a:t>shared + context</a:t>
            </a:r>
            <a:endParaRPr lang="en-US" sz="1200" dirty="0"/>
          </a:p>
        </p:txBody>
      </p:sp>
      <p:sp>
        <p:nvSpPr>
          <p:cNvPr id="12" name="Hemi legend"/>
          <p:cNvSpPr txBox="1"/>
          <p:nvPr/>
        </p:nvSpPr>
        <p:spPr>
          <a:xfrm>
            <a:off x="2194560" y="4114800"/>
            <a:ext cx="1828800" cy="274320"/>
          </a:xfrm>
          <a:prstGeom prst="rect">
            <a:avLst/>
          </a:prstGeom>
          <a:noFill/>
          <a:ln/>
        </p:spPr>
        <p:txBody>
          <a:bodyPr wrap="square" lIns="0" tIns="0" rIns="0" bIns="0" rtlCol="0" anchor="t"/>
          <a:lstStyle/>
          <a:p>
            <a:pPr algn="ctr" indent="0" marL="0">
              <a:buNone/>
            </a:pPr>
            <a:r>
              <a:rPr lang="en-US" sz="1000" b="1" i="1" dirty="0">
                <a:solidFill>
                  <a:srgbClr val="A00000"/>
                </a:solidFill>
              </a:rPr>
              <a:t>red</a:t>
            </a:r>
            <a:pPr algn="ctr" indent="0" marL="0">
              <a:buNone/>
            </a:pPr>
            <a:r>
              <a:rPr lang="en-US" sz="1000" i="1" dirty="0">
                <a:solidFill>
                  <a:schemeClr val="accent5"/>
                </a:solidFill>
              </a:rPr>
              <a:t> left / </a:t>
            </a:r>
            <a:pPr algn="ctr" indent="0" marL="0">
              <a:buNone/>
            </a:pPr>
            <a:r>
              <a:rPr lang="en-US" sz="1000" b="1" i="1" dirty="0">
                <a:solidFill>
                  <a:srgbClr val="1F4E79"/>
                </a:solidFill>
              </a:rPr>
              <a:t>blue</a:t>
            </a:r>
            <a:pPr algn="ctr" indent="0" marL="0">
              <a:buNone/>
            </a:pPr>
            <a:r>
              <a:rPr lang="en-US" sz="1000" i="1" dirty="0">
                <a:solidFill>
                  <a:schemeClr val="accent5"/>
                </a:solidFill>
              </a:rPr>
              <a:t> right hemisphere</a:t>
            </a:r>
            <a:endParaRPr lang="en-US" sz="1000" dirty="0"/>
          </a:p>
        </p:txBody>
      </p:sp>
      <p:sp>
        <p:nvSpPr>
          <p:cNvPr id="13" name="Fork h"/>
          <p:cNvSpPr/>
          <p:nvPr/>
        </p:nvSpPr>
        <p:spPr>
          <a:xfrm>
            <a:off x="1687068" y="2811780"/>
            <a:ext cx="278892" cy="0"/>
          </a:xfrm>
          <a:prstGeom prst="line">
            <a:avLst/>
          </a:prstGeom>
          <a:noFill/>
          <a:ln w="15875">
            <a:solidFill>
              <a:srgbClr val="000000"/>
            </a:solidFill>
            <a:prstDash val="solid"/>
          </a:ln>
        </p:spPr>
      </p:sp>
      <p:sp>
        <p:nvSpPr>
          <p:cNvPr id="14" name="Fork v"/>
          <p:cNvSpPr/>
          <p:nvPr/>
        </p:nvSpPr>
        <p:spPr>
          <a:xfrm>
            <a:off x="1965960" y="2263140"/>
            <a:ext cx="0" cy="1170432"/>
          </a:xfrm>
          <a:prstGeom prst="line">
            <a:avLst/>
          </a:prstGeom>
          <a:noFill/>
          <a:ln w="15875">
            <a:solidFill>
              <a:srgbClr val="000000"/>
            </a:solidFill>
            <a:prstDash val="solid"/>
          </a:ln>
        </p:spPr>
      </p:sp>
      <p:sp>
        <p:nvSpPr>
          <p:cNvPr id="15" name="Fork a"/>
          <p:cNvSpPr/>
          <p:nvPr/>
        </p:nvSpPr>
        <p:spPr>
          <a:xfrm>
            <a:off x="1965960" y="2263140"/>
            <a:ext cx="538480" cy="0"/>
          </a:xfrm>
          <a:prstGeom prst="line">
            <a:avLst/>
          </a:prstGeom>
          <a:noFill/>
          <a:ln w="15875">
            <a:solidFill>
              <a:srgbClr val="000000"/>
            </a:solidFill>
            <a:prstDash val="solid"/>
            <a:tailEnd type="triangle"/>
          </a:ln>
        </p:spPr>
      </p:sp>
      <p:sp>
        <p:nvSpPr>
          <p:cNvPr id="16" name="Fork s"/>
          <p:cNvSpPr/>
          <p:nvPr/>
        </p:nvSpPr>
        <p:spPr>
          <a:xfrm>
            <a:off x="1965960" y="3433572"/>
            <a:ext cx="538480" cy="0"/>
          </a:xfrm>
          <a:prstGeom prst="line">
            <a:avLst/>
          </a:prstGeom>
          <a:noFill/>
          <a:ln w="15875">
            <a:solidFill>
              <a:srgbClr val="000000"/>
            </a:solidFill>
            <a:prstDash val="solid"/>
            <a:tailEnd type="triangle"/>
          </a:ln>
        </p:spPr>
      </p:sp>
      <p:pic>
        <p:nvPicPr>
          <p:cNvPr id="17" name="Filter bank" descr="Shared temporal convolution filter bank">    </p:cNvPr>
          <p:cNvPicPr>
            <a:picLocks noChangeAspect="1"/>
          </p:cNvPicPr>
          <p:nvPr/>
        </p:nvPicPr>
        <p:blipFill>
          <a:blip r:embed="rId4"/>
          <a:stretch>
            <a:fillRect/>
          </a:stretch>
        </p:blipFill>
        <p:spPr>
          <a:xfrm>
            <a:off x="4206240" y="1965960"/>
            <a:ext cx="822960" cy="2103120"/>
          </a:xfrm>
          <a:prstGeom prst="rect">
            <a:avLst/>
          </a:prstGeom>
        </p:spPr>
      </p:pic>
      <p:sp>
        <p:nvSpPr>
          <p:cNvPr id="18" name="Bank cap"/>
          <p:cNvSpPr txBox="1"/>
          <p:nvPr/>
        </p:nvSpPr>
        <p:spPr>
          <a:xfrm>
            <a:off x="4069080" y="4114800"/>
            <a:ext cx="1097280" cy="228600"/>
          </a:xfrm>
          <a:prstGeom prst="rect">
            <a:avLst/>
          </a:prstGeom>
          <a:noFill/>
          <a:ln/>
        </p:spPr>
        <p:txBody>
          <a:bodyPr wrap="square" lIns="0" tIns="0" rIns="0" bIns="0" rtlCol="0" anchor="t"/>
          <a:lstStyle/>
          <a:p>
            <a:pPr algn="ctr" indent="0" marL="0">
              <a:buNone/>
            </a:pPr>
            <a:r>
              <a:rPr lang="en-US" sz="1200" b="1" dirty="0">
                <a:solidFill>
                  <a:srgbClr val="000000"/>
                </a:solidFill>
              </a:rPr>
              <a:t>Shared</a:t>
            </a:r>
            <a:endParaRPr lang="en-US" sz="1200" dirty="0"/>
          </a:p>
          <a:p>
            <a:pPr algn="ctr" indent="0" marL="0">
              <a:buNone/>
            </a:pPr>
            <a:r>
              <a:rPr lang="en-US" sz="1200" b="1" dirty="0">
                <a:solidFill>
                  <a:srgbClr val="000000"/>
                </a:solidFill>
              </a:rPr>
              <a:t>temporal conv</a:t>
            </a:r>
            <a:endParaRPr lang="en-US" sz="1200" dirty="0"/>
          </a:p>
        </p:txBody>
      </p:sp>
      <p:sp>
        <p:nvSpPr>
          <p:cNvPr id="19" name="a-bank"/>
          <p:cNvSpPr/>
          <p:nvPr/>
        </p:nvSpPr>
        <p:spPr>
          <a:xfrm>
            <a:off x="3713480" y="2263140"/>
            <a:ext cx="465328" cy="0"/>
          </a:xfrm>
          <a:prstGeom prst="line">
            <a:avLst/>
          </a:prstGeom>
          <a:noFill/>
          <a:ln w="15875">
            <a:solidFill>
              <a:srgbClr val="000000"/>
            </a:solidFill>
            <a:prstDash val="solid"/>
            <a:tailEnd type="triangle"/>
          </a:ln>
        </p:spPr>
      </p:sp>
      <p:sp>
        <p:nvSpPr>
          <p:cNvPr id="20" name="s-bank"/>
          <p:cNvSpPr/>
          <p:nvPr/>
        </p:nvSpPr>
        <p:spPr>
          <a:xfrm>
            <a:off x="3713480" y="3433572"/>
            <a:ext cx="465328" cy="0"/>
          </a:xfrm>
          <a:prstGeom prst="line">
            <a:avLst/>
          </a:prstGeom>
          <a:noFill/>
          <a:ln w="15875">
            <a:solidFill>
              <a:srgbClr val="000000"/>
            </a:solidFill>
            <a:prstDash val="solid"/>
            <a:tailEnd type="triangle"/>
          </a:ln>
        </p:spPr>
      </p:sp>
      <p:sp>
        <p:nvSpPr>
          <p:cNvPr id="21" name="Experts head"/>
          <p:cNvSpPr txBox="1"/>
          <p:nvPr/>
        </p:nvSpPr>
        <p:spPr>
          <a:xfrm>
            <a:off x="5349240" y="1645920"/>
            <a:ext cx="2377440" cy="274320"/>
          </a:xfrm>
          <a:prstGeom prst="rect">
            <a:avLst/>
          </a:prstGeom>
          <a:noFill/>
          <a:ln/>
        </p:spPr>
        <p:txBody>
          <a:bodyPr wrap="square" lIns="0" tIns="0" rIns="0" bIns="0" rtlCol="0" anchor="ctr"/>
          <a:lstStyle/>
          <a:p>
            <a:pPr algn="ctr" indent="0" marL="0">
              <a:buNone/>
            </a:pPr>
            <a:r>
              <a:rPr lang="en-US" sz="1250" b="1" dirty="0">
                <a:solidFill>
                  <a:schemeClr val="tx1"/>
                </a:solidFill>
              </a:rPr>
              <a:t>Expert families (× 3 latencies)</a:t>
            </a:r>
            <a:endParaRPr lang="en-US" sz="1250" dirty="0"/>
          </a:p>
        </p:txBody>
      </p:sp>
      <p:sp>
        <p:nvSpPr>
          <p:cNvPr id="22" name="Expert 1 frame"/>
          <p:cNvSpPr/>
          <p:nvPr/>
        </p:nvSpPr>
        <p:spPr>
          <a:xfrm>
            <a:off x="5349240" y="2011680"/>
            <a:ext cx="2377440" cy="658368"/>
          </a:xfrm>
          <a:prstGeom prst="rect">
            <a:avLst/>
          </a:prstGeom>
          <a:solidFill>
            <a:srgbClr val="FFFFFF"/>
          </a:solidFill>
          <a:ln w="12700">
            <a:solidFill>
              <a:srgbClr val="000000"/>
            </a:solidFill>
            <a:prstDash val="solid"/>
          </a:ln>
        </p:spPr>
      </p:sp>
      <p:pic>
        <p:nvPicPr>
          <p:cNvPr id="23" name="Expert 1 net" descr="Expert 1 network">    </p:cNvPr>
          <p:cNvPicPr>
            <a:picLocks noChangeAspect="1"/>
          </p:cNvPicPr>
          <p:nvPr/>
        </p:nvPicPr>
        <p:blipFill>
          <a:blip r:embed="rId5"/>
          <a:stretch>
            <a:fillRect/>
          </a:stretch>
        </p:blipFill>
        <p:spPr>
          <a:xfrm>
            <a:off x="5383530" y="2139696"/>
            <a:ext cx="754380" cy="402336"/>
          </a:xfrm>
          <a:prstGeom prst="rect">
            <a:avLst/>
          </a:prstGeom>
        </p:spPr>
      </p:pic>
      <p:sp>
        <p:nvSpPr>
          <p:cNvPr id="24" name="Expert 1 cap"/>
          <p:cNvSpPr txBox="1"/>
          <p:nvPr/>
        </p:nvSpPr>
        <p:spPr>
          <a:xfrm>
            <a:off x="6153912" y="2130552"/>
            <a:ext cx="1536192" cy="384048"/>
          </a:xfrm>
          <a:prstGeom prst="rect">
            <a:avLst/>
          </a:prstGeom>
          <a:noFill/>
          <a:ln/>
        </p:spPr>
        <p:txBody>
          <a:bodyPr wrap="square" lIns="0" tIns="0" rIns="0" bIns="0" rtlCol="0" anchor="t"/>
          <a:lstStyle/>
          <a:p>
            <a:pPr algn="l" indent="0" marL="0">
              <a:buNone/>
            </a:pPr>
            <a:r>
              <a:rPr lang="en-US" sz="1150" b="1" dirty="0">
                <a:solidFill>
                  <a:srgbClr val="000000"/>
                </a:solidFill>
              </a:rPr>
              <a:t>Mirror-equivariant</a:t>
            </a:r>
            <a:endParaRPr lang="en-US" sz="1150" dirty="0"/>
          </a:p>
          <a:p>
            <a:pPr algn="l" indent="0" marL="0">
              <a:buNone/>
            </a:pPr>
            <a:r>
              <a:rPr lang="en-US" sz="1000" dirty="0">
                <a:solidFill>
                  <a:srgbClr val="262626"/>
                </a:solidFill>
              </a:rPr>
              <a:t>logit(Mx) = −logit(x)</a:t>
            </a:r>
            <a:endParaRPr lang="en-US" sz="1150" dirty="0"/>
          </a:p>
        </p:txBody>
      </p:sp>
      <p:sp>
        <p:nvSpPr>
          <p:cNvPr id="25" name="Expert 2 frame"/>
          <p:cNvSpPr/>
          <p:nvPr/>
        </p:nvSpPr>
        <p:spPr>
          <a:xfrm>
            <a:off x="5349240" y="2770632"/>
            <a:ext cx="2377440" cy="658368"/>
          </a:xfrm>
          <a:prstGeom prst="rect">
            <a:avLst/>
          </a:prstGeom>
          <a:solidFill>
            <a:srgbClr val="FFFFFF"/>
          </a:solidFill>
          <a:ln w="12700">
            <a:solidFill>
              <a:srgbClr val="000000"/>
            </a:solidFill>
            <a:prstDash val="solid"/>
          </a:ln>
        </p:spPr>
      </p:sp>
      <p:pic>
        <p:nvPicPr>
          <p:cNvPr id="26" name="Expert 2 net" descr="Expert 2 network">    </p:cNvPr>
          <p:cNvPicPr>
            <a:picLocks noChangeAspect="1"/>
          </p:cNvPicPr>
          <p:nvPr/>
        </p:nvPicPr>
        <p:blipFill>
          <a:blip r:embed="rId6"/>
          <a:stretch>
            <a:fillRect/>
          </a:stretch>
        </p:blipFill>
        <p:spPr>
          <a:xfrm>
            <a:off x="5383530" y="2898648"/>
            <a:ext cx="754380" cy="402336"/>
          </a:xfrm>
          <a:prstGeom prst="rect">
            <a:avLst/>
          </a:prstGeom>
        </p:spPr>
      </p:pic>
      <p:sp>
        <p:nvSpPr>
          <p:cNvPr id="27" name="Expert 2 cap"/>
          <p:cNvSpPr txBox="1"/>
          <p:nvPr/>
        </p:nvSpPr>
        <p:spPr>
          <a:xfrm>
            <a:off x="6153912" y="2889504"/>
            <a:ext cx="1536192" cy="384048"/>
          </a:xfrm>
          <a:prstGeom prst="rect">
            <a:avLst/>
          </a:prstGeom>
          <a:noFill/>
          <a:ln/>
        </p:spPr>
        <p:txBody>
          <a:bodyPr wrap="square" lIns="0" tIns="0" rIns="0" bIns="0" rtlCol="0" anchor="t"/>
          <a:lstStyle/>
          <a:p>
            <a:pPr algn="l" indent="0" marL="0">
              <a:buNone/>
            </a:pPr>
            <a:r>
              <a:rPr lang="en-US" sz="1150" b="1" dirty="0">
                <a:solidFill>
                  <a:srgbClr val="000000"/>
                </a:solidFill>
              </a:rPr>
              <a:t>Hemisphere-dominant</a:t>
            </a:r>
            <a:endParaRPr lang="en-US" sz="1150" dirty="0"/>
          </a:p>
          <a:p>
            <a:pPr algn="l" indent="0" marL="0">
              <a:buNone/>
            </a:pPr>
            <a:r>
              <a:rPr lang="en-US" sz="1000" dirty="0">
                <a:solidFill>
                  <a:srgbClr val="262626"/>
                </a:solidFill>
              </a:rPr>
              <a:t>L- or R-weighted</a:t>
            </a:r>
            <a:endParaRPr lang="en-US" sz="1150" dirty="0"/>
          </a:p>
        </p:txBody>
      </p:sp>
      <p:sp>
        <p:nvSpPr>
          <p:cNvPr id="28" name="Expert 3 frame"/>
          <p:cNvSpPr/>
          <p:nvPr/>
        </p:nvSpPr>
        <p:spPr>
          <a:xfrm>
            <a:off x="5349240" y="3529584"/>
            <a:ext cx="2377440" cy="658368"/>
          </a:xfrm>
          <a:prstGeom prst="rect">
            <a:avLst/>
          </a:prstGeom>
          <a:solidFill>
            <a:srgbClr val="FFFFFF"/>
          </a:solidFill>
          <a:ln w="12700">
            <a:solidFill>
              <a:srgbClr val="000000"/>
            </a:solidFill>
            <a:prstDash val="solid"/>
          </a:ln>
        </p:spPr>
      </p:sp>
      <p:pic>
        <p:nvPicPr>
          <p:cNvPr id="29" name="Expert 3 net" descr="Expert 3 network">    </p:cNvPr>
          <p:cNvPicPr>
            <a:picLocks noChangeAspect="1"/>
          </p:cNvPicPr>
          <p:nvPr/>
        </p:nvPicPr>
        <p:blipFill>
          <a:blip r:embed="rId7"/>
          <a:stretch>
            <a:fillRect/>
          </a:stretch>
        </p:blipFill>
        <p:spPr>
          <a:xfrm>
            <a:off x="5383530" y="3657600"/>
            <a:ext cx="754380" cy="402336"/>
          </a:xfrm>
          <a:prstGeom prst="rect">
            <a:avLst/>
          </a:prstGeom>
        </p:spPr>
      </p:pic>
      <p:sp>
        <p:nvSpPr>
          <p:cNvPr id="30" name="Expert 3 cap"/>
          <p:cNvSpPr txBox="1"/>
          <p:nvPr/>
        </p:nvSpPr>
        <p:spPr>
          <a:xfrm>
            <a:off x="6153912" y="3648456"/>
            <a:ext cx="1536192" cy="384048"/>
          </a:xfrm>
          <a:prstGeom prst="rect">
            <a:avLst/>
          </a:prstGeom>
          <a:noFill/>
          <a:ln/>
        </p:spPr>
        <p:txBody>
          <a:bodyPr wrap="square" lIns="0" tIns="0" rIns="0" bIns="0" rtlCol="0" anchor="t"/>
          <a:lstStyle/>
          <a:p>
            <a:pPr algn="l" indent="0" marL="0">
              <a:buNone/>
            </a:pPr>
            <a:r>
              <a:rPr lang="en-US" sz="1150" b="1" dirty="0">
                <a:solidFill>
                  <a:srgbClr val="000000"/>
                </a:solidFill>
              </a:rPr>
              <a:t>Symmetric / context</a:t>
            </a:r>
            <a:endParaRPr lang="en-US" sz="1150" dirty="0"/>
          </a:p>
          <a:p>
            <a:pPr algn="l" indent="0" marL="0">
              <a:buNone/>
            </a:pPr>
            <a:r>
              <a:rPr lang="en-US" sz="1000" dirty="0">
                <a:solidFill>
                  <a:srgbClr val="262626"/>
                </a:solidFill>
              </a:rPr>
              <a:t>shared response (x</a:t>
            </a:r>
            <a:pPr algn="l" indent="0" marL="0">
              <a:buNone/>
            </a:pPr>
            <a:r>
              <a:rPr lang="en-US" sz="1000" baseline="-40000" dirty="0">
                <a:solidFill>
                  <a:srgbClr val="262626"/>
                </a:solidFill>
              </a:rPr>
              <a:t>s</a:t>
            </a:r>
            <a:pPr algn="l" indent="0" marL="0">
              <a:buNone/>
            </a:pPr>
            <a:r>
              <a:rPr lang="en-US" sz="1000" dirty="0">
                <a:solidFill>
                  <a:srgbClr val="262626"/>
                </a:solidFill>
              </a:rPr>
              <a:t>)</a:t>
            </a:r>
            <a:endParaRPr lang="en-US" sz="1150" dirty="0"/>
          </a:p>
        </p:txBody>
      </p:sp>
      <p:sp>
        <p:nvSpPr>
          <p:cNvPr id="31" name="Latency note"/>
          <p:cNvSpPr txBox="1"/>
          <p:nvPr/>
        </p:nvSpPr>
        <p:spPr>
          <a:xfrm>
            <a:off x="5257800" y="4224528"/>
            <a:ext cx="2560320" cy="256032"/>
          </a:xfrm>
          <a:prstGeom prst="rect">
            <a:avLst/>
          </a:prstGeom>
          <a:noFill/>
          <a:ln/>
        </p:spPr>
        <p:txBody>
          <a:bodyPr wrap="square" lIns="0" tIns="0" rIns="0" bIns="0" rtlCol="0" anchor="t"/>
          <a:lstStyle/>
          <a:p>
            <a:pPr algn="ctr" indent="0" marL="0">
              <a:buNone/>
            </a:pPr>
            <a:r>
              <a:rPr lang="en-US" sz="1000" i="1" dirty="0">
                <a:solidFill>
                  <a:schemeClr val="accent5"/>
                </a:solidFill>
              </a:rPr>
              <a:t>latency variants: ≈ 100 / 170 / 230 ms</a:t>
            </a:r>
            <a:endParaRPr lang="en-US" sz="1000" dirty="0"/>
          </a:p>
        </p:txBody>
      </p:sp>
      <p:sp>
        <p:nvSpPr>
          <p:cNvPr id="32" name="Bank out"/>
          <p:cNvSpPr/>
          <p:nvPr/>
        </p:nvSpPr>
        <p:spPr>
          <a:xfrm>
            <a:off x="5056632" y="3099816"/>
            <a:ext cx="228600" cy="0"/>
          </a:xfrm>
          <a:prstGeom prst="line">
            <a:avLst/>
          </a:prstGeom>
          <a:noFill/>
          <a:ln w="15875">
            <a:solidFill>
              <a:srgbClr val="000000"/>
            </a:solidFill>
            <a:prstDash val="solid"/>
          </a:ln>
        </p:spPr>
      </p:sp>
      <p:sp>
        <p:nvSpPr>
          <p:cNvPr id="33" name="Expert fork"/>
          <p:cNvSpPr/>
          <p:nvPr/>
        </p:nvSpPr>
        <p:spPr>
          <a:xfrm>
            <a:off x="5285232" y="2340864"/>
            <a:ext cx="0" cy="1517904"/>
          </a:xfrm>
          <a:prstGeom prst="line">
            <a:avLst/>
          </a:prstGeom>
          <a:noFill/>
          <a:ln w="15875">
            <a:solidFill>
              <a:srgbClr val="000000"/>
            </a:solidFill>
            <a:prstDash val="solid"/>
          </a:ln>
        </p:spPr>
      </p:sp>
      <p:sp>
        <p:nvSpPr>
          <p:cNvPr id="34" name="To expert 1"/>
          <p:cNvSpPr/>
          <p:nvPr/>
        </p:nvSpPr>
        <p:spPr>
          <a:xfrm>
            <a:off x="5285232" y="2340864"/>
            <a:ext cx="45720" cy="0"/>
          </a:xfrm>
          <a:prstGeom prst="line">
            <a:avLst/>
          </a:prstGeom>
          <a:noFill/>
          <a:ln w="15875">
            <a:solidFill>
              <a:srgbClr val="000000"/>
            </a:solidFill>
            <a:prstDash val="solid"/>
            <a:tailEnd type="triangle"/>
          </a:ln>
        </p:spPr>
      </p:sp>
      <p:sp>
        <p:nvSpPr>
          <p:cNvPr id="35" name="To expert 2"/>
          <p:cNvSpPr/>
          <p:nvPr/>
        </p:nvSpPr>
        <p:spPr>
          <a:xfrm>
            <a:off x="5285232" y="3099816"/>
            <a:ext cx="45720" cy="0"/>
          </a:xfrm>
          <a:prstGeom prst="line">
            <a:avLst/>
          </a:prstGeom>
          <a:noFill/>
          <a:ln w="15875">
            <a:solidFill>
              <a:srgbClr val="000000"/>
            </a:solidFill>
            <a:prstDash val="solid"/>
            <a:tailEnd type="triangle"/>
          </a:ln>
        </p:spPr>
      </p:sp>
      <p:sp>
        <p:nvSpPr>
          <p:cNvPr id="36" name="To expert 3"/>
          <p:cNvSpPr/>
          <p:nvPr/>
        </p:nvSpPr>
        <p:spPr>
          <a:xfrm>
            <a:off x="5285232" y="3858768"/>
            <a:ext cx="45720" cy="0"/>
          </a:xfrm>
          <a:prstGeom prst="line">
            <a:avLst/>
          </a:prstGeom>
          <a:noFill/>
          <a:ln w="15875">
            <a:solidFill>
              <a:srgbClr val="000000"/>
            </a:solidFill>
            <a:prstDash val="solid"/>
            <a:tailEnd type="triangle"/>
          </a:ln>
        </p:spPr>
      </p:sp>
      <p:sp>
        <p:nvSpPr>
          <p:cNvPr id="37" name="From expert 1"/>
          <p:cNvSpPr/>
          <p:nvPr/>
        </p:nvSpPr>
        <p:spPr>
          <a:xfrm>
            <a:off x="7726680" y="2340864"/>
            <a:ext cx="91440" cy="0"/>
          </a:xfrm>
          <a:prstGeom prst="line">
            <a:avLst/>
          </a:prstGeom>
          <a:noFill/>
          <a:ln w="15875">
            <a:solidFill>
              <a:srgbClr val="000000"/>
            </a:solidFill>
            <a:prstDash val="solid"/>
          </a:ln>
        </p:spPr>
      </p:sp>
      <p:sp>
        <p:nvSpPr>
          <p:cNvPr id="38" name="From expert 2"/>
          <p:cNvSpPr/>
          <p:nvPr/>
        </p:nvSpPr>
        <p:spPr>
          <a:xfrm>
            <a:off x="7726680" y="3099816"/>
            <a:ext cx="91440" cy="0"/>
          </a:xfrm>
          <a:prstGeom prst="line">
            <a:avLst/>
          </a:prstGeom>
          <a:noFill/>
          <a:ln w="15875">
            <a:solidFill>
              <a:srgbClr val="000000"/>
            </a:solidFill>
            <a:prstDash val="solid"/>
          </a:ln>
        </p:spPr>
      </p:sp>
      <p:sp>
        <p:nvSpPr>
          <p:cNvPr id="39" name="From expert 3"/>
          <p:cNvSpPr/>
          <p:nvPr/>
        </p:nvSpPr>
        <p:spPr>
          <a:xfrm>
            <a:off x="7726680" y="3858768"/>
            <a:ext cx="91440" cy="0"/>
          </a:xfrm>
          <a:prstGeom prst="line">
            <a:avLst/>
          </a:prstGeom>
          <a:noFill/>
          <a:ln w="15875">
            <a:solidFill>
              <a:srgbClr val="000000"/>
            </a:solidFill>
            <a:prstDash val="solid"/>
          </a:ln>
        </p:spPr>
      </p:sp>
      <p:sp>
        <p:nvSpPr>
          <p:cNvPr id="40" name="Expert join"/>
          <p:cNvSpPr/>
          <p:nvPr/>
        </p:nvSpPr>
        <p:spPr>
          <a:xfrm>
            <a:off x="7818120" y="2340864"/>
            <a:ext cx="0" cy="1517904"/>
          </a:xfrm>
          <a:prstGeom prst="line">
            <a:avLst/>
          </a:prstGeom>
          <a:noFill/>
          <a:ln w="15875">
            <a:solidFill>
              <a:srgbClr val="000000"/>
            </a:solidFill>
            <a:prstDash val="solid"/>
          </a:ln>
        </p:spPr>
      </p:sp>
      <p:sp>
        <p:nvSpPr>
          <p:cNvPr id="41" name="Join to sum"/>
          <p:cNvSpPr/>
          <p:nvPr/>
        </p:nvSpPr>
        <p:spPr>
          <a:xfrm>
            <a:off x="7818120" y="3099816"/>
            <a:ext cx="118872" cy="0"/>
          </a:xfrm>
          <a:prstGeom prst="line">
            <a:avLst/>
          </a:prstGeom>
          <a:noFill/>
          <a:ln w="15875">
            <a:solidFill>
              <a:srgbClr val="000000"/>
            </a:solidFill>
            <a:prstDash val="solid"/>
            <a:tailEnd type="triangle"/>
          </a:ln>
        </p:spPr>
      </p:sp>
      <p:sp>
        <p:nvSpPr>
          <p:cNvPr id="42" name="Weighted sum"/>
          <p:cNvSpPr/>
          <p:nvPr/>
        </p:nvSpPr>
        <p:spPr>
          <a:xfrm>
            <a:off x="7936992" y="2889504"/>
            <a:ext cx="420624" cy="420624"/>
          </a:xfrm>
          <a:prstGeom prst="ellipse">
            <a:avLst/>
          </a:prstGeom>
          <a:solidFill>
            <a:srgbClr val="FFFFFF"/>
          </a:solidFill>
          <a:ln w="15240">
            <a:solidFill>
              <a:srgbClr val="000000"/>
            </a:solidFill>
          </a:ln>
        </p:spPr>
        <p:txBody>
          <a:bodyPr wrap="square" lIns="0" tIns="0" rIns="0" bIns="0" rtlCol="0" anchor="ctr"/>
          <a:lstStyle/>
          <a:p>
            <a:pPr algn="ctr" indent="0" marL="0">
              <a:buNone/>
            </a:pPr>
            <a:r>
              <a:rPr lang="en-US" sz="1700" b="1" dirty="0">
                <a:solidFill>
                  <a:srgbClr val="000000"/>
                </a:solidFill>
              </a:rPr>
              <a:t>Σ</a:t>
            </a:r>
            <a:endParaRPr lang="en-US" sz="1700" dirty="0"/>
          </a:p>
        </p:txBody>
      </p:sp>
      <p:sp>
        <p:nvSpPr>
          <p:cNvPr id="43" name="Sum to output"/>
          <p:cNvSpPr/>
          <p:nvPr/>
        </p:nvSpPr>
        <p:spPr>
          <a:xfrm flipV="1">
            <a:off x="8147304" y="2121408"/>
            <a:ext cx="0" cy="768096"/>
          </a:xfrm>
          <a:prstGeom prst="line">
            <a:avLst/>
          </a:prstGeom>
          <a:noFill/>
          <a:ln w="15875">
            <a:solidFill>
              <a:srgbClr val="000000"/>
            </a:solidFill>
            <a:prstDash val="solid"/>
            <a:tailEnd type="triangle"/>
          </a:ln>
        </p:spPr>
      </p:sp>
      <p:sp>
        <p:nvSpPr>
          <p:cNvPr id="44" name="Output"/>
          <p:cNvSpPr txBox="1"/>
          <p:nvPr/>
        </p:nvSpPr>
        <p:spPr>
          <a:xfrm>
            <a:off x="7616952" y="1783080"/>
            <a:ext cx="1060704" cy="320040"/>
          </a:xfrm>
          <a:prstGeom prst="rect">
            <a:avLst/>
          </a:prstGeom>
          <a:noFill/>
          <a:ln/>
        </p:spPr>
        <p:txBody>
          <a:bodyPr wrap="square" lIns="0" tIns="0" rIns="0" bIns="0" rtlCol="0" anchor="ctr"/>
          <a:lstStyle/>
          <a:p>
            <a:pPr algn="ctr" indent="0" marL="0">
              <a:buNone/>
            </a:pPr>
            <a:r>
              <a:rPr lang="en-US" sz="1300" b="1" dirty="0">
                <a:solidFill>
                  <a:schemeClr val="tx1"/>
                </a:solidFill>
              </a:rPr>
              <a:t>p(y | x)</a:t>
            </a:r>
            <a:endParaRPr lang="en-US" sz="1300" dirty="0"/>
          </a:p>
        </p:txBody>
      </p:sp>
      <p:sp>
        <p:nvSpPr>
          <p:cNvPr id="45" name="Router frame"/>
          <p:cNvSpPr/>
          <p:nvPr/>
        </p:nvSpPr>
        <p:spPr>
          <a:xfrm>
            <a:off x="548640" y="4572000"/>
            <a:ext cx="7132320" cy="1298448"/>
          </a:xfrm>
          <a:prstGeom prst="rect">
            <a:avLst/>
          </a:prstGeom>
          <a:solidFill>
            <a:srgbClr val="FFFFFF"/>
          </a:solidFill>
          <a:ln w="15240">
            <a:solidFill>
              <a:srgbClr val="A00000"/>
            </a:solidFill>
            <a:prstDash val="dash"/>
          </a:ln>
        </p:spPr>
      </p:sp>
      <p:sp>
        <p:nvSpPr>
          <p:cNvPr id="46" name="Router head"/>
          <p:cNvSpPr txBox="1"/>
          <p:nvPr/>
        </p:nvSpPr>
        <p:spPr>
          <a:xfrm>
            <a:off x="658368" y="4617720"/>
            <a:ext cx="2743200" cy="274320"/>
          </a:xfrm>
          <a:prstGeom prst="rect">
            <a:avLst/>
          </a:prstGeom>
          <a:noFill/>
          <a:ln/>
        </p:spPr>
        <p:txBody>
          <a:bodyPr wrap="square" lIns="0" tIns="0" rIns="0" bIns="0" rtlCol="0" anchor="ctr"/>
          <a:lstStyle/>
          <a:p>
            <a:pPr indent="0" marL="0">
              <a:buNone/>
            </a:pPr>
            <a:r>
              <a:rPr lang="en-US" sz="1250" b="1" dirty="0">
                <a:solidFill>
                  <a:schemeClr val="accent1"/>
                </a:solidFill>
              </a:rPr>
              <a:t>Physiological router</a:t>
            </a:r>
            <a:endParaRPr lang="en-US" sz="1250" dirty="0"/>
          </a:p>
        </p:txBody>
      </p:sp>
      <p:pic>
        <p:nvPicPr>
          <p:cNvPr id="47" name="Descriptors" descr="Descriptor values">    </p:cNvPr>
          <p:cNvPicPr>
            <a:picLocks noChangeAspect="1"/>
          </p:cNvPicPr>
          <p:nvPr/>
        </p:nvPicPr>
        <p:blipFill>
          <a:blip r:embed="rId8"/>
          <a:stretch>
            <a:fillRect/>
          </a:stretch>
        </p:blipFill>
        <p:spPr>
          <a:xfrm>
            <a:off x="673608" y="4983480"/>
            <a:ext cx="755904" cy="566928"/>
          </a:xfrm>
          <a:prstGeom prst="rect">
            <a:avLst/>
          </a:prstGeom>
        </p:spPr>
      </p:pic>
      <p:sp>
        <p:nvSpPr>
          <p:cNvPr id="48" name="Descriptor list"/>
          <p:cNvSpPr txBox="1"/>
          <p:nvPr/>
        </p:nvSpPr>
        <p:spPr>
          <a:xfrm>
            <a:off x="1508760" y="4919472"/>
            <a:ext cx="2834640" cy="868680"/>
          </a:xfrm>
          <a:prstGeom prst="rect">
            <a:avLst/>
          </a:prstGeom>
          <a:noFill/>
          <a:ln/>
        </p:spPr>
        <p:txBody>
          <a:bodyPr wrap="square" lIns="0" tIns="0" rIns="0" bIns="0" rtlCol="0" anchor="ctr"/>
          <a:lstStyle/>
          <a:p>
            <a:pPr indent="0" marL="0">
              <a:buNone/>
            </a:pPr>
            <a:r>
              <a:rPr lang="en-US" sz="1100" dirty="0">
                <a:solidFill>
                  <a:schemeClr val="tx1"/>
                </a:solidFill>
              </a:rPr>
              <a:t>Lateralization index · L/R power ratio</a:t>
            </a:r>
            <a:endParaRPr lang="en-US" sz="1100" dirty="0"/>
          </a:p>
          <a:p>
            <a:pPr indent="0" marL="0">
              <a:buNone/>
            </a:pPr>
            <a:r>
              <a:rPr lang="en-US" sz="1100" dirty="0">
                <a:solidFill>
                  <a:schemeClr val="tx1"/>
                </a:solidFill>
              </a:rPr>
              <a:t>~10 Hz amplitude &amp; phase · antisym./sym. energy</a:t>
            </a:r>
            <a:endParaRPr lang="en-US" sz="1100" dirty="0"/>
          </a:p>
        </p:txBody>
      </p:sp>
      <p:pic>
        <p:nvPicPr>
          <p:cNvPr id="49" name="Router MLP" descr="Small MLP">    </p:cNvPr>
          <p:cNvPicPr>
            <a:picLocks noChangeAspect="1"/>
          </p:cNvPicPr>
          <p:nvPr/>
        </p:nvPicPr>
        <p:blipFill>
          <a:blip r:embed="rId9"/>
          <a:stretch>
            <a:fillRect/>
          </a:stretch>
        </p:blipFill>
        <p:spPr>
          <a:xfrm>
            <a:off x="4672584" y="4901184"/>
            <a:ext cx="987552" cy="658368"/>
          </a:xfrm>
          <a:prstGeom prst="rect">
            <a:avLst/>
          </a:prstGeom>
        </p:spPr>
      </p:pic>
      <p:sp>
        <p:nvSpPr>
          <p:cNvPr id="50" name="MLP cap"/>
          <p:cNvSpPr txBox="1"/>
          <p:nvPr/>
        </p:nvSpPr>
        <p:spPr>
          <a:xfrm>
            <a:off x="4526280" y="5577840"/>
            <a:ext cx="1280160" cy="228600"/>
          </a:xfrm>
          <a:prstGeom prst="rect">
            <a:avLst/>
          </a:prstGeom>
          <a:noFill/>
          <a:ln/>
        </p:spPr>
        <p:txBody>
          <a:bodyPr wrap="square" lIns="0" tIns="0" rIns="0" bIns="0" rtlCol="0" anchor="t"/>
          <a:lstStyle/>
          <a:p>
            <a:pPr algn="ctr" indent="0" marL="0">
              <a:buNone/>
            </a:pPr>
            <a:r>
              <a:rPr lang="en-US" sz="1200" b="1" dirty="0">
                <a:solidFill>
                  <a:srgbClr val="000000"/>
                </a:solidFill>
              </a:rPr>
              <a:t>Small MLP</a:t>
            </a:r>
            <a:endParaRPr lang="en-US" sz="1200" dirty="0"/>
          </a:p>
        </p:txBody>
      </p:sp>
      <p:pic>
        <p:nvPicPr>
          <p:cNvPr id="51" name="Gate weights" descr="Soft top-2 gate weights">    </p:cNvPr>
          <p:cNvPicPr>
            <a:picLocks noChangeAspect="1"/>
          </p:cNvPicPr>
          <p:nvPr/>
        </p:nvPicPr>
        <p:blipFill>
          <a:blip r:embed="rId10"/>
          <a:stretch>
            <a:fillRect/>
          </a:stretch>
        </p:blipFill>
        <p:spPr>
          <a:xfrm>
            <a:off x="6352032" y="4919472"/>
            <a:ext cx="737616" cy="603504"/>
          </a:xfrm>
          <a:prstGeom prst="rect">
            <a:avLst/>
          </a:prstGeom>
        </p:spPr>
      </p:pic>
      <p:sp>
        <p:nvSpPr>
          <p:cNvPr id="52" name="Gate cap"/>
          <p:cNvSpPr txBox="1"/>
          <p:nvPr/>
        </p:nvSpPr>
        <p:spPr>
          <a:xfrm>
            <a:off x="5852160" y="5577840"/>
            <a:ext cx="1737360" cy="228600"/>
          </a:xfrm>
          <a:prstGeom prst="rect">
            <a:avLst/>
          </a:prstGeom>
          <a:noFill/>
          <a:ln/>
        </p:spPr>
        <p:txBody>
          <a:bodyPr wrap="square" lIns="0" tIns="0" rIns="0" bIns="0" rtlCol="0" anchor="t"/>
          <a:lstStyle/>
          <a:p>
            <a:pPr algn="ctr" indent="0" marL="0">
              <a:buNone/>
            </a:pPr>
            <a:r>
              <a:rPr lang="en-US" sz="1200" b="1" dirty="0">
                <a:solidFill>
                  <a:srgbClr val="000000"/>
                </a:solidFill>
              </a:rPr>
              <a:t>Soft top-2 weights g</a:t>
            </a:r>
            <a:endParaRPr lang="en-US" sz="1200" dirty="0"/>
          </a:p>
        </p:txBody>
      </p:sp>
      <p:sp>
        <p:nvSpPr>
          <p:cNvPr id="53" name="Desc to MLP"/>
          <p:cNvSpPr/>
          <p:nvPr/>
        </p:nvSpPr>
        <p:spPr>
          <a:xfrm>
            <a:off x="4370832" y="5230368"/>
            <a:ext cx="256032" cy="0"/>
          </a:xfrm>
          <a:prstGeom prst="line">
            <a:avLst/>
          </a:prstGeom>
          <a:noFill/>
          <a:ln w="15875">
            <a:solidFill>
              <a:srgbClr val="A00000"/>
            </a:solidFill>
            <a:prstDash val="solid"/>
            <a:tailEnd type="triangle"/>
          </a:ln>
        </p:spPr>
      </p:sp>
      <p:sp>
        <p:nvSpPr>
          <p:cNvPr id="54" name="MLP to gate"/>
          <p:cNvSpPr/>
          <p:nvPr/>
        </p:nvSpPr>
        <p:spPr>
          <a:xfrm>
            <a:off x="5705856" y="5230368"/>
            <a:ext cx="600456" cy="0"/>
          </a:xfrm>
          <a:prstGeom prst="line">
            <a:avLst/>
          </a:prstGeom>
          <a:noFill/>
          <a:ln w="15875">
            <a:solidFill>
              <a:srgbClr val="A00000"/>
            </a:solidFill>
            <a:prstDash val="solid"/>
            <a:tailEnd type="triangle"/>
          </a:ln>
        </p:spPr>
      </p:sp>
      <p:sp>
        <p:nvSpPr>
          <p:cNvPr id="55" name="Input to router"/>
          <p:cNvSpPr/>
          <p:nvPr/>
        </p:nvSpPr>
        <p:spPr>
          <a:xfrm>
            <a:off x="1097280" y="3840480"/>
            <a:ext cx="0" cy="731520"/>
          </a:xfrm>
          <a:prstGeom prst="line">
            <a:avLst/>
          </a:prstGeom>
          <a:noFill/>
          <a:ln w="15875">
            <a:solidFill>
              <a:srgbClr val="A00000"/>
            </a:solidFill>
            <a:prstDash val="solid"/>
            <a:tailEnd type="triangle"/>
          </a:ln>
        </p:spPr>
      </p:sp>
      <p:sp>
        <p:nvSpPr>
          <p:cNvPr id="56" name="Gate out"/>
          <p:cNvSpPr/>
          <p:nvPr/>
        </p:nvSpPr>
        <p:spPr>
          <a:xfrm>
            <a:off x="7135368" y="5221224"/>
            <a:ext cx="1011936" cy="0"/>
          </a:xfrm>
          <a:prstGeom prst="line">
            <a:avLst/>
          </a:prstGeom>
          <a:noFill/>
          <a:ln w="15875">
            <a:solidFill>
              <a:srgbClr val="A00000"/>
            </a:solidFill>
            <a:prstDash val="solid"/>
          </a:ln>
        </p:spPr>
      </p:sp>
      <p:sp>
        <p:nvSpPr>
          <p:cNvPr id="57" name="Gate to sum"/>
          <p:cNvSpPr/>
          <p:nvPr/>
        </p:nvSpPr>
        <p:spPr>
          <a:xfrm flipV="1">
            <a:off x="8147304" y="3328416"/>
            <a:ext cx="0" cy="1892808"/>
          </a:xfrm>
          <a:prstGeom prst="line">
            <a:avLst/>
          </a:prstGeom>
          <a:noFill/>
          <a:ln w="15875">
            <a:solidFill>
              <a:srgbClr val="A00000"/>
            </a:solidFill>
            <a:prstDash val="solid"/>
            <a:tailEnd type="triangle"/>
          </a:ln>
        </p:spPr>
      </p:sp>
      <p:sp>
        <p:nvSpPr>
          <p:cNvPr id="58" name="Gate label"/>
          <p:cNvSpPr txBox="1"/>
          <p:nvPr/>
        </p:nvSpPr>
        <p:spPr>
          <a:xfrm>
            <a:off x="8202168" y="3977640"/>
            <a:ext cx="274320" cy="320040"/>
          </a:xfrm>
          <a:prstGeom prst="rect">
            <a:avLst/>
          </a:prstGeom>
          <a:noFill/>
          <a:ln/>
        </p:spPr>
        <p:txBody>
          <a:bodyPr wrap="square" lIns="0" tIns="0" rIns="0" bIns="0" rtlCol="0" anchor="ctr"/>
          <a:lstStyle/>
          <a:p>
            <a:pPr indent="0" marL="0">
              <a:buNone/>
            </a:pPr>
            <a:r>
              <a:rPr lang="en-US" sz="1500" b="1" i="1" dirty="0">
                <a:solidFill>
                  <a:schemeClr val="accent1"/>
                </a:solidFill>
              </a:rPr>
              <a:t>g</a:t>
            </a:r>
            <a:endParaRPr lang="en-US" sz="1500" dirty="0"/>
          </a:p>
        </p:txBody>
      </p:sp>
      <p:sp>
        <p:nvSpPr>
          <p:cNvPr id="59" name="Key points"/>
          <p:cNvSpPr txBox="1"/>
          <p:nvPr/>
        </p:nvSpPr>
        <p:spPr>
          <a:xfrm>
            <a:off x="8778240" y="1600200"/>
            <a:ext cx="3108960" cy="4434840"/>
          </a:xfrm>
          <a:prstGeom prst="rect">
            <a:avLst/>
          </a:prstGeom>
          <a:noFill/>
          <a:ln/>
        </p:spPr>
        <p:txBody>
          <a:bodyPr wrap="square" lIns="0" tIns="0" rIns="0" bIns="0" rtlCol="0" anchor="t"/>
          <a:lstStyle/>
          <a:p>
            <a:pPr indent="0" marL="0">
              <a:buNone/>
            </a:pPr>
            <a:r>
              <a:rPr lang="en-US" sz="1350" b="1" dirty="0">
                <a:solidFill>
                  <a:schemeClr val="tx1"/>
                </a:solidFill>
              </a:rPr>
              <a:t>1. Hemispheric decomposition</a:t>
            </a:r>
            <a:endParaRPr lang="en-US" sz="1350" dirty="0"/>
          </a:p>
          <a:p>
            <a:pPr indent="0" marL="0">
              <a:buNone/>
            </a:pPr>
            <a:r>
              <a:rPr lang="en-US" sz="1350" dirty="0">
                <a:solidFill>
                  <a:srgbClr val="262626"/>
                </a:solidFill>
              </a:rPr>
              <a:t>Separates lateralized from shared activity; x</a:t>
            </a:r>
            <a:pPr indent="0" marL="0">
              <a:buNone/>
            </a:pPr>
            <a:r>
              <a:rPr lang="en-US" sz="1350" baseline="-40000" dirty="0">
                <a:solidFill>
                  <a:srgbClr val="262626"/>
                </a:solidFill>
              </a:rPr>
              <a:t>a</a:t>
            </a:r>
            <a:pPr indent="0" marL="0">
              <a:buNone/>
            </a:pPr>
            <a:r>
              <a:rPr lang="en-US" sz="1350" dirty="0">
                <a:solidFill>
                  <a:srgbClr val="262626"/>
                </a:solidFill>
              </a:rPr>
              <a:t> does not depend on the common reference</a:t>
            </a:r>
            <a:endParaRPr lang="en-US" sz="1350" dirty="0"/>
          </a:p>
          <a:p>
            <a:pPr indent="0" marL="0">
              <a:buNone/>
            </a:pPr>
            <a:r>
              <a:rPr lang="en-US" sz="600" dirty="0">
                <a:solidFill>
                  <a:schemeClr val="tx1"/>
                </a:solidFill>
              </a:rPr>
              <a:t> </a:t>
            </a:r>
            <a:endParaRPr lang="en-US" sz="1350" dirty="0"/>
          </a:p>
          <a:p>
            <a:pPr indent="0" marL="0">
              <a:buNone/>
            </a:pPr>
            <a:r>
              <a:rPr lang="en-US" sz="1350" b="1" dirty="0">
                <a:solidFill>
                  <a:schemeClr val="tx1"/>
                </a:solidFill>
              </a:rPr>
              <a:t>2. Structured experts</a:t>
            </a:r>
            <a:endParaRPr lang="en-US" sz="1350" dirty="0"/>
          </a:p>
          <a:p>
            <a:pPr indent="0" marL="0">
              <a:buNone/>
            </a:pPr>
            <a:r>
              <a:rPr lang="en-US" sz="1350" dirty="0">
                <a:solidFill>
                  <a:srgbClr val="262626"/>
                </a:solidFill>
              </a:rPr>
              <a:t>Symmetry type × response latency, matching the observed subject differences</a:t>
            </a:r>
            <a:endParaRPr lang="en-US" sz="1350" dirty="0"/>
          </a:p>
          <a:p>
            <a:pPr indent="0" marL="0">
              <a:buNone/>
            </a:pPr>
            <a:r>
              <a:rPr lang="en-US" sz="600" dirty="0">
                <a:solidFill>
                  <a:schemeClr val="tx1"/>
                </a:solidFill>
              </a:rPr>
              <a:t> </a:t>
            </a:r>
            <a:endParaRPr lang="en-US" sz="1350" dirty="0"/>
          </a:p>
          <a:p>
            <a:pPr indent="0" marL="0">
              <a:buNone/>
            </a:pPr>
            <a:r>
              <a:rPr lang="en-US" sz="1350" b="1" dirty="0">
                <a:solidFill>
                  <a:schemeClr val="tx1"/>
                </a:solidFill>
              </a:rPr>
              <a:t>3. Physiological router</a:t>
            </a:r>
            <a:endParaRPr lang="en-US" sz="1350" dirty="0"/>
          </a:p>
          <a:p>
            <a:pPr indent="0" marL="0">
              <a:buNone/>
            </a:pPr>
            <a:r>
              <a:rPr lang="en-US" sz="1350" dirty="0">
                <a:solidFill>
                  <a:srgbClr val="262626"/>
                </a:solidFill>
              </a:rPr>
              <a:t>Interpretable descriptors pick experts per trial; no target labels needed</a:t>
            </a:r>
            <a:endParaRPr lang="en-US" sz="1350" dirty="0"/>
          </a:p>
          <a:p>
            <a:pPr indent="0" marL="0">
              <a:buNone/>
            </a:pPr>
            <a:r>
              <a:rPr lang="en-US" sz="600" dirty="0">
                <a:solidFill>
                  <a:schemeClr val="tx1"/>
                </a:solidFill>
              </a:rPr>
              <a:t> </a:t>
            </a:r>
            <a:endParaRPr lang="en-US" sz="1350" dirty="0"/>
          </a:p>
          <a:p>
            <a:pPr indent="0" marL="0">
              <a:buNone/>
            </a:pPr>
            <a:r>
              <a:rPr lang="en-US" sz="1350" b="1" dirty="0">
                <a:solidFill>
                  <a:schemeClr val="tx1"/>
                </a:solidFill>
              </a:rPr>
              <a:t>Training losses</a:t>
            </a:r>
            <a:endParaRPr lang="en-US" sz="1350" dirty="0"/>
          </a:p>
          <a:p>
            <a:pPr indent="0" marL="0">
              <a:buNone/>
            </a:pPr>
            <a:r>
              <a:rPr lang="en-US" sz="1350" dirty="0">
                <a:solidFill>
                  <a:srgbClr val="262626"/>
                </a:solidFill>
              </a:rPr>
              <a:t>CE + load balancing + mirror consistency + subject-coherent routing</a:t>
            </a:r>
            <a:endParaRPr lang="en-US" sz="1350" dirty="0"/>
          </a:p>
          <a:p>
            <a:pPr indent="0" marL="0">
              <a:buNone/>
            </a:pPr>
            <a:r>
              <a:rPr lang="en-US" sz="600" dirty="0">
                <a:solidFill>
                  <a:schemeClr val="tx1"/>
                </a:solidFill>
              </a:rPr>
              <a:t> </a:t>
            </a:r>
            <a:endParaRPr lang="en-US" sz="1350" dirty="0"/>
          </a:p>
          <a:p>
            <a:pPr indent="0" marL="0">
              <a:buNone/>
            </a:pPr>
            <a:r>
              <a:rPr lang="en-US" sz="1350" b="1" dirty="0">
                <a:solidFill>
                  <a:srgbClr val="A00000"/>
                </a:solidFill>
              </a:rPr>
              <a:t>Research positioning</a:t>
            </a:r>
            <a:endParaRPr lang="en-US" sz="1350" dirty="0"/>
          </a:p>
          <a:p>
            <a:pPr indent="0" marL="0">
              <a:buNone/>
            </a:pPr>
            <a:r>
              <a:rPr lang="en-US" sz="1350" b="1" dirty="0">
                <a:solidFill>
                  <a:srgbClr val="A00000"/>
                </a:solidFill>
              </a:rPr>
              <a:t>Chapter 2 · cross-subject (LOSO) decoding</a:t>
            </a:r>
            <a:endParaRPr lang="en-US" sz="1350" dirty="0"/>
          </a:p>
        </p:txBody>
      </p:sp>
      <p:sp>
        <p:nvSpPr>
          <p:cNvPr id="25" name="Slide Number Placeholder 0"/>
          <p:cNvSpPr>
            <a:spLocks noGrp="1"/>
          </p:cNvSpPr>
          <p:nvPr>
            <p:ph type="sldNum" sz="quarter" idx="4294967295"/>
          </p:nvPr>
        </p:nvSpPr>
        <p:spPr>
          <a:xfrm>
            <a:off x="11292840" y="6382512"/>
            <a:ext cx="59436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8001000" cy="749808"/>
          </a:xfrm>
          <a:prstGeom prst="rect">
            <a:avLst/>
          </a:prstGeom>
          <a:noFill/>
          <a:ln/>
        </p:spPr>
        <p:txBody>
          <a:bodyPr wrap="square" lIns="0" tIns="0" rIns="0" bIns="0" rtlCol="0" anchor="ctr"/>
          <a:lstStyle/>
          <a:p>
            <a:pPr algn="l" indent="0" marL="0">
              <a:buNone/>
            </a:pPr>
            <a:r>
              <a:rPr lang="en-US" sz="2800" b="1" dirty="0">
                <a:solidFill>
                  <a:schemeClr val="bg1"/>
                </a:solidFill>
              </a:rPr>
              <a:t>2 Research Progress and Stage Achievements</a:t>
            </a:r>
            <a:endParaRPr lang="en-US" sz="2800" dirty="0"/>
          </a:p>
        </p:txBody>
      </p:sp>
      <p:sp>
        <p:nvSpPr>
          <p:cNvPr id="3" name="Lead"/>
          <p:cNvSpPr txBox="1"/>
          <p:nvPr/>
        </p:nvSpPr>
        <p:spPr>
          <a:xfrm>
            <a:off x="548640" y="1161288"/>
            <a:ext cx="11338560" cy="365760"/>
          </a:xfrm>
          <a:prstGeom prst="rect">
            <a:avLst/>
          </a:prstGeom>
          <a:noFill/>
          <a:ln/>
        </p:spPr>
        <p:txBody>
          <a:bodyPr wrap="square" lIns="0" tIns="0" rIns="0" bIns="0" rtlCol="0" anchor="ctr"/>
          <a:lstStyle/>
          <a:p>
            <a:pPr indent="0" marL="0">
              <a:buNone/>
            </a:pPr>
            <a:r>
              <a:rPr lang="en-US" sz="1700" dirty="0">
                <a:solidFill>
                  <a:schemeClr val="tx1"/>
                </a:solidFill>
              </a:rPr>
              <a:t>Chapter 2 · LR-MoE · Expected results  </a:t>
            </a:r>
            <a:pPr indent="0" marL="0">
              <a:buNone/>
            </a:pPr>
            <a:r>
              <a:rPr lang="en-US" sz="1700" i="1" dirty="0">
                <a:solidFill>
                  <a:srgbClr val="A00000"/>
                </a:solidFill>
              </a:rPr>
              <a:t>(illustrative: experiments not yet run)</a:t>
            </a:r>
            <a:endParaRPr lang="en-US" sz="1700" dirty="0"/>
          </a:p>
        </p:txBody>
      </p:sp>
      <p:pic>
        <p:nvPicPr>
          <p:cNvPr id="4" name="Results figure" descr="Expected LOSO accuracy, few-shot calibration, routing weights and per-subject accuracy of LR-MoE (illustrative)">    </p:cNvPr>
          <p:cNvPicPr>
            <a:picLocks noChangeAspect="1"/>
          </p:cNvPicPr>
          <p:nvPr/>
        </p:nvPicPr>
        <p:blipFill>
          <a:blip r:embed="rId1"/>
          <a:stretch>
            <a:fillRect/>
          </a:stretch>
        </p:blipFill>
        <p:spPr>
          <a:xfrm>
            <a:off x="411480" y="1600200"/>
            <a:ext cx="11338560" cy="3657600"/>
          </a:xfrm>
          <a:prstGeom prst="rect">
            <a:avLst/>
          </a:prstGeom>
        </p:spPr>
      </p:pic>
      <p:sp>
        <p:nvSpPr>
          <p:cNvPr id="5" name="Takeaway"/>
          <p:cNvSpPr txBox="1"/>
          <p:nvPr/>
        </p:nvSpPr>
        <p:spPr>
          <a:xfrm>
            <a:off x="548640" y="5349240"/>
            <a:ext cx="11064240" cy="548640"/>
          </a:xfrm>
          <a:prstGeom prst="rect">
            <a:avLst/>
          </a:prstGeom>
          <a:noFill/>
          <a:ln/>
        </p:spPr>
        <p:txBody>
          <a:bodyPr wrap="square" lIns="0" tIns="0" rIns="0" bIns="0" rtlCol="0" anchor="ctr"/>
          <a:lstStyle/>
          <a:p>
            <a:pPr indent="0" marL="0">
              <a:buNone/>
            </a:pPr>
            <a:r>
              <a:rPr lang="en-US" sz="1500" dirty="0">
                <a:solidFill>
                  <a:schemeClr val="tx1"/>
                </a:solidFill>
              </a:rPr>
              <a:t>Expected: higher accuracy on unseen subjects, faster calibration, and routing that follows each subject's measured mirror symmetry; the largest gains for atypical subjects (low r).</a:t>
            </a:r>
            <a:endParaRPr lang="en-US" sz="1500" dirty="0"/>
          </a:p>
        </p:txBody>
      </p:sp>
      <p:sp>
        <p:nvSpPr>
          <p:cNvPr id="6" name="Reference"/>
          <p:cNvSpPr txBox="1"/>
          <p:nvPr/>
        </p:nvSpPr>
        <p:spPr>
          <a:xfrm>
            <a:off x="320040" y="5943600"/>
            <a:ext cx="10881360" cy="777240"/>
          </a:xfrm>
          <a:prstGeom prst="rect">
            <a:avLst/>
          </a:prstGeom>
          <a:noFill/>
          <a:ln/>
        </p:spPr>
        <p:txBody>
          <a:bodyPr wrap="square" lIns="0" tIns="0" rIns="0" bIns="0" rtlCol="0" anchor="b"/>
          <a:lstStyle/>
          <a:p>
            <a:pPr indent="0" marL="0">
              <a:buNone/>
            </a:pPr>
            <a:r>
              <a:rPr lang="en-US" sz="1100" dirty="0">
                <a:solidFill>
                  <a:schemeClr val="accent3"/>
                </a:solidFill>
              </a:rPr>
              <a:t>Grey solid bars and filled markers: measured (baselines, seed 0, 28 subjects; mirror r from the data). Red hatched bars, open markers and panels tagged "Illustrative": placeholder values showing how results will be reported, to be replaced by experimental results.</a:t>
            </a:r>
            <a:endParaRPr lang="en-US" sz="1100" dirty="0"/>
          </a:p>
        </p:txBody>
      </p:sp>
      <p:sp>
        <p:nvSpPr>
          <p:cNvPr id="25" name="Slide Number Placeholder 0"/>
          <p:cNvSpPr>
            <a:spLocks noGrp="1"/>
          </p:cNvSpPr>
          <p:nvPr>
            <p:ph type="sldNum" sz="quarter" idx="4294967295"/>
          </p:nvPr>
        </p:nvSpPr>
        <p:spPr>
          <a:xfrm>
            <a:off x="11292840" y="6382512"/>
            <a:ext cx="59436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Thesis Defense">
  <a:themeElements>
    <a:clrScheme name="Thesis Defense">
      <a:dk1>
        <a:srgbClr val="000000"/>
      </a:dk1>
      <a:lt1>
        <a:srgbClr val="FFFFFF"/>
      </a:lt1>
      <a:dk2>
        <a:srgbClr val="A00000"/>
      </a:dk2>
      <a:lt2>
        <a:srgbClr val="F2F2F2"/>
      </a:lt2>
      <a:accent1>
        <a:srgbClr val="A00000"/>
      </a:accent1>
      <a:accent2>
        <a:srgbClr val="262626"/>
      </a:accent2>
      <a:accent3>
        <a:srgbClr val="7F7F7F"/>
      </a:accent3>
      <a:accent4>
        <a:srgbClr val="BFBFBF"/>
      </a:accent4>
      <a:accent5>
        <a:srgbClr val="595959"/>
      </a:accent5>
      <a:accent6>
        <a:srgbClr val="C00000"/>
      </a:accent6>
      <a:hlink>
        <a:srgbClr val="A00000"/>
      </a:hlink>
      <a:folHlink>
        <a:srgbClr val="7F7F7F"/>
      </a:folHlink>
    </a:clrScheme>
    <a:fontScheme name="Thesis Defens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Mid-term Thesis Defense</dc:title>
  <dc:subject>PptxGenJS Presentation</dc:subject>
  <dc:creator>PptxGenJS</dc:creator>
  <cp:lastModifiedBy>PptxGenJS</cp:lastModifiedBy>
  <cp:revision>1</cp:revision>
  <dcterms:created xsi:type="dcterms:W3CDTF">2026-10-27T04:25:28Z</dcterms:created>
  <dcterms:modified xsi:type="dcterms:W3CDTF">2026-10-27T04:25:28Z</dcterms:modified>
</cp:coreProperties>
</file>